
<file path=[Content_Types].xml><?xml version="1.0" encoding="utf-8"?>
<Types xmlns="http://schemas.openxmlformats.org/package/2006/content-types">
  <Default Extension="gif" ContentType="image/gif"/>
  <Default Extension="jpeg" ContentType="image/jpeg"/>
  <Default Extension="JPG" ContentType="image/.jpg"/>
  <Default Extension="png" ContentType="image/png"/>
  <Default Extension="rels" ContentType="application/vnd.openxmlformats-package.relationships+xml"/>
  <Default Extension="xml" ContentType="applicatio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3" r:id="rId9"/>
    <p:sldId id="262" r:id="rId10"/>
    <p:sldId id="264" r:id="rId11"/>
    <p:sldId id="265" r:id="rId12"/>
    <p:sldId id="266" r:id="rId13"/>
    <p:sldId id="267" r:id="rId14"/>
    <p:sldId id="269" r:id="rId15"/>
    <p:sldId id="270" r:id="rId16"/>
    <p:sldId id="271" r:id="rId17"/>
    <p:sldId id="268" r:id="rId18"/>
    <p:sldId id="27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8" Type="http://schemas.openxmlformats.org/officeDocument/2006/relationships/slide" Target="slides/slide16.xml"/><Relationship Id="rId13" Type="http://schemas.openxmlformats.org/officeDocument/2006/relationships/slide" Target="slides/slide1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7" Type="http://schemas.openxmlformats.org/officeDocument/2006/relationships/slide" Target="slides/slide15.xml"/><Relationship Id="rId12" Type="http://schemas.openxmlformats.org/officeDocument/2006/relationships/slide" Target="slides/slide10.xml"/><Relationship Id="rId25" Type="http://schemas.openxmlformats.org/officeDocument/2006/relationships/customXml" Target="../customXml/item3.xml"/><Relationship Id="rId20" Type="http://schemas.openxmlformats.org/officeDocument/2006/relationships/presProps" Target="presProps.xml"/><Relationship Id="rId2" Type="http://schemas.openxmlformats.org/officeDocument/2006/relationships/theme" Target="theme/theme1.xml"/><Relationship Id="rId16" Type="http://schemas.openxmlformats.org/officeDocument/2006/relationships/slide" Target="slides/slide14.xml"/><Relationship Id="rId6" Type="http://schemas.openxmlformats.org/officeDocument/2006/relationships/slide" Target="slides/slide4.xml"/><Relationship Id="rId11" Type="http://schemas.openxmlformats.org/officeDocument/2006/relationships/slide" Target="slides/slide9.xml"/><Relationship Id="rId1" Type="http://schemas.openxmlformats.org/officeDocument/2006/relationships/slideMaster" Target="slideMasters/slideMaster1.xml"/><Relationship Id="rId24" Type="http://schemas.openxmlformats.org/officeDocument/2006/relationships/customXml" Target="../customXml/item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customXml" Target="../customXml/item1.xml"/><Relationship Id="rId19" Type="http://schemas.openxmlformats.org/officeDocument/2006/relationships/slide" Target="slides/slide17.xml"/><Relationship Id="rId10" Type="http://schemas.openxmlformats.org/officeDocument/2006/relationships/slide" Target="slides/slide8.xml"/><Relationship Id="rId9" Type="http://schemas.openxmlformats.org/officeDocument/2006/relationships/slide" Target="slides/slide7.xml"/><Relationship Id="rId4" Type="http://schemas.openxmlformats.org/officeDocument/2006/relationships/slide" Target="slides/slide2.xml"/><Relationship Id="rId22" Type="http://schemas.openxmlformats.org/officeDocument/2006/relationships/tableStyles" Target="tableStyles.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208933" cy="6858000"/>
          </a:xfrm>
          <a:prstGeom prst="rect">
            <a:avLst/>
          </a:prstGeom>
          <a:noFill/>
          <a:ln w="9525">
            <a:noFill/>
          </a:ln>
        </p:spPr>
      </p:pic>
      <p:sp>
        <p:nvSpPr>
          <p:cNvPr id="2051" name="Rectangle 3"/>
          <p:cNvSpPr>
            <a:spLocks noGrp="1" noChangeArrowheads="1"/>
          </p:cNvSpPr>
          <p:nvPr>
            <p:ph type="ctrTitle"/>
          </p:nvPr>
        </p:nvSpPr>
        <p:spPr>
          <a:xfrm>
            <a:off x="624417" y="1196975"/>
            <a:ext cx="10943167" cy="1082675"/>
          </a:xfrm>
        </p:spPr>
        <p:txBody>
          <a:bodyPr/>
          <a:lstStyle>
            <a:lvl1pPr algn="ctr">
              <a:defRPr>
                <a:solidFill>
                  <a:schemeClr val="bg1"/>
                </a:solidFill>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626533" y="2422525"/>
            <a:ext cx="10949517" cy="1752600"/>
          </a:xfrm>
        </p:spPr>
        <p:txBody>
          <a:bodyPr/>
          <a:lstStyle>
            <a:lvl1pPr marL="0" indent="0" algn="ct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9"/>
          <p:cNvPicPr>
            <a:picLocks noChangeAspect="1"/>
          </p:cNvPicPr>
          <p:nvPr/>
        </p:nvPicPr>
        <p:blipFill>
          <a:blip r:embed="rId13"/>
          <a:stretch>
            <a:fillRect/>
          </a:stretch>
        </p:blipFill>
        <p:spPr>
          <a:xfrm>
            <a:off x="0" y="0"/>
            <a:ext cx="12208933"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GIF"/><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5000" b="1" dirty="0">
                <a:solidFill>
                  <a:srgbClr val="FF0000"/>
                </a:solidFill>
                <a:sym typeface="+mn-ea"/>
              </a:rPr>
              <a:t>Correlation and </a:t>
            </a:r>
            <a:br>
              <a:rPr lang="en-US" sz="5000" b="1" dirty="0">
                <a:solidFill>
                  <a:srgbClr val="FF0000"/>
                </a:solidFill>
                <a:sym typeface="+mn-ea"/>
              </a:rPr>
            </a:br>
            <a:r>
              <a:rPr lang="en-US" sz="5000" b="1" dirty="0">
                <a:solidFill>
                  <a:srgbClr val="FF0000"/>
                </a:solidFill>
                <a:sym typeface="+mn-ea"/>
              </a:rPr>
              <a:t>Graphical Analysis</a:t>
            </a:r>
            <a:endParaRPr lang="en-US" sz="5000" b="1"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solidFill>
                <a:sym typeface="+mn-ea"/>
              </a:rPr>
              <a:t>Correlation</a:t>
            </a:r>
            <a:endParaRPr lang="en-US" dirty="0">
              <a:solidFill>
                <a:schemeClr val="accent6"/>
              </a:solidFill>
              <a:sym typeface="+mn-ea"/>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09600" y="1174750"/>
                <a:ext cx="10972800" cy="5356860"/>
              </a:xfrm>
            </p:spPr>
            <p:txBody>
              <a:bodyPr/>
              <a:p>
                <a:r>
                  <a:rPr lang="en-US" sz="1800" dirty="0">
                    <a:latin typeface="Arial" panose="020B0604020202020204" pitchFamily="34" charset="0"/>
                    <a:cs typeface="Arial" panose="020B0604020202020204" pitchFamily="34" charset="0"/>
                    <a:sym typeface="+mn-ea"/>
                  </a:rPr>
                  <a:t>Correlation is a statistical measure that indicates the extent to which two or more variables fluctuate together. If the change in one variable affects a change in the other variable, the variables are said to be correlated.</a:t>
                </a:r>
                <a:endParaRPr lang="en-US" sz="1800" dirty="0">
                  <a:latin typeface="Arial" panose="020B0604020202020204" pitchFamily="34" charset="0"/>
                  <a:cs typeface="Arial" panose="020B0604020202020204" pitchFamily="34" charset="0"/>
                </a:endParaRPr>
              </a:p>
              <a:p>
                <a:pPr marL="644525" lvl="1" indent="-285750">
                  <a:buFont typeface="Arial" panose="020B0604020202020204" pitchFamily="34" charset="0"/>
                  <a:buChar char="•"/>
                </a:pPr>
                <a:r>
                  <a:rPr lang="en-US" sz="1800" dirty="0">
                    <a:latin typeface="Arial" panose="020B0604020202020204" pitchFamily="34" charset="0"/>
                    <a:cs typeface="Arial" panose="020B0604020202020204" pitchFamily="34" charset="0"/>
                    <a:sym typeface="+mn-ea"/>
                  </a:rPr>
                  <a:t>If the two variables deviate in the same direction, correlation is said to be positive. Example - income &amp; expenditure, volume of a commodity &amp; its price. </a:t>
                </a:r>
                <a:endParaRPr lang="en-US" sz="1800" dirty="0">
                  <a:latin typeface="Arial" panose="020B0604020202020204" pitchFamily="34" charset="0"/>
                  <a:cs typeface="Arial" panose="020B0604020202020204" pitchFamily="34" charset="0"/>
                </a:endParaRPr>
              </a:p>
              <a:p>
                <a:pPr marL="644525" lvl="1" indent="-285750">
                  <a:buFont typeface="Arial" panose="020B0604020202020204" pitchFamily="34" charset="0"/>
                  <a:buChar char="•"/>
                </a:pPr>
                <a:r>
                  <a:rPr lang="en-US" sz="1800" dirty="0">
                    <a:latin typeface="Arial" panose="020B0604020202020204" pitchFamily="34" charset="0"/>
                    <a:cs typeface="Arial" panose="020B0604020202020204" pitchFamily="34" charset="0"/>
                    <a:sym typeface="+mn-ea"/>
                  </a:rPr>
                  <a:t>If the two variables deviate in the opposite direction, correlation is said to be negative. Example – Demand &amp; price, vaccination &amp; illness from a particular disease.</a:t>
                </a:r>
                <a:endParaRPr lang="en-US" sz="1800" dirty="0">
                  <a:latin typeface="Arial" panose="020B0604020202020204" pitchFamily="34" charset="0"/>
                  <a:cs typeface="Arial" panose="020B0604020202020204" pitchFamily="34" charset="0"/>
                </a:endParaRPr>
              </a:p>
              <a:p>
                <a:pPr marL="644525" lvl="1" indent="-285750">
                  <a:buFont typeface="Arial" panose="020B0604020202020204" pitchFamily="34" charset="0"/>
                  <a:buChar char="•"/>
                </a:pPr>
                <a:endParaRPr lang="en-US" sz="18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
                </a:pPr>
                <a:r>
                  <a:rPr lang="en-US" sz="1800" b="1" dirty="0">
                    <a:latin typeface="Arial" panose="020B0604020202020204" pitchFamily="34" charset="0"/>
                    <a:cs typeface="Arial" panose="020B0604020202020204" pitchFamily="34" charset="0"/>
                    <a:sym typeface="+mn-ea"/>
                  </a:rPr>
                  <a:t>Coefficient of Correlation (Karl Pearson) :  </a:t>
                </a:r>
                <a:r>
                  <a:rPr lang="en-US" sz="1800" dirty="0">
                    <a:latin typeface="Arial" panose="020B0604020202020204" pitchFamily="34" charset="0"/>
                    <a:cs typeface="Arial" panose="020B0604020202020204" pitchFamily="34" charset="0"/>
                    <a:sym typeface="+mn-ea"/>
                  </a:rPr>
                  <a:t>Correlation coefficient measures the </a:t>
                </a:r>
                <a:r>
                  <a:rPr lang="en-US" sz="1800" u="sng" dirty="0">
                    <a:latin typeface="Arial" panose="020B0604020202020204" pitchFamily="34" charset="0"/>
                    <a:cs typeface="Arial" panose="020B0604020202020204" pitchFamily="34" charset="0"/>
                    <a:sym typeface="+mn-ea"/>
                  </a:rPr>
                  <a:t>degree of linear relationship </a:t>
                </a:r>
                <a:r>
                  <a:rPr lang="en-US" sz="1800" dirty="0">
                    <a:latin typeface="Arial" panose="020B0604020202020204" pitchFamily="34" charset="0"/>
                    <a:cs typeface="Arial" panose="020B0604020202020204" pitchFamily="34" charset="0"/>
                    <a:sym typeface="+mn-ea"/>
                  </a:rPr>
                  <a:t>between two variables. It is defined as : </a:t>
                </a:r>
                <a:endParaRPr lang="en-US" sz="1800" dirty="0">
                  <a:latin typeface="Arial" panose="020B0604020202020204" pitchFamily="34" charset="0"/>
                  <a:cs typeface="Arial" panose="020B0604020202020204" pitchFamily="34" charset="0"/>
                </a:endParaRPr>
              </a:p>
              <a:p>
                <a:pPr marL="0" indent="0">
                  <a:buNone/>
                </a:pPr>
                <a:r>
                  <a:rPr lang="en-IN" altLang="en-US" sz="1800" b="1" dirty="0">
                    <a:latin typeface="Arial" panose="020B0604020202020204" pitchFamily="34" charset="0"/>
                    <a:cs typeface="Arial" panose="020B0604020202020204" pitchFamily="34" charset="0"/>
                    <a:sym typeface="+mn-ea"/>
                  </a:rPr>
                  <a:t>			</a:t>
                </a:r>
                <a:endParaRPr lang="en-IN" altLang="en-US" sz="1800" b="1" dirty="0">
                  <a:latin typeface="Arial" panose="020B0604020202020204" pitchFamily="34" charset="0"/>
                  <a:cs typeface="Arial" panose="020B0604020202020204" pitchFamily="34" charset="0"/>
                  <a:sym typeface="+mn-ea"/>
                </a:endParaRPr>
              </a:p>
              <a:p>
                <a:pPr marL="0" indent="0">
                  <a:buNone/>
                </a:pPr>
                <a:r>
                  <a:rPr lang="en-IN" altLang="en-US" sz="1800" b="1" dirty="0">
                    <a:latin typeface="Arial" panose="020B0604020202020204" pitchFamily="34" charset="0"/>
                    <a:cs typeface="Arial" panose="020B0604020202020204" pitchFamily="34" charset="0"/>
                    <a:sym typeface="+mn-ea"/>
                  </a:rPr>
                  <a:t>			</a:t>
                </a:r>
                <a:r>
                  <a:rPr lang="en-US" sz="1800" b="1" dirty="0">
                    <a:latin typeface="Arial" panose="020B0604020202020204" pitchFamily="34" charset="0"/>
                    <a:cs typeface="Arial" panose="020B0604020202020204" pitchFamily="34" charset="0"/>
                    <a:sym typeface="+mn-ea"/>
                  </a:rPr>
                  <a:t>r(X,Y)  =  </a:t>
                </a:r>
                <a14:m>
                  <m:oMath xmlns:m="http://schemas.openxmlformats.org/officeDocument/2006/math">
                    <m:f>
                      <m:fPr>
                        <m:ctrlPr>
                          <a:rPr lang="en-US" sz="1800" b="1" i="1" smtClean="0">
                            <a:latin typeface="Cambria Math" panose="02040503050406030204" pitchFamily="18" charset="0"/>
                            <a:cs typeface="Cambria Math" panose="02040503050406030204" pitchFamily="18" charset="0"/>
                          </a:rPr>
                        </m:ctrlPr>
                      </m:fPr>
                      <m:num>
                        <m:r>
                          <a:rPr lang="en-US" sz="1800" b="1" i="1" smtClean="0">
                            <a:latin typeface="Cambria Math" panose="02040503050406030204" pitchFamily="18" charset="0"/>
                            <a:cs typeface="Cambria Math" panose="02040503050406030204" pitchFamily="18" charset="0"/>
                          </a:rPr>
                          <m:t>𝑪𝒐𝒗</m:t>
                        </m:r>
                        <m:r>
                          <a:rPr lang="en-US" sz="1800" b="1" i="1" smtClean="0">
                            <a:latin typeface="Cambria Math" panose="02040503050406030204" pitchFamily="18" charset="0"/>
                            <a:ea typeface="MS Mincho" charset="0"/>
                            <a:cs typeface="Cambria Math" panose="02040503050406030204" pitchFamily="18" charset="0"/>
                          </a:rPr>
                          <m:t> (</m:t>
                        </m:r>
                        <m:r>
                          <a:rPr lang="en-US" sz="1800" b="1" i="1" smtClean="0">
                            <a:latin typeface="Cambria Math" panose="02040503050406030204" pitchFamily="18" charset="0"/>
                            <a:cs typeface="Cambria Math" panose="02040503050406030204" pitchFamily="18" charset="0"/>
                          </a:rPr>
                          <m:t>𝑿</m:t>
                        </m:r>
                        <m:r>
                          <a:rPr lang="en-US" sz="1800" b="1" i="1" smtClean="0">
                            <a:latin typeface="Cambria Math" panose="02040503050406030204" pitchFamily="18" charset="0"/>
                            <a:ea typeface="MS Mincho" charset="0"/>
                            <a:cs typeface="Cambria Math" panose="02040503050406030204" pitchFamily="18" charset="0"/>
                          </a:rPr>
                          <m:t>,</m:t>
                        </m:r>
                        <m:r>
                          <a:rPr lang="en-US" sz="1800" b="1" i="1" smtClean="0">
                            <a:latin typeface="Cambria Math" panose="02040503050406030204" pitchFamily="18" charset="0"/>
                            <a:cs typeface="Cambria Math" panose="02040503050406030204" pitchFamily="18" charset="0"/>
                          </a:rPr>
                          <m:t>𝒀</m:t>
                        </m:r>
                        <m:r>
                          <a:rPr lang="en-US" sz="1800" b="1" i="1" smtClean="0">
                            <a:latin typeface="Cambria Math" panose="02040503050406030204" pitchFamily="18" charset="0"/>
                            <a:ea typeface="MS Mincho" charset="0"/>
                            <a:cs typeface="Cambria Math" panose="02040503050406030204" pitchFamily="18" charset="0"/>
                          </a:rPr>
                          <m:t>)</m:t>
                        </m:r>
                      </m:num>
                      <m:den>
                        <m:r>
                          <a:rPr lang="en-US" sz="1800" b="1" i="1" smtClean="0">
                            <a:latin typeface="Cambria Math" panose="02040503050406030204" pitchFamily="18" charset="0"/>
                            <a:ea typeface="MS Mincho" charset="0"/>
                            <a:cs typeface="Cambria Math" panose="02040503050406030204" pitchFamily="18" charset="0"/>
                          </a:rPr>
                          <m:t>𝝈</m:t>
                        </m:r>
                        <m:r>
                          <a:rPr lang="en-US" sz="1800" b="1" i="1" smtClean="0">
                            <a:latin typeface="Cambria Math" panose="02040503050406030204" pitchFamily="18" charset="0"/>
                            <a:ea typeface="Cambria Math" panose="02040503050406030204" pitchFamily="18" charset="0"/>
                            <a:cs typeface="Cambria Math" panose="02040503050406030204" pitchFamily="18" charset="0"/>
                          </a:rPr>
                          <m:t>𝒙</m:t>
                        </m:r>
                        <m:r>
                          <a:rPr lang="en-US" sz="1800" b="1" i="1" smtClean="0">
                            <a:latin typeface="Cambria Math" panose="02040503050406030204" pitchFamily="18" charset="0"/>
                            <a:ea typeface="MS Mincho" charset="0"/>
                            <a:cs typeface="Cambria Math" panose="02040503050406030204" pitchFamily="18" charset="0"/>
                          </a:rPr>
                          <m:t> </m:t>
                        </m:r>
                        <m:r>
                          <a:rPr lang="en-US" sz="1800" b="1" i="1" smtClean="0">
                            <a:latin typeface="Cambria Math" panose="02040503050406030204" pitchFamily="18" charset="0"/>
                            <a:ea typeface="MS Mincho" charset="0"/>
                            <a:cs typeface="Cambria Math" panose="02040503050406030204" pitchFamily="18" charset="0"/>
                          </a:rPr>
                          <m:t>𝝈</m:t>
                        </m:r>
                        <m:r>
                          <a:rPr lang="en-US" sz="1800" b="1" i="1" smtClean="0">
                            <a:latin typeface="Cambria Math" panose="02040503050406030204" pitchFamily="18" charset="0"/>
                            <a:ea typeface="Cambria Math" panose="02040503050406030204" pitchFamily="18" charset="0"/>
                            <a:cs typeface="Cambria Math" panose="02040503050406030204" pitchFamily="18" charset="0"/>
                          </a:rPr>
                          <m:t>𝒚</m:t>
                        </m:r>
                      </m:den>
                    </m:f>
                  </m:oMath>
                </a14:m>
                <a:r>
                  <a:rPr lang="en-US" sz="1800" b="1" dirty="0">
                    <a:latin typeface="Arial" panose="020B0604020202020204" pitchFamily="34" charset="0"/>
                    <a:cs typeface="Arial" panose="020B0604020202020204" pitchFamily="34" charset="0"/>
                    <a:sym typeface="+mn-ea"/>
                  </a:rPr>
                  <a:t>  =  </a:t>
                </a:r>
                <a:endParaRPr lang="en-US" sz="1800" b="1" dirty="0">
                  <a:latin typeface="Arial" panose="020B0604020202020204" pitchFamily="34" charset="0"/>
                  <a:cs typeface="Arial" panose="020B0604020202020204" pitchFamily="34" charset="0"/>
                </a:endParaRPr>
              </a:p>
              <a:p>
                <a:endParaRPr lang="en-US" sz="1800" b="1" dirty="0">
                  <a:latin typeface="Arial" panose="020B0604020202020204" pitchFamily="34" charset="0"/>
                  <a:cs typeface="Arial" panose="020B0604020202020204" pitchFamily="34" charset="0"/>
                </a:endParaRPr>
              </a:p>
              <a:p>
                <a:pPr marL="285750" indent="-285750">
                  <a:buFont typeface="Courier New" panose="02070309020205020404" pitchFamily="49" charset="0"/>
                  <a:buChar char="o"/>
                </a:pPr>
                <a:endParaRPr lang="en-US" sz="1800" b="1" dirty="0">
                  <a:latin typeface="Arial" panose="020B0604020202020204" pitchFamily="34" charset="0"/>
                  <a:cs typeface="Arial" panose="020B0604020202020204" pitchFamily="34" charset="0"/>
                </a:endParaRPr>
              </a:p>
              <a:p>
                <a:pPr marL="285750" indent="-285750">
                  <a:buFont typeface="Courier New" panose="02070309020205020404" pitchFamily="49" charset="0"/>
                  <a:buChar char="o"/>
                </a:pPr>
                <a:r>
                  <a:rPr lang="en-US" sz="1800" b="1" dirty="0">
                    <a:latin typeface="Arial" panose="020B0604020202020204" pitchFamily="34" charset="0"/>
                    <a:cs typeface="Arial" panose="020B0604020202020204" pitchFamily="34" charset="0"/>
                    <a:sym typeface="+mn-ea"/>
                  </a:rPr>
                  <a:t>Covariance</a:t>
                </a:r>
                <a:r>
                  <a:rPr lang="en-US" sz="1800" dirty="0">
                    <a:latin typeface="Arial" panose="020B0604020202020204" pitchFamily="34" charset="0"/>
                    <a:cs typeface="Arial" panose="020B0604020202020204" pitchFamily="34" charset="0"/>
                    <a:sym typeface="+mn-ea"/>
                  </a:rPr>
                  <a:t> is a measure of the directional relationship between the two variables.</a:t>
                </a:r>
                <a:endParaRPr lang="en-US" sz="1800" b="1" dirty="0">
                  <a:latin typeface="Arial" panose="020B0604020202020204" pitchFamily="34" charset="0"/>
                  <a:cs typeface="Arial" panose="020B0604020202020204" pitchFamily="34" charset="0"/>
                </a:endParaRPr>
              </a:p>
              <a:p>
                <a:endParaRPr lang="en-US" sz="1800">
                  <a:latin typeface="Arial" panose="020B0604020202020204" pitchFamily="34" charset="0"/>
                  <a:cs typeface="Arial" panose="020B0604020202020204" pitchFamily="34" charset="0"/>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609600" y="1174750"/>
                <a:ext cx="10972800" cy="5356860"/>
              </a:xfrm>
              <a:blipFill rotWithShape="1">
                <a:blip r:embed="rId1"/>
                <a:stretch>
                  <a:fillRect/>
                </a:stretch>
              </a:blipFill>
            </p:spPr>
            <p:txBody>
              <a:bodyPr/>
              <a:lstStyle/>
              <a:p>
                <a:r>
                  <a:rPr lang="en-US" altLang="en-US">
                    <a:noFill/>
                  </a:rPr>
                  <a:t> </a:t>
                </a:r>
              </a:p>
            </p:txBody>
          </p:sp>
        </mc:Fallback>
      </mc:AlternateContent>
      <p:pic>
        <p:nvPicPr>
          <p:cNvPr id="2050" name="Picture 2" descr="Image result for correlation formula"/>
          <p:cNvPicPr>
            <a:picLocks noChangeAspect="1" noChangeArrowheads="1"/>
          </p:cNvPicPr>
          <p:nvPr/>
        </p:nvPicPr>
        <p:blipFill rotWithShape="1">
          <a:blip r:embed="rId2">
            <a:extLst>
              <a:ext uri="{28A0092B-C50C-407E-A947-70E740481C1C}">
                <a14:useLocalDpi xmlns:a14="http://schemas.microsoft.com/office/drawing/2010/main" val="0"/>
              </a:ext>
            </a:extLst>
          </a:blip>
          <a:srcRect l="19382"/>
          <a:stretch>
            <a:fillRect/>
          </a:stretch>
        </p:blipFill>
        <p:spPr bwMode="auto">
          <a:xfrm>
            <a:off x="5570855" y="4347210"/>
            <a:ext cx="2218569" cy="10144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solidFill>
                <a:sym typeface="+mn-ea"/>
              </a:rPr>
              <a:t>Correlation</a:t>
            </a:r>
            <a:endParaRPr lang="en-US" dirty="0">
              <a:solidFill>
                <a:schemeClr val="accent6"/>
              </a:solidFill>
              <a:sym typeface="+mn-ea"/>
            </a:endParaRPr>
          </a:p>
        </p:txBody>
      </p:sp>
      <p:sp>
        <p:nvSpPr>
          <p:cNvPr id="3" name="Content Placeholder 2"/>
          <p:cNvSpPr>
            <a:spLocks noGrp="1"/>
          </p:cNvSpPr>
          <p:nvPr>
            <p:ph idx="1"/>
          </p:nvPr>
        </p:nvSpPr>
        <p:spPr/>
        <p:txBody>
          <a:bodyPr/>
          <a:p>
            <a:pPr/>
            <a:r>
              <a:rPr lang="en-US" sz="1800" b="1" dirty="0">
                <a:latin typeface="Arial" panose="020B0604020202020204" pitchFamily="34" charset="0"/>
                <a:cs typeface="Arial" panose="020B0604020202020204" pitchFamily="34" charset="0"/>
                <a:sym typeface="+mn-ea"/>
              </a:rPr>
              <a:t>Coefficient of Correlation (Spearman) : </a:t>
            </a:r>
            <a:r>
              <a:rPr lang="en-US" sz="1800" dirty="0">
                <a:latin typeface="Arial" panose="020B0604020202020204" pitchFamily="34" charset="0"/>
                <a:cs typeface="Arial" panose="020B0604020202020204" pitchFamily="34" charset="0"/>
                <a:sym typeface="+mn-ea"/>
              </a:rPr>
              <a:t>It is used to check the Rank correlation i.e. the statistical dependence between the rankings of two variables.</a:t>
            </a:r>
            <a:endParaRPr lang="en-US" sz="1800" dirty="0">
              <a:latin typeface="Arial" panose="020B0604020202020204" pitchFamily="34" charset="0"/>
              <a:cs typeface="Arial" panose="020B0604020202020204" pitchFamily="34" charset="0"/>
            </a:endParaRPr>
          </a:p>
          <a:p>
            <a:pPr/>
            <a:endParaRPr lang="en-US" sz="1800" dirty="0">
              <a:latin typeface="Arial" panose="020B0604020202020204" pitchFamily="34" charset="0"/>
              <a:cs typeface="Arial" panose="020B0604020202020204" pitchFamily="34" charset="0"/>
            </a:endParaRPr>
          </a:p>
          <a:p>
            <a:pPr/>
            <a:endParaRPr lang="en-US" sz="1800" dirty="0">
              <a:latin typeface="Arial" panose="020B0604020202020204" pitchFamily="34" charset="0"/>
              <a:cs typeface="Arial" panose="020B0604020202020204" pitchFamily="34" charset="0"/>
            </a:endParaRPr>
          </a:p>
          <a:p>
            <a:pPr/>
            <a:endParaRPr lang="en-US" sz="1800" dirty="0">
              <a:latin typeface="Arial" panose="020B0604020202020204" pitchFamily="34" charset="0"/>
              <a:cs typeface="Arial" panose="020B0604020202020204" pitchFamily="34" charset="0"/>
            </a:endParaRPr>
          </a:p>
          <a:p>
            <a:pPr/>
            <a:endParaRPr lang="en-US" sz="1800"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sym typeface="+mn-ea"/>
              </a:rPr>
              <a:t>Where di is the difference between Xi &amp; Yi, n is the number of observations.</a:t>
            </a:r>
            <a:endParaRPr lang="en-US" sz="1800" dirty="0">
              <a:latin typeface="Arial" panose="020B0604020202020204" pitchFamily="34" charset="0"/>
              <a:cs typeface="Arial" panose="020B0604020202020204" pitchFamily="34" charset="0"/>
            </a:endParaRPr>
          </a:p>
          <a:p>
            <a:endParaRPr lang="en-US" sz="1800" dirty="0">
              <a:solidFill>
                <a:schemeClr val="accent1"/>
              </a:solidFill>
              <a:latin typeface="Arial" panose="020B0604020202020204" pitchFamily="34" charset="0"/>
              <a:cs typeface="Arial" panose="020B0604020202020204" pitchFamily="34" charset="0"/>
            </a:endParaRPr>
          </a:p>
          <a:p>
            <a:pPr marL="0" indent="0">
              <a:buNone/>
            </a:pPr>
            <a:r>
              <a:rPr lang="en-US" sz="1800" dirty="0">
                <a:solidFill>
                  <a:schemeClr val="accent1"/>
                </a:solidFill>
                <a:latin typeface="Arial" panose="020B0604020202020204" pitchFamily="34" charset="0"/>
                <a:cs typeface="Arial" panose="020B0604020202020204" pitchFamily="34" charset="0"/>
                <a:sym typeface="+mn-ea"/>
              </a:rPr>
              <a:t>Properties :</a:t>
            </a:r>
            <a:endParaRPr lang="en-US" sz="1800" dirty="0">
              <a:solidFill>
                <a:schemeClr val="accent1"/>
              </a:solidFill>
              <a:latin typeface="Arial" panose="020B0604020202020204" pitchFamily="34" charset="0"/>
              <a:cs typeface="Arial" panose="020B0604020202020204" pitchFamily="34" charset="0"/>
            </a:endParaRPr>
          </a:p>
          <a:p>
            <a:pPr/>
            <a:r>
              <a:rPr lang="en-US" sz="1800" b="1" dirty="0">
                <a:latin typeface="Arial" panose="020B0604020202020204" pitchFamily="34" charset="0"/>
                <a:cs typeface="Arial" panose="020B0604020202020204" pitchFamily="34" charset="0"/>
                <a:sym typeface="+mn-ea"/>
              </a:rPr>
              <a:t>-1 ≤ r(X,Y) ≤ 1 </a:t>
            </a:r>
            <a:r>
              <a:rPr lang="en-US" sz="1800" dirty="0">
                <a:latin typeface="Arial" panose="020B0604020202020204" pitchFamily="34" charset="0"/>
                <a:cs typeface="Arial" panose="020B0604020202020204" pitchFamily="34" charset="0"/>
                <a:sym typeface="+mn-ea"/>
              </a:rPr>
              <a:t>: The value of correlation coefficient lies between -1 to 1.</a:t>
            </a:r>
            <a:endParaRPr lang="en-US" sz="1800" dirty="0">
              <a:latin typeface="Arial" panose="020B0604020202020204" pitchFamily="34" charset="0"/>
              <a:cs typeface="Arial" panose="020B0604020202020204" pitchFamily="34" charset="0"/>
            </a:endParaRPr>
          </a:p>
          <a:p>
            <a:pPr marL="0" indent="0">
              <a:buNone/>
            </a:pPr>
            <a:r>
              <a:rPr lang="en-US" sz="1800" dirty="0">
                <a:latin typeface="Arial" panose="020B0604020202020204" pitchFamily="34" charset="0"/>
                <a:cs typeface="Arial" panose="020B0604020202020204" pitchFamily="34" charset="0"/>
                <a:sym typeface="+mn-ea"/>
              </a:rPr>
              <a:t>If r = + 1, the correlation is perfect and positive and if r = -1, correlation is perfect and negative. r=0 represents no correlation.</a:t>
            </a:r>
            <a:endParaRPr lang="en-US" sz="1800" dirty="0">
              <a:latin typeface="Arial" panose="020B0604020202020204" pitchFamily="34" charset="0"/>
              <a:cs typeface="Arial" panose="020B0604020202020204" pitchFamily="34" charset="0"/>
            </a:endParaRPr>
          </a:p>
          <a:p>
            <a:pPr/>
            <a:r>
              <a:rPr lang="en-US" sz="1800" dirty="0">
                <a:latin typeface="Arial" panose="020B0604020202020204" pitchFamily="34" charset="0"/>
                <a:cs typeface="Arial" panose="020B0604020202020204" pitchFamily="34" charset="0"/>
                <a:sym typeface="+mn-ea"/>
              </a:rPr>
              <a:t>Correlation coefficient is independent of change of origin &amp; scale.</a:t>
            </a:r>
            <a:endParaRPr lang="en-US" sz="1800" dirty="0">
              <a:latin typeface="Arial" panose="020B0604020202020204" pitchFamily="34" charset="0"/>
              <a:cs typeface="Arial" panose="020B0604020202020204" pitchFamily="34" charset="0"/>
            </a:endParaRPr>
          </a:p>
          <a:p>
            <a:pPr/>
            <a:r>
              <a:rPr lang="en-US" sz="1800" dirty="0">
                <a:latin typeface="Arial" panose="020B0604020202020204" pitchFamily="34" charset="0"/>
                <a:cs typeface="Arial" panose="020B0604020202020204" pitchFamily="34" charset="0"/>
                <a:sym typeface="+mn-ea"/>
              </a:rPr>
              <a:t>Two independent variables are uncorrelated, but converse it not true. </a:t>
            </a:r>
            <a:endParaRPr lang="en-US" sz="1800">
              <a:latin typeface="Arial" panose="020B0604020202020204" pitchFamily="34" charset="0"/>
              <a:cs typeface="Arial" panose="020B0604020202020204" pitchFamily="34" charset="0"/>
            </a:endParaRPr>
          </a:p>
        </p:txBody>
      </p:sp>
      <p:pic>
        <p:nvPicPr>
          <p:cNvPr id="4098" name="Picture 2" descr="Image result for rank correlation coefficient formula"/>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77603" y="1936696"/>
            <a:ext cx="1981201" cy="838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solidFill>
                <a:sym typeface="+mn-ea"/>
              </a:rPr>
              <a:t>Correlation : Representation</a:t>
            </a:r>
            <a:endParaRPr lang="en-US" dirty="0">
              <a:solidFill>
                <a:schemeClr val="accent6"/>
              </a:solidFill>
              <a:sym typeface="+mn-ea"/>
            </a:endParaRPr>
          </a:p>
        </p:txBody>
      </p:sp>
      <p:sp>
        <p:nvSpPr>
          <p:cNvPr id="3" name="Content Placeholder 2"/>
          <p:cNvSpPr>
            <a:spLocks noGrp="1"/>
          </p:cNvSpPr>
          <p:nvPr>
            <p:ph idx="1"/>
          </p:nvPr>
        </p:nvSpPr>
        <p:spPr>
          <a:xfrm>
            <a:off x="609600" y="1174750"/>
            <a:ext cx="10972800" cy="5315585"/>
          </a:xfrm>
        </p:spPr>
        <p:txBody>
          <a:bodyPr/>
          <a:p>
            <a:pPr/>
            <a:r>
              <a:rPr lang="en-US" sz="1800" b="1" dirty="0">
                <a:latin typeface="Arial" panose="020B0604020202020204" pitchFamily="34" charset="0"/>
                <a:cs typeface="Arial" panose="020B0604020202020204" pitchFamily="34" charset="0"/>
                <a:sym typeface="+mn-ea"/>
              </a:rPr>
              <a:t>Scatter diagram </a:t>
            </a:r>
            <a:r>
              <a:rPr lang="en-US" sz="1800" dirty="0">
                <a:latin typeface="Arial" panose="020B0604020202020204" pitchFamily="34" charset="0"/>
                <a:cs typeface="Arial" panose="020B0604020202020204" pitchFamily="34" charset="0"/>
                <a:sym typeface="+mn-ea"/>
              </a:rPr>
              <a:t>: Scatter diagram is a simplest way for graphically checking the correlation between two variables.</a:t>
            </a:r>
            <a:endParaRPr lang="en-US" sz="18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endParaRPr lang="en-US" sz="18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endParaRPr lang="en-US" sz="18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endParaRPr lang="en-US" sz="18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endParaRPr lang="en-US" sz="18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endParaRPr lang="en-US" sz="18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endParaRPr lang="en-US" sz="18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endParaRPr lang="en-US" sz="18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endParaRPr lang="en-US" sz="18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endParaRPr lang="en-US" sz="1800" dirty="0">
              <a:latin typeface="Arial" panose="020B0604020202020204" pitchFamily="34" charset="0"/>
              <a:cs typeface="Arial" panose="020B0604020202020204" pitchFamily="34" charset="0"/>
            </a:endParaRPr>
          </a:p>
          <a:p>
            <a:pPr marL="0" indent="0">
              <a:buNone/>
            </a:pPr>
            <a:r>
              <a:rPr lang="en-US" sz="1800" b="1" dirty="0">
                <a:solidFill>
                  <a:schemeClr val="accent1"/>
                </a:solidFill>
                <a:latin typeface="Arial" panose="020B0604020202020204" pitchFamily="34" charset="0"/>
                <a:cs typeface="Arial" panose="020B0604020202020204" pitchFamily="34" charset="0"/>
                <a:sym typeface="+mn-ea"/>
              </a:rPr>
              <a:t>Interpretation</a:t>
            </a:r>
            <a:r>
              <a:rPr lang="en-US" sz="1800" dirty="0">
                <a:latin typeface="Arial" panose="020B0604020202020204" pitchFamily="34" charset="0"/>
                <a:cs typeface="Arial" panose="020B0604020202020204" pitchFamily="34" charset="0"/>
                <a:sym typeface="+mn-ea"/>
              </a:rPr>
              <a:t>:  The value of correlation coefficient can be interpreted as:</a:t>
            </a:r>
            <a:endParaRPr lang="en-US" sz="1800" dirty="0">
              <a:latin typeface="Arial" panose="020B0604020202020204" pitchFamily="34" charset="0"/>
              <a:cs typeface="Arial" panose="020B0604020202020204" pitchFamily="34" charset="0"/>
            </a:endParaRPr>
          </a:p>
          <a:p>
            <a:pPr marL="285750" indent="-285750"/>
            <a:r>
              <a:rPr lang="en-US" sz="1800" dirty="0">
                <a:latin typeface="Arial" panose="020B0604020202020204" pitchFamily="34" charset="0"/>
                <a:cs typeface="Arial" panose="020B0604020202020204" pitchFamily="34" charset="0"/>
                <a:sym typeface="+mn-ea"/>
              </a:rPr>
              <a:t>If  r is close to zero then correlation is said to be very low.</a:t>
            </a:r>
            <a:endParaRPr lang="en-US" sz="1800" dirty="0">
              <a:latin typeface="Arial" panose="020B0604020202020204" pitchFamily="34" charset="0"/>
              <a:cs typeface="Arial" panose="020B0604020202020204" pitchFamily="34" charset="0"/>
            </a:endParaRPr>
          </a:p>
          <a:p>
            <a:pPr marL="285750" indent="-285750"/>
            <a:r>
              <a:rPr lang="en-US" sz="1800" dirty="0">
                <a:latin typeface="Arial" panose="020B0604020202020204" pitchFamily="34" charset="0"/>
                <a:cs typeface="Arial" panose="020B0604020202020204" pitchFamily="34" charset="0"/>
                <a:sym typeface="+mn-ea"/>
              </a:rPr>
              <a:t>If  r is close to -0.5 or 0.5 then correlation is said to be moderate.</a:t>
            </a:r>
            <a:endParaRPr lang="en-US" sz="1800" dirty="0">
              <a:latin typeface="Arial" panose="020B0604020202020204" pitchFamily="34" charset="0"/>
              <a:cs typeface="Arial" panose="020B0604020202020204" pitchFamily="34" charset="0"/>
            </a:endParaRPr>
          </a:p>
          <a:p>
            <a:pPr marL="285750" indent="-285750"/>
            <a:r>
              <a:rPr lang="en-US" sz="1800" dirty="0">
                <a:latin typeface="Arial" panose="020B0604020202020204" pitchFamily="34" charset="0"/>
                <a:cs typeface="Arial" panose="020B0604020202020204" pitchFamily="34" charset="0"/>
                <a:sym typeface="+mn-ea"/>
              </a:rPr>
              <a:t>If  r is greater than 0.75 or less than -0.75 then correlation is said to be high.</a:t>
            </a:r>
            <a:endParaRPr lang="en-US" sz="1800">
              <a:latin typeface="Arial" panose="020B0604020202020204" pitchFamily="34" charset="0"/>
              <a:cs typeface="Arial" panose="020B0604020202020204" pitchFamily="34" charset="0"/>
            </a:endParaRPr>
          </a:p>
        </p:txBody>
      </p:sp>
      <p:pic>
        <p:nvPicPr>
          <p:cNvPr id="3074" name="Picture 2" descr="Scatter Plots and Correlation Example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95655" y="1931035"/>
            <a:ext cx="10516235" cy="24460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solidFill>
                <a:sym typeface="+mn-ea"/>
              </a:rPr>
              <a:t>Correlation : Things to Remember</a:t>
            </a:r>
            <a:endParaRPr lang="en-US" dirty="0">
              <a:solidFill>
                <a:schemeClr val="accent6"/>
              </a:solidFill>
              <a:sym typeface="+mn-ea"/>
            </a:endParaRPr>
          </a:p>
        </p:txBody>
      </p:sp>
      <p:sp>
        <p:nvSpPr>
          <p:cNvPr id="3" name="Content Placeholder 2"/>
          <p:cNvSpPr>
            <a:spLocks noGrp="1"/>
          </p:cNvSpPr>
          <p:nvPr>
            <p:ph idx="1"/>
          </p:nvPr>
        </p:nvSpPr>
        <p:spPr/>
        <p:txBody>
          <a:bodyPr/>
          <a:p>
            <a:r>
              <a:rPr lang="en-US" sz="1800" dirty="0">
                <a:sym typeface="+mn-ea"/>
              </a:rPr>
              <a:t>Correlation is very simplest way to understand the relationship between two variables, but it has some drawbacks also. We have to be careful about following things while using correlation.</a:t>
            </a:r>
            <a:endParaRPr lang="en-US" sz="1800" dirty="0"/>
          </a:p>
          <a:p>
            <a:endParaRPr lang="en-US" sz="1800" dirty="0"/>
          </a:p>
          <a:p>
            <a:pPr/>
            <a:r>
              <a:rPr lang="en-US" sz="1800" b="1" dirty="0">
                <a:sym typeface="+mn-ea"/>
              </a:rPr>
              <a:t>Correlation does not imply causation </a:t>
            </a:r>
            <a:r>
              <a:rPr lang="en-US" sz="1800" dirty="0">
                <a:sym typeface="+mn-ea"/>
              </a:rPr>
              <a:t>: Correlation does not prove that one variable causes the other.</a:t>
            </a:r>
            <a:endParaRPr lang="en-US" sz="1800" dirty="0"/>
          </a:p>
          <a:p>
            <a:pPr marL="644525" lvl="1"/>
            <a:r>
              <a:rPr lang="en-US" sz="1800" dirty="0">
                <a:sym typeface="+mn-ea"/>
              </a:rPr>
              <a:t>A study founds that there is high negative correlation between Number of astronauts dying in spacecraft &amp; Percentage of people wearing seatbelts in automobiles.</a:t>
            </a:r>
            <a:endParaRPr lang="en-US" sz="1800" dirty="0"/>
          </a:p>
          <a:p>
            <a:pPr marL="1028700" lvl="1"/>
            <a:r>
              <a:rPr lang="en-US" sz="1800" b="1" dirty="0">
                <a:sym typeface="+mn-ea"/>
              </a:rPr>
              <a:t>Result</a:t>
            </a:r>
            <a:r>
              <a:rPr lang="en-US" sz="1800" i="1" dirty="0">
                <a:sym typeface="+mn-ea"/>
              </a:rPr>
              <a:t> </a:t>
            </a:r>
            <a:r>
              <a:rPr lang="en-IN" altLang="en-US" sz="1800" dirty="0">
                <a:sym typeface="+mn-ea"/>
              </a:rPr>
              <a:t>:</a:t>
            </a:r>
            <a:r>
              <a:rPr lang="en-US" sz="1800" i="1" dirty="0">
                <a:sym typeface="+mn-ea"/>
              </a:rPr>
              <a:t> Use your seatbelt and save an astronaut’s life.</a:t>
            </a:r>
            <a:endParaRPr lang="en-US" sz="1800" dirty="0"/>
          </a:p>
          <a:p>
            <a:pPr marL="1028700" lvl="1"/>
            <a:r>
              <a:rPr lang="en-US" sz="1800" dirty="0">
                <a:sym typeface="+mn-ea"/>
              </a:rPr>
              <a:t>It is called the spurious or nonsense correlation.</a:t>
            </a:r>
            <a:endParaRPr lang="en-US" sz="1800" dirty="0"/>
          </a:p>
          <a:p>
            <a:pPr/>
            <a:endParaRPr lang="en-US" sz="1800" b="1" dirty="0"/>
          </a:p>
          <a:p>
            <a:pPr/>
            <a:r>
              <a:rPr lang="en-US" sz="1800" b="1" dirty="0">
                <a:sym typeface="+mn-ea"/>
              </a:rPr>
              <a:t>Correlation only measures the linear relationship </a:t>
            </a:r>
            <a:r>
              <a:rPr lang="en-US" sz="1800" dirty="0">
                <a:sym typeface="+mn-ea"/>
              </a:rPr>
              <a:t>: If two variables are non linearly related to each other then Correlation may not measure the relationship between them</a:t>
            </a:r>
            <a:r>
              <a:rPr lang="en-IN" altLang="en-US" sz="1800" dirty="0">
                <a:sym typeface="+mn-ea"/>
              </a:rPr>
              <a:t>.</a:t>
            </a:r>
            <a:endParaRPr lang="en-US" sz="1800" dirty="0"/>
          </a:p>
          <a:p>
            <a:endParaRPr lang="en-US" sz="1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solidFill>
                <a:sym typeface="+mn-ea"/>
              </a:rPr>
              <a:t>Correlation Plot</a:t>
            </a:r>
            <a:endParaRPr lang="en-US" dirty="0">
              <a:solidFill>
                <a:schemeClr val="accent6"/>
              </a:solidFill>
              <a:sym typeface="+mn-ea"/>
            </a:endParaRPr>
          </a:p>
        </p:txBody>
      </p:sp>
      <p:sp>
        <p:nvSpPr>
          <p:cNvPr id="3" name="Content Placeholder 2"/>
          <p:cNvSpPr>
            <a:spLocks noGrp="1"/>
          </p:cNvSpPr>
          <p:nvPr>
            <p:ph idx="1"/>
          </p:nvPr>
        </p:nvSpPr>
        <p:spPr>
          <a:xfrm>
            <a:off x="609600" y="1174750"/>
            <a:ext cx="10972800" cy="5249545"/>
          </a:xfrm>
        </p:spPr>
        <p:txBody>
          <a:bodyPr/>
          <a:p>
            <a:pPr marL="285750" indent="-285750">
              <a:buFont typeface="Arial" panose="020B0604020202020204" pitchFamily="34" charset="0"/>
              <a:buChar char="•"/>
            </a:pPr>
            <a:r>
              <a:rPr lang="en-US" sz="1800" b="1" dirty="0" err="1">
                <a:latin typeface="Arial" panose="020B0604020202020204" pitchFamily="34" charset="0"/>
                <a:cs typeface="Arial" panose="020B0604020202020204" pitchFamily="34" charset="0"/>
                <a:sym typeface="+mn-ea"/>
              </a:rPr>
              <a:t>corr</a:t>
            </a:r>
            <a:r>
              <a:rPr lang="en-US" sz="1800" b="1" dirty="0">
                <a:latin typeface="Arial" panose="020B0604020202020204" pitchFamily="34" charset="0"/>
                <a:cs typeface="Arial" panose="020B0604020202020204" pitchFamily="34" charset="0"/>
                <a:sym typeface="+mn-ea"/>
              </a:rPr>
              <a:t>() function in Python </a:t>
            </a:r>
            <a:r>
              <a:rPr lang="en-US" sz="1800" dirty="0">
                <a:latin typeface="Arial" panose="020B0604020202020204" pitchFamily="34" charset="0"/>
                <a:cs typeface="Arial" panose="020B0604020202020204" pitchFamily="34" charset="0"/>
                <a:sym typeface="+mn-ea"/>
              </a:rPr>
              <a:t>: To find the correlation between two variables in Python we can use the function </a:t>
            </a:r>
            <a:r>
              <a:rPr lang="en-US" sz="1800" dirty="0" err="1">
                <a:latin typeface="Arial" panose="020B0604020202020204" pitchFamily="34" charset="0"/>
                <a:cs typeface="Arial" panose="020B0604020202020204" pitchFamily="34" charset="0"/>
                <a:sym typeface="+mn-ea"/>
              </a:rPr>
              <a:t>corr</a:t>
            </a:r>
            <a:r>
              <a:rPr lang="en-US" sz="1800" dirty="0">
                <a:latin typeface="Arial" panose="020B0604020202020204" pitchFamily="34" charset="0"/>
                <a:cs typeface="Arial" panose="020B0604020202020204" pitchFamily="34" charset="0"/>
                <a:sym typeface="+mn-ea"/>
              </a:rPr>
              <a:t>().</a:t>
            </a:r>
            <a:endParaRPr lang="en-US" sz="18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800" dirty="0" err="1">
                <a:latin typeface="Arial" panose="020B0604020202020204" pitchFamily="34" charset="0"/>
                <a:cs typeface="Arial" panose="020B0604020202020204" pitchFamily="34" charset="0"/>
                <a:sym typeface="+mn-ea"/>
              </a:rPr>
              <a:t>DataFrame.corr</a:t>
            </a:r>
            <a:r>
              <a:rPr lang="en-US" sz="1800" dirty="0">
                <a:latin typeface="Arial" panose="020B0604020202020204" pitchFamily="34" charset="0"/>
                <a:cs typeface="Arial" panose="020B0604020202020204" pitchFamily="34" charset="0"/>
                <a:sym typeface="+mn-ea"/>
              </a:rPr>
              <a:t>(method='</a:t>
            </a:r>
            <a:r>
              <a:rPr lang="en-US" sz="1800" dirty="0" err="1">
                <a:latin typeface="Arial" panose="020B0604020202020204" pitchFamily="34" charset="0"/>
                <a:cs typeface="Arial" panose="020B0604020202020204" pitchFamily="34" charset="0"/>
                <a:sym typeface="+mn-ea"/>
              </a:rPr>
              <a:t>pearson</a:t>
            </a:r>
            <a:r>
              <a:rPr lang="en-US" sz="1800" dirty="0">
                <a:latin typeface="Arial" panose="020B0604020202020204" pitchFamily="34" charset="0"/>
                <a:cs typeface="Arial" panose="020B0604020202020204" pitchFamily="34" charset="0"/>
                <a:sym typeface="+mn-ea"/>
              </a:rPr>
              <a:t>', </a:t>
            </a:r>
            <a:r>
              <a:rPr lang="en-US" sz="1800" dirty="0" err="1">
                <a:latin typeface="Arial" panose="020B0604020202020204" pitchFamily="34" charset="0"/>
                <a:cs typeface="Arial" panose="020B0604020202020204" pitchFamily="34" charset="0"/>
                <a:sym typeface="+mn-ea"/>
              </a:rPr>
              <a:t>min_periods</a:t>
            </a:r>
            <a:r>
              <a:rPr lang="en-US" sz="1800" dirty="0">
                <a:latin typeface="Arial" panose="020B0604020202020204" pitchFamily="34" charset="0"/>
                <a:cs typeface="Arial" panose="020B0604020202020204" pitchFamily="34" charset="0"/>
                <a:sym typeface="+mn-ea"/>
              </a:rPr>
              <a:t>=1)</a:t>
            </a:r>
            <a:endParaRPr lang="en-US" sz="1800" dirty="0">
              <a:latin typeface="Arial" panose="020B0604020202020204" pitchFamily="34" charset="0"/>
              <a:cs typeface="Arial" panose="020B0604020202020204" pitchFamily="34" charset="0"/>
            </a:endParaRPr>
          </a:p>
          <a:p>
            <a:pPr marL="0" indent="0">
              <a:buNone/>
            </a:pPr>
            <a:r>
              <a:rPr lang="en-IN" altLang="en-US" sz="1800" dirty="0">
                <a:latin typeface="Arial" panose="020B0604020202020204" pitchFamily="34" charset="0"/>
                <a:cs typeface="Arial" panose="020B0604020202020204" pitchFamily="34" charset="0"/>
                <a:sym typeface="+mn-ea"/>
              </a:rPr>
              <a:t>    </a:t>
            </a:r>
            <a:r>
              <a:rPr lang="en-US" sz="1800" dirty="0">
                <a:latin typeface="Arial" panose="020B0604020202020204" pitchFamily="34" charset="0"/>
                <a:cs typeface="Arial" panose="020B0604020202020204" pitchFamily="34" charset="0"/>
                <a:sym typeface="+mn-ea"/>
              </a:rPr>
              <a:t>We can specify the method of correlation in cor() function. i.e. “pearson"," spearman” etc.</a:t>
            </a:r>
            <a:endParaRPr lang="en-US" sz="18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800" dirty="0">
                <a:latin typeface="Arial" panose="020B0604020202020204" pitchFamily="34" charset="0"/>
                <a:cs typeface="Arial" panose="020B0604020202020204" pitchFamily="34" charset="0"/>
                <a:sym typeface="+mn-ea"/>
              </a:rPr>
              <a:t>cor() can be applied on the data frame also with multiple variables. It will give the correlation between each pair of variables.</a:t>
            </a:r>
            <a:endParaRPr lang="en-US" sz="1800" dirty="0">
              <a:latin typeface="Arial" panose="020B0604020202020204" pitchFamily="34" charset="0"/>
              <a:cs typeface="Arial" panose="020B0604020202020204" pitchFamily="34" charset="0"/>
            </a:endParaRPr>
          </a:p>
          <a:p>
            <a:endParaRPr lang="en-US" sz="1800"/>
          </a:p>
        </p:txBody>
      </p:sp>
      <p:pic>
        <p:nvPicPr>
          <p:cNvPr id="10243" name="Picture 3"/>
          <p:cNvPicPr>
            <a:picLocks noChangeAspect="1" noChangeArrowheads="1"/>
          </p:cNvPicPr>
          <p:nvPr/>
        </p:nvPicPr>
        <p:blipFill rotWithShape="1">
          <a:blip r:embed="rId1">
            <a:extLst>
              <a:ext uri="{28A0092B-C50C-407E-A947-70E740481C1C}">
                <a14:useLocalDpi xmlns:a14="http://schemas.microsoft.com/office/drawing/2010/main" val="0"/>
              </a:ext>
            </a:extLst>
          </a:blip>
          <a:srcRect l="10378"/>
          <a:stretch>
            <a:fillRect/>
          </a:stretch>
        </p:blipFill>
        <p:spPr bwMode="auto">
          <a:xfrm>
            <a:off x="694494" y="3412148"/>
            <a:ext cx="3404484" cy="2713383"/>
          </a:xfrm>
          <a:prstGeom prst="rect">
            <a:avLst/>
          </a:prstGeom>
          <a:noFill/>
          <a:extLst>
            <a:ext uri="{909E8E84-426E-40DD-AFC4-6F175D3DCCD1}">
              <a14:hiddenFill xmlns:a14="http://schemas.microsoft.com/office/drawing/2010/main">
                <a:solidFill>
                  <a:srgbClr val="FFFFFF"/>
                </a:solidFill>
              </a14:hiddenFill>
            </a:ext>
          </a:extLst>
        </p:spPr>
      </p:pic>
      <p:pic>
        <p:nvPicPr>
          <p:cNvPr id="10245" name="Picture 5" descr="Plot variable correlations - MATLAB corrpl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7174" y="3409608"/>
            <a:ext cx="3622092" cy="2716569"/>
          </a:xfrm>
          <a:prstGeom prst="rect">
            <a:avLst/>
          </a:prstGeom>
          <a:noFill/>
          <a:extLst>
            <a:ext uri="{909E8E84-426E-40DD-AFC4-6F175D3DCCD1}">
              <a14:hiddenFill xmlns:a14="http://schemas.microsoft.com/office/drawing/2010/main">
                <a:solidFill>
                  <a:srgbClr val="FFFFFF"/>
                </a:solidFill>
              </a14:hiddenFill>
            </a:ext>
          </a:extLst>
        </p:spPr>
      </p:pic>
      <p:pic>
        <p:nvPicPr>
          <p:cNvPr id="10247" name="Picture 7" descr="Scaling circle size in R corrplot function - Stack Overflow"/>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05559" y="3414688"/>
            <a:ext cx="2715916" cy="271028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noChangeArrowheads="1"/>
          </p:cNvSpPr>
          <p:nvPr>
            <p:ph type="ctrTitle"/>
          </p:nvPr>
        </p:nvSpPr>
        <p:spPr>
          <a:xfrm>
            <a:off x="624417" y="1756410"/>
            <a:ext cx="10943167" cy="1082675"/>
          </a:xfrm>
        </p:spPr>
        <p:txBody>
          <a:bodyPr/>
          <a:p>
            <a:r>
              <a:rPr lang="en-US" sz="5000" b="1" dirty="0">
                <a:solidFill>
                  <a:srgbClr val="FF0000"/>
                </a:solidFill>
                <a:effectLst/>
                <a:ea typeface="Verdana" panose="020B0604030504040204" pitchFamily="34" charset="0"/>
                <a:cs typeface="+mj-lt"/>
                <a:sym typeface="+mn-ea"/>
              </a:rPr>
              <a:t>Data Visualization</a:t>
            </a:r>
            <a:endParaRPr lang="en-US" sz="5000" b="1" dirty="0">
              <a:solidFill>
                <a:srgbClr val="FF0000"/>
              </a:solidFill>
              <a:effectLst/>
              <a:ea typeface="Verdana" panose="020B0604030504040204" pitchFamily="34" charset="0"/>
              <a:cs typeface="+mj-lt"/>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solidFill>
                <a:effectLst/>
                <a:latin typeface="Verdana" panose="020B0604030504040204" pitchFamily="34" charset="0"/>
                <a:ea typeface="Verdana" panose="020B0604030504040204" pitchFamily="34" charset="0"/>
                <a:cs typeface="Verdana" panose="020B0604030504040204" pitchFamily="34" charset="0"/>
                <a:sym typeface="+mn-ea"/>
              </a:rPr>
              <a:t>What is Data Visualization?</a:t>
            </a:r>
            <a:endParaRPr lang="en-US" dirty="0">
              <a:solidFill>
                <a:schemeClr val="accent6"/>
              </a:solidFill>
              <a:effectLst/>
              <a:latin typeface="Verdana" panose="020B0604030504040204" pitchFamily="34" charset="0"/>
              <a:ea typeface="Verdana" panose="020B0604030504040204" pitchFamily="34" charset="0"/>
              <a:cs typeface="Verdana" panose="020B0604030504040204" pitchFamily="34" charset="0"/>
              <a:sym typeface="+mn-ea"/>
            </a:endParaRPr>
          </a:p>
        </p:txBody>
      </p:sp>
      <p:pic>
        <p:nvPicPr>
          <p:cNvPr id="1026" name="Picture 2" descr="data visualization"/>
          <p:cNvPicPr>
            <a:picLocks noChangeAspect="1" noChangeArrowheads="1"/>
          </p:cNvPicPr>
          <p:nvPr>
            <p:ph idx="1"/>
          </p:nvPr>
        </p:nvPicPr>
        <p:blipFill>
          <a:blip r:embed="rId1">
            <a:extLst>
              <a:ext uri="{28A0092B-C50C-407E-A947-70E740481C1C}">
                <a14:useLocalDpi xmlns:a14="http://schemas.microsoft.com/office/drawing/2010/main" val="0"/>
              </a:ext>
            </a:extLst>
          </a:blip>
          <a:stretch>
            <a:fillRect/>
          </a:stretch>
        </p:blipFill>
        <p:spPr bwMode="auto">
          <a:xfrm>
            <a:off x="792480" y="1477010"/>
            <a:ext cx="4142740" cy="3587115"/>
          </a:xfrm>
          <a:prstGeom prst="rect">
            <a:avLst/>
          </a:prstGeom>
          <a:solidFill>
            <a:srgbClr val="FFFFFF"/>
          </a:solidFill>
        </p:spPr>
      </p:pic>
      <p:sp>
        <p:nvSpPr>
          <p:cNvPr id="4" name="Text Box 3"/>
          <p:cNvSpPr txBox="1"/>
          <p:nvPr/>
        </p:nvSpPr>
        <p:spPr>
          <a:xfrm>
            <a:off x="5207000" y="1477010"/>
            <a:ext cx="6375400" cy="3589655"/>
          </a:xfrm>
          <a:prstGeom prst="rect">
            <a:avLst/>
          </a:prstGeom>
          <a:noFill/>
        </p:spPr>
        <p:txBody>
          <a:bodyPr wrap="square" rtlCol="0" anchor="t">
            <a:spAutoFit/>
          </a:bodyPr>
          <a:p>
            <a:pPr marL="285750" indent="-285750">
              <a:lnSpc>
                <a:spcPct val="90000"/>
              </a:lnSpc>
              <a:spcAft>
                <a:spcPts val="800"/>
              </a:spcAft>
              <a:buClr>
                <a:schemeClr val="tx1"/>
              </a:buClr>
              <a:buFont typeface="Arial" panose="020B0604020202020204" pitchFamily="34" charset="0"/>
              <a:buChar char="•"/>
            </a:pPr>
            <a:r>
              <a:rPr lang="en-US" dirty="0">
                <a:latin typeface="Arial" panose="020B0604020202020204" pitchFamily="34" charset="0"/>
                <a:ea typeface="Verdana" panose="020B0604030504040204" pitchFamily="34" charset="0"/>
                <a:cs typeface="Arial" panose="020B0604020202020204" pitchFamily="34" charset="0"/>
                <a:sym typeface="+mn-ea"/>
              </a:rPr>
              <a:t>Data visualization is defined as a graphical representation that contains the information and the data.</a:t>
            </a:r>
            <a:endParaRPr lang="en-US" dirty="0">
              <a:latin typeface="Arial" panose="020B0604020202020204" pitchFamily="34" charset="0"/>
              <a:ea typeface="Verdana" panose="020B0604030504040204" pitchFamily="34" charset="0"/>
              <a:cs typeface="Arial" panose="020B0604020202020204" pitchFamily="34" charset="0"/>
            </a:endParaRPr>
          </a:p>
          <a:p>
            <a:pPr marL="285750" indent="-285750">
              <a:lnSpc>
                <a:spcPct val="90000"/>
              </a:lnSpc>
              <a:spcAft>
                <a:spcPts val="800"/>
              </a:spcAft>
              <a:buClr>
                <a:schemeClr val="tx1"/>
              </a:buClr>
              <a:buFont typeface="Arial" panose="020B0604020202020204" pitchFamily="34" charset="0"/>
              <a:buChar char="•"/>
            </a:pPr>
            <a:r>
              <a:rPr lang="en-US" dirty="0">
                <a:latin typeface="Arial" panose="020B0604020202020204" pitchFamily="34" charset="0"/>
                <a:ea typeface="Verdana" panose="020B0604030504040204" pitchFamily="34" charset="0"/>
                <a:cs typeface="Arial" panose="020B0604020202020204" pitchFamily="34" charset="0"/>
                <a:sym typeface="+mn-ea"/>
              </a:rPr>
              <a:t>By using visual elements like charts, graphs, and maps, data visualization techniques provide an accessible way to see and understand trends, outliers, and patterns in data.</a:t>
            </a:r>
            <a:endParaRPr lang="en-US" dirty="0">
              <a:latin typeface="Arial" panose="020B0604020202020204" pitchFamily="34" charset="0"/>
              <a:ea typeface="Verdana" panose="020B0604030504040204" pitchFamily="34" charset="0"/>
              <a:cs typeface="Arial" panose="020B0604020202020204" pitchFamily="34" charset="0"/>
            </a:endParaRPr>
          </a:p>
          <a:p>
            <a:pPr marL="285750" indent="-285750">
              <a:lnSpc>
                <a:spcPct val="90000"/>
              </a:lnSpc>
              <a:spcAft>
                <a:spcPts val="800"/>
              </a:spcAft>
              <a:buClr>
                <a:schemeClr val="tx1"/>
              </a:buClr>
              <a:buFont typeface="Arial" panose="020B0604020202020204" pitchFamily="34" charset="0"/>
              <a:buChar char="•"/>
            </a:pPr>
            <a:r>
              <a:rPr lang="en-US" dirty="0">
                <a:latin typeface="Arial" panose="020B0604020202020204" pitchFamily="34" charset="0"/>
                <a:ea typeface="Verdana" panose="020B0604030504040204" pitchFamily="34" charset="0"/>
                <a:cs typeface="Arial" panose="020B0604020202020204" pitchFamily="34" charset="0"/>
                <a:sym typeface="+mn-ea"/>
              </a:rPr>
              <a:t>It is used in many areas such as:</a:t>
            </a:r>
            <a:endParaRPr lang="en-US" dirty="0">
              <a:latin typeface="Arial" panose="020B0604020202020204" pitchFamily="34" charset="0"/>
              <a:ea typeface="Verdana" panose="020B0604030504040204" pitchFamily="34" charset="0"/>
              <a:cs typeface="Arial" panose="020B0604020202020204" pitchFamily="34" charset="0"/>
            </a:endParaRPr>
          </a:p>
          <a:p>
            <a:pPr marL="895350" lvl="1" indent="-285750">
              <a:lnSpc>
                <a:spcPct val="90000"/>
              </a:lnSpc>
              <a:spcAft>
                <a:spcPts val="800"/>
              </a:spcAft>
              <a:buClr>
                <a:schemeClr val="tx1"/>
              </a:buClr>
              <a:buFont typeface="Arial" panose="020B0604020202020204" pitchFamily="34" charset="0"/>
              <a:buChar char="•"/>
            </a:pPr>
            <a:r>
              <a:rPr lang="en-US" dirty="0">
                <a:latin typeface="Arial" panose="020B0604020202020204" pitchFamily="34" charset="0"/>
                <a:ea typeface="Verdana" panose="020B0604030504040204" pitchFamily="34" charset="0"/>
                <a:cs typeface="Arial" panose="020B0604020202020204" pitchFamily="34" charset="0"/>
                <a:sym typeface="+mn-ea"/>
              </a:rPr>
              <a:t>To model complex events.</a:t>
            </a:r>
            <a:endParaRPr lang="en-US" dirty="0">
              <a:latin typeface="Arial" panose="020B0604020202020204" pitchFamily="34" charset="0"/>
              <a:ea typeface="Verdana" panose="020B0604030504040204" pitchFamily="34" charset="0"/>
              <a:cs typeface="Arial" panose="020B0604020202020204" pitchFamily="34" charset="0"/>
            </a:endParaRPr>
          </a:p>
          <a:p>
            <a:pPr marL="895350" lvl="1" indent="-285750">
              <a:lnSpc>
                <a:spcPct val="90000"/>
              </a:lnSpc>
              <a:spcAft>
                <a:spcPts val="800"/>
              </a:spcAft>
              <a:buClr>
                <a:schemeClr val="tx1"/>
              </a:buClr>
              <a:buFont typeface="Arial" panose="020B0604020202020204" pitchFamily="34" charset="0"/>
              <a:buChar char="•"/>
            </a:pPr>
            <a:r>
              <a:rPr lang="en-US" dirty="0">
                <a:latin typeface="Arial" panose="020B0604020202020204" pitchFamily="34" charset="0"/>
                <a:ea typeface="Verdana" panose="020B0604030504040204" pitchFamily="34" charset="0"/>
                <a:cs typeface="Arial" panose="020B0604020202020204" pitchFamily="34" charset="0"/>
                <a:sym typeface="+mn-ea"/>
              </a:rPr>
              <a:t>It is a powerful technique to explore the data with presentable and interpretable results.</a:t>
            </a:r>
            <a:endParaRPr lang="en-US" dirty="0">
              <a:latin typeface="Arial" panose="020B0604020202020204" pitchFamily="34" charset="0"/>
              <a:ea typeface="Verdana" panose="020B0604030504040204" pitchFamily="34" charset="0"/>
              <a:cs typeface="Arial" panose="020B0604020202020204" pitchFamily="34" charset="0"/>
            </a:endParaRPr>
          </a:p>
          <a:p>
            <a:pPr marL="895350" lvl="1" indent="-285750">
              <a:lnSpc>
                <a:spcPct val="90000"/>
              </a:lnSpc>
              <a:spcAft>
                <a:spcPts val="800"/>
              </a:spcAft>
              <a:buClr>
                <a:schemeClr val="tx1"/>
              </a:buClr>
              <a:buFont typeface="Arial" panose="020B0604020202020204" pitchFamily="34" charset="0"/>
              <a:buChar char="•"/>
            </a:pPr>
            <a:r>
              <a:rPr lang="en-US" dirty="0">
                <a:latin typeface="Arial" panose="020B0604020202020204" pitchFamily="34" charset="0"/>
                <a:ea typeface="Verdana" panose="020B0604030504040204" pitchFamily="34" charset="0"/>
                <a:cs typeface="Arial" panose="020B0604020202020204" pitchFamily="34" charset="0"/>
                <a:sym typeface="+mn-ea"/>
              </a:rPr>
              <a:t>Visualize phenomenon's that cannot be observed directly, such as weather patterns, medical conditions, or mathematical relationships.</a:t>
            </a:r>
            <a:endParaRPr lang="en-US">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solidFill>
                <a:sym typeface="+mn-ea"/>
              </a:rPr>
              <a:t>Different Types of Analysis for Data Visualization</a:t>
            </a:r>
            <a:endParaRPr lang="en-US" dirty="0">
              <a:solidFill>
                <a:schemeClr val="accent6"/>
              </a:solidFill>
              <a:sym typeface="+mn-ea"/>
            </a:endParaRPr>
          </a:p>
        </p:txBody>
      </p:sp>
      <p:sp>
        <p:nvSpPr>
          <p:cNvPr id="3" name="Content Placeholder 2"/>
          <p:cNvSpPr>
            <a:spLocks noGrp="1"/>
          </p:cNvSpPr>
          <p:nvPr>
            <p:ph idx="1"/>
          </p:nvPr>
        </p:nvSpPr>
        <p:spPr/>
        <p:txBody>
          <a:bodyPr/>
          <a:p>
            <a:r>
              <a:rPr lang="en-US" sz="1800" b="1" dirty="0">
                <a:solidFill>
                  <a:srgbClr val="222222"/>
                </a:solidFill>
                <a:latin typeface="Arial" panose="020B0604020202020204" pitchFamily="34" charset="0"/>
                <a:cs typeface="Arial" panose="020B0604020202020204" pitchFamily="34" charset="0"/>
                <a:sym typeface="+mn-ea"/>
              </a:rPr>
              <a:t>Univariate Analysis: </a:t>
            </a:r>
            <a:r>
              <a:rPr lang="en-US" sz="1800" dirty="0">
                <a:solidFill>
                  <a:srgbClr val="222222"/>
                </a:solidFill>
                <a:latin typeface="Arial" panose="020B0604020202020204" pitchFamily="34" charset="0"/>
                <a:cs typeface="Arial" panose="020B0604020202020204" pitchFamily="34" charset="0"/>
                <a:sym typeface="+mn-ea"/>
              </a:rPr>
              <a:t>In the univariate analysis, we will be using a single feature to analyze almost all its properties.</a:t>
            </a:r>
            <a:endParaRPr lang="en-US" sz="1800" dirty="0">
              <a:solidFill>
                <a:srgbClr val="222222"/>
              </a:solidFill>
              <a:latin typeface="Arial" panose="020B0604020202020204" pitchFamily="34" charset="0"/>
              <a:cs typeface="Arial" panose="020B0604020202020204" pitchFamily="34" charset="0"/>
            </a:endParaRPr>
          </a:p>
          <a:p>
            <a:endParaRPr lang="en-US" sz="1800">
              <a:latin typeface="Arial" panose="020B0604020202020204" pitchFamily="34" charset="0"/>
              <a:cs typeface="Arial" panose="020B0604020202020204" pitchFamily="34" charset="0"/>
            </a:endParaRPr>
          </a:p>
        </p:txBody>
      </p:sp>
      <p:pic>
        <p:nvPicPr>
          <p:cNvPr id="2050" name="Picture 2" descr="data visualization techniques | distribution plot"/>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10565" y="2312670"/>
            <a:ext cx="2799080" cy="237934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4" name="Rectangle 3"/>
          <p:cNvSpPr/>
          <p:nvPr/>
        </p:nvSpPr>
        <p:spPr>
          <a:xfrm>
            <a:off x="3771441" y="2312501"/>
            <a:ext cx="2134833" cy="2461260"/>
          </a:xfrm>
          <a:prstGeom prst="rect">
            <a:avLst/>
          </a:prstGeom>
        </p:spPr>
        <p:txBody>
          <a:bodyPr wrap="square">
            <a:spAutoFit/>
          </a:bodyPr>
          <a:p>
            <a:pPr>
              <a:buFont typeface="Arial" panose="020B0604020202020204" pitchFamily="34" charset="0"/>
              <a:buChar char="•"/>
            </a:pPr>
            <a:r>
              <a:rPr lang="en-IN" altLang="en-US" sz="1400" b="1" dirty="0">
                <a:solidFill>
                  <a:srgbClr val="222222"/>
                </a:solidFill>
                <a:latin typeface="Arial" panose="020B0604020202020204" pitchFamily="34" charset="0"/>
                <a:cs typeface="Arial" panose="020B0604020202020204" pitchFamily="34" charset="0"/>
              </a:rPr>
              <a:t> </a:t>
            </a:r>
            <a:r>
              <a:rPr lang="en-US" sz="1400" b="1" dirty="0">
                <a:solidFill>
                  <a:srgbClr val="222222"/>
                </a:solidFill>
                <a:latin typeface="Arial" panose="020B0604020202020204" pitchFamily="34" charset="0"/>
                <a:cs typeface="Arial" panose="020B0604020202020204" pitchFamily="34" charset="0"/>
              </a:rPr>
              <a:t>Distribution Plot</a:t>
            </a:r>
            <a:r>
              <a:rPr lang="en-US" sz="1400" dirty="0">
                <a:solidFill>
                  <a:srgbClr val="222222"/>
                </a:solidFill>
                <a:latin typeface="Arial" panose="020B0604020202020204" pitchFamily="34" charset="0"/>
                <a:cs typeface="Arial" panose="020B0604020202020204" pitchFamily="34" charset="0"/>
              </a:rPr>
              <a:t> is one of the best univariate plots to know about the distribution of data.</a:t>
            </a:r>
            <a:endParaRPr lang="en-US" sz="1400" dirty="0">
              <a:solidFill>
                <a:srgbClr val="222222"/>
              </a:solidFill>
              <a:latin typeface="Arial" panose="020B0604020202020204" pitchFamily="34" charset="0"/>
              <a:cs typeface="Arial" panose="020B0604020202020204" pitchFamily="34" charset="0"/>
            </a:endParaRPr>
          </a:p>
          <a:p>
            <a:pPr>
              <a:buFont typeface="Arial" panose="020B0604020202020204" pitchFamily="34" charset="0"/>
              <a:buChar char="•"/>
            </a:pPr>
            <a:r>
              <a:rPr lang="en-IN" altLang="en-US" sz="1400" dirty="0">
                <a:solidFill>
                  <a:srgbClr val="222222"/>
                </a:solidFill>
                <a:latin typeface="Arial" panose="020B0604020202020204" pitchFamily="34" charset="0"/>
                <a:cs typeface="Arial" panose="020B0604020202020204" pitchFamily="34" charset="0"/>
              </a:rPr>
              <a:t> </a:t>
            </a:r>
            <a:r>
              <a:rPr lang="en-US" sz="1400" dirty="0">
                <a:solidFill>
                  <a:srgbClr val="222222"/>
                </a:solidFill>
                <a:latin typeface="Arial" panose="020B0604020202020204" pitchFamily="34" charset="0"/>
                <a:cs typeface="Arial" panose="020B0604020202020204" pitchFamily="34" charset="0"/>
              </a:rPr>
              <a:t>This plot gives us a combination of both probability density functions(pdf) and histogram in a single plot.</a:t>
            </a:r>
            <a:endParaRPr lang="en-US" sz="1400" b="0" i="0" dirty="0">
              <a:solidFill>
                <a:srgbClr val="222222"/>
              </a:solidFill>
              <a:effectLst/>
              <a:latin typeface="Arial" panose="020B0604020202020204" pitchFamily="34" charset="0"/>
              <a:cs typeface="Arial" panose="020B0604020202020204" pitchFamily="34" charset="0"/>
            </a:endParaRPr>
          </a:p>
        </p:txBody>
      </p:sp>
      <p:pic>
        <p:nvPicPr>
          <p:cNvPr id="2053" name="Picture 5" descr="box plot | data visualization techniqu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01080" y="2312670"/>
            <a:ext cx="2449195" cy="241617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6" name="Rectangle 5"/>
          <p:cNvSpPr/>
          <p:nvPr/>
        </p:nvSpPr>
        <p:spPr>
          <a:xfrm>
            <a:off x="8802534" y="2312530"/>
            <a:ext cx="2671691" cy="2891790"/>
          </a:xfrm>
          <a:prstGeom prst="rect">
            <a:avLst/>
          </a:prstGeom>
        </p:spPr>
        <p:txBody>
          <a:bodyPr wrap="square">
            <a:spAutoFit/>
          </a:bodyPr>
          <a:p>
            <a:pPr>
              <a:buFont typeface="Arial" panose="020B0604020202020204" pitchFamily="34" charset="0"/>
              <a:buChar char="•"/>
            </a:pPr>
            <a:r>
              <a:rPr lang="en-IN" altLang="en-US" sz="1400" b="1" dirty="0">
                <a:solidFill>
                  <a:srgbClr val="222222"/>
                </a:solidFill>
                <a:latin typeface="Arial" panose="020B0604020202020204" pitchFamily="34" charset="0"/>
                <a:cs typeface="Arial" panose="020B0604020202020204" pitchFamily="34" charset="0"/>
              </a:rPr>
              <a:t> </a:t>
            </a:r>
            <a:r>
              <a:rPr lang="en-US" sz="1400" b="1" dirty="0">
                <a:solidFill>
                  <a:srgbClr val="222222"/>
                </a:solidFill>
                <a:latin typeface="Arial" panose="020B0604020202020204" pitchFamily="34" charset="0"/>
                <a:cs typeface="Arial" panose="020B0604020202020204" pitchFamily="34" charset="0"/>
              </a:rPr>
              <a:t>Box and Whisker plot </a:t>
            </a:r>
            <a:r>
              <a:rPr lang="en-US" sz="1400" dirty="0">
                <a:solidFill>
                  <a:srgbClr val="222222"/>
                </a:solidFill>
                <a:latin typeface="Arial" panose="020B0604020202020204" pitchFamily="34" charset="0"/>
                <a:cs typeface="Arial" panose="020B0604020202020204" pitchFamily="34" charset="0"/>
              </a:rPr>
              <a:t>can be used to obtain more statistical details about the data.</a:t>
            </a:r>
            <a:endParaRPr lang="en-US" sz="1400" dirty="0">
              <a:solidFill>
                <a:srgbClr val="222222"/>
              </a:solidFill>
              <a:latin typeface="Arial" panose="020B0604020202020204" pitchFamily="34" charset="0"/>
              <a:cs typeface="Arial" panose="020B0604020202020204" pitchFamily="34" charset="0"/>
            </a:endParaRPr>
          </a:p>
          <a:p>
            <a:pPr>
              <a:buFont typeface="Arial" panose="020B0604020202020204" pitchFamily="34" charset="0"/>
              <a:buChar char="•"/>
            </a:pPr>
            <a:r>
              <a:rPr lang="en-IN" altLang="en-US" sz="1400" dirty="0">
                <a:solidFill>
                  <a:srgbClr val="222222"/>
                </a:solidFill>
                <a:latin typeface="Arial" panose="020B0604020202020204" pitchFamily="34" charset="0"/>
                <a:cs typeface="Arial" panose="020B0604020202020204" pitchFamily="34" charset="0"/>
              </a:rPr>
              <a:t> </a:t>
            </a:r>
            <a:r>
              <a:rPr lang="en-US" sz="1400" dirty="0">
                <a:solidFill>
                  <a:srgbClr val="222222"/>
                </a:solidFill>
                <a:latin typeface="Arial" panose="020B0604020202020204" pitchFamily="34" charset="0"/>
                <a:cs typeface="Arial" panose="020B0604020202020204" pitchFamily="34" charset="0"/>
              </a:rPr>
              <a:t>The straight lines at the maximum and minimum are also called whiskers.</a:t>
            </a:r>
            <a:endParaRPr lang="en-US" sz="1400" dirty="0">
              <a:solidFill>
                <a:srgbClr val="222222"/>
              </a:solidFill>
              <a:latin typeface="Arial" panose="020B0604020202020204" pitchFamily="34" charset="0"/>
              <a:cs typeface="Arial" panose="020B0604020202020204" pitchFamily="34" charset="0"/>
            </a:endParaRPr>
          </a:p>
          <a:p>
            <a:pPr>
              <a:buFont typeface="Arial" panose="020B0604020202020204" pitchFamily="34" charset="0"/>
              <a:buChar char="•"/>
            </a:pPr>
            <a:r>
              <a:rPr lang="en-IN" altLang="en-US" sz="1400" dirty="0">
                <a:solidFill>
                  <a:srgbClr val="222222"/>
                </a:solidFill>
                <a:latin typeface="Arial" panose="020B0604020202020204" pitchFamily="34" charset="0"/>
                <a:cs typeface="Arial" panose="020B0604020202020204" pitchFamily="34" charset="0"/>
              </a:rPr>
              <a:t> </a:t>
            </a:r>
            <a:r>
              <a:rPr lang="en-US" sz="1400" dirty="0">
                <a:solidFill>
                  <a:srgbClr val="222222"/>
                </a:solidFill>
                <a:latin typeface="Arial" panose="020B0604020202020204" pitchFamily="34" charset="0"/>
                <a:cs typeface="Arial" panose="020B0604020202020204" pitchFamily="34" charset="0"/>
              </a:rPr>
              <a:t>Points that lie outside the whiskers will be considered as an outlier.</a:t>
            </a:r>
            <a:endParaRPr lang="en-US" sz="1400" dirty="0">
              <a:solidFill>
                <a:srgbClr val="222222"/>
              </a:solidFill>
              <a:latin typeface="Arial" panose="020B0604020202020204" pitchFamily="34" charset="0"/>
              <a:cs typeface="Arial" panose="020B0604020202020204" pitchFamily="34" charset="0"/>
            </a:endParaRPr>
          </a:p>
          <a:p>
            <a:pPr>
              <a:buFont typeface="Arial" panose="020B0604020202020204" pitchFamily="34" charset="0"/>
              <a:buChar char="•"/>
            </a:pPr>
            <a:r>
              <a:rPr lang="en-IN" altLang="en-US" sz="1400" dirty="0">
                <a:solidFill>
                  <a:srgbClr val="222222"/>
                </a:solidFill>
                <a:latin typeface="Arial" panose="020B0604020202020204" pitchFamily="34" charset="0"/>
                <a:cs typeface="Arial" panose="020B0604020202020204" pitchFamily="34" charset="0"/>
              </a:rPr>
              <a:t> </a:t>
            </a:r>
            <a:r>
              <a:rPr lang="en-US" sz="1400" dirty="0">
                <a:solidFill>
                  <a:srgbClr val="222222"/>
                </a:solidFill>
                <a:latin typeface="Arial" panose="020B0604020202020204" pitchFamily="34" charset="0"/>
                <a:cs typeface="Arial" panose="020B0604020202020204" pitchFamily="34" charset="0"/>
              </a:rPr>
              <a:t>The box plot also gives us a description of the 25th, 50th,75th quartiles.</a:t>
            </a:r>
            <a:endParaRPr lang="en-US" sz="1400" dirty="0">
              <a:solidFill>
                <a:srgbClr val="222222"/>
              </a:solidFill>
              <a:latin typeface="Arial" panose="020B0604020202020204" pitchFamily="34" charset="0"/>
              <a:cs typeface="Arial" panose="020B0604020202020204" pitchFamily="34" charset="0"/>
            </a:endParaRPr>
          </a:p>
        </p:txBody>
      </p:sp>
      <p:sp>
        <p:nvSpPr>
          <p:cNvPr id="5" name="Rectangle 3"/>
          <p:cNvSpPr>
            <a:spLocks noChangeArrowheads="1"/>
          </p:cNvSpPr>
          <p:nvPr/>
        </p:nvSpPr>
        <p:spPr bwMode="auto">
          <a:xfrm>
            <a:off x="710769" y="5015849"/>
            <a:ext cx="3546781" cy="433432"/>
          </a:xfrm>
          <a:prstGeom prst="rect">
            <a:avLst/>
          </a:prstGeom>
          <a:solidFill>
            <a:srgbClr val="2C2C2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spAutoFit/>
          </a:bodyPr>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200" b="0" i="0" u="none" strike="noStrike" cap="none" normalizeH="0" baseline="0" dirty="0" err="1">
                <a:ln>
                  <a:noFill/>
                </a:ln>
                <a:solidFill>
                  <a:srgbClr val="FFFFFF"/>
                </a:solidFill>
                <a:effectLst/>
                <a:latin typeface="Arial Unicode MS" panose="020B0604020202020204" pitchFamily="34" charset="-128"/>
                <a:ea typeface="SFMono-Regular"/>
              </a:rPr>
              <a:t>sns.FacetGrid</a:t>
            </a:r>
            <a:r>
              <a:rPr kumimoji="0" lang="en-US" altLang="en-US" sz="1200" b="0" i="0" u="none" strike="noStrike" cap="none" normalizeH="0" baseline="0" dirty="0">
                <a:ln>
                  <a:noFill/>
                </a:ln>
                <a:solidFill>
                  <a:srgbClr val="FFFFFF"/>
                </a:solidFill>
                <a:effectLst/>
                <a:latin typeface="Arial Unicode MS" panose="020B0604020202020204" pitchFamily="34" charset="-128"/>
                <a:ea typeface="SFMono-Regular"/>
              </a:rPr>
              <a:t>(</a:t>
            </a:r>
            <a:r>
              <a:rPr kumimoji="0" lang="en-US" altLang="en-US" sz="1200" b="0" i="0" u="none" strike="noStrike" cap="none" normalizeH="0" baseline="0" dirty="0" err="1">
                <a:ln>
                  <a:noFill/>
                </a:ln>
                <a:solidFill>
                  <a:srgbClr val="FFFFFF"/>
                </a:solidFill>
                <a:effectLst/>
                <a:latin typeface="Arial Unicode MS" panose="020B0604020202020204" pitchFamily="34" charset="-128"/>
                <a:ea typeface="SFMono-Regular"/>
              </a:rPr>
              <a:t>hb,hue</a:t>
            </a:r>
            <a:r>
              <a:rPr kumimoji="0" lang="en-US" altLang="en-US" sz="1200" b="0" i="0" u="none" strike="noStrike" cap="none" normalizeH="0" baseline="0" dirty="0">
                <a:ln>
                  <a:noFill/>
                </a:ln>
                <a:solidFill>
                  <a:srgbClr val="FFFFFF"/>
                </a:solidFill>
                <a:effectLst/>
                <a:latin typeface="Arial Unicode MS" panose="020B0604020202020204" pitchFamily="34" charset="-128"/>
                <a:ea typeface="SFMono-Regular"/>
              </a:rPr>
              <a:t>='</a:t>
            </a:r>
            <a:r>
              <a:rPr kumimoji="0" lang="en-US" altLang="en-US" sz="1200" b="0" i="0" u="none" strike="noStrike" cap="none" normalizeH="0" baseline="0" dirty="0" err="1">
                <a:ln>
                  <a:noFill/>
                </a:ln>
                <a:solidFill>
                  <a:srgbClr val="FFFFFF"/>
                </a:solidFill>
                <a:effectLst/>
                <a:latin typeface="Arial Unicode MS" panose="020B0604020202020204" pitchFamily="34" charset="-128"/>
                <a:ea typeface="SFMono-Regular"/>
              </a:rPr>
              <a:t>SurvStat</a:t>
            </a:r>
            <a:r>
              <a:rPr kumimoji="0" lang="en-US" altLang="en-US" sz="1200" b="0" i="0" u="none" strike="noStrike" cap="none" normalizeH="0" baseline="0" dirty="0">
                <a:ln>
                  <a:noFill/>
                </a:ln>
                <a:solidFill>
                  <a:srgbClr val="FFFFFF"/>
                </a:solidFill>
                <a:effectLst/>
                <a:latin typeface="Arial Unicode MS" panose="020B0604020202020204" pitchFamily="34" charset="-128"/>
                <a:ea typeface="SFMono-Regular"/>
              </a:rPr>
              <a:t>',size=5).map(sns.</a:t>
            </a:r>
            <a:r>
              <a:rPr kumimoji="0" lang="en-US" altLang="en-US" sz="1200" b="0" i="0" u="none" strike="noStrike" cap="none" normalizeH="0" baseline="0" dirty="0" err="1">
                <a:ln>
                  <a:noFill/>
                </a:ln>
                <a:solidFill>
                  <a:srgbClr val="FFFFFF"/>
                </a:solidFill>
                <a:effectLst/>
                <a:latin typeface="Arial Unicode MS" panose="020B0604020202020204" pitchFamily="34" charset="-128"/>
                <a:ea typeface="SFMono-Regular"/>
              </a:rPr>
              <a:t>distplot</a:t>
            </a:r>
            <a:r>
              <a:rPr kumimoji="0" lang="en-US" altLang="en-US" sz="1200" b="0" i="0" u="none" strike="noStrike" cap="none" normalizeH="0" baseline="0" dirty="0">
                <a:ln>
                  <a:noFill/>
                </a:ln>
                <a:solidFill>
                  <a:srgbClr val="FFFFFF"/>
                </a:solidFill>
                <a:effectLst/>
                <a:latin typeface="Arial Unicode MS" panose="020B0604020202020204" pitchFamily="34" charset="-128"/>
                <a:ea typeface="SFMono-Regular"/>
              </a:rPr>
              <a:t>,'age').</a:t>
            </a:r>
            <a:r>
              <a:rPr kumimoji="0" lang="en-US" altLang="en-US" sz="1200" b="0" i="0" u="none" strike="noStrike" cap="none" normalizeH="0" baseline="0" dirty="0" err="1">
                <a:ln>
                  <a:noFill/>
                </a:ln>
                <a:solidFill>
                  <a:srgbClr val="FFFFFF"/>
                </a:solidFill>
                <a:effectLst/>
                <a:latin typeface="Arial Unicode MS" panose="020B0604020202020204" pitchFamily="34" charset="-128"/>
                <a:ea typeface="SFMono-Regular"/>
              </a:rPr>
              <a:t>add_legend</a:t>
            </a:r>
            <a:r>
              <a:rPr kumimoji="0" lang="en-US" altLang="en-US" sz="1200" b="0" i="0" u="none" strike="noStrike" cap="none" normalizeH="0" baseline="0" dirty="0">
                <a:ln>
                  <a:noFill/>
                </a:ln>
                <a:solidFill>
                  <a:srgbClr val="FFFFFF"/>
                </a:solidFill>
                <a:effectLst/>
                <a:latin typeface="Arial Unicode MS" panose="020B0604020202020204" pitchFamily="34" charset="-128"/>
                <a:ea typeface="SFMono-Regular"/>
              </a:rPr>
              <a:t>()</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6"/>
          <p:cNvSpPr>
            <a:spLocks noChangeArrowheads="1"/>
          </p:cNvSpPr>
          <p:nvPr/>
        </p:nvSpPr>
        <p:spPr bwMode="auto">
          <a:xfrm>
            <a:off x="6100867" y="5147929"/>
            <a:ext cx="2504288" cy="433432"/>
          </a:xfrm>
          <a:prstGeom prst="rect">
            <a:avLst/>
          </a:prstGeom>
          <a:solidFill>
            <a:srgbClr val="2C2C2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spAutoFit/>
          </a:bodyPr>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200" b="0" i="0" u="none" strike="noStrike" cap="none" normalizeH="0" baseline="0" dirty="0" err="1">
                <a:ln>
                  <a:noFill/>
                </a:ln>
                <a:solidFill>
                  <a:srgbClr val="FFFFFF"/>
                </a:solidFill>
                <a:effectLst/>
                <a:latin typeface="Arial Unicode MS" panose="020B0604020202020204" pitchFamily="34" charset="-128"/>
                <a:ea typeface="SFMono-Regular"/>
              </a:rPr>
              <a:t>sns.boxplot</a:t>
            </a:r>
            <a:r>
              <a:rPr kumimoji="0" lang="en-US" altLang="en-US" sz="1200" b="0" i="0" u="none" strike="noStrike" cap="none" normalizeH="0" baseline="0" dirty="0">
                <a:ln>
                  <a:noFill/>
                </a:ln>
                <a:solidFill>
                  <a:srgbClr val="FFFFFF"/>
                </a:solidFill>
                <a:effectLst/>
                <a:latin typeface="Arial Unicode MS" panose="020B0604020202020204" pitchFamily="34" charset="-128"/>
                <a:ea typeface="SFMono-Regular"/>
              </a:rPr>
              <a:t>(x='</a:t>
            </a:r>
            <a:r>
              <a:rPr kumimoji="0" lang="en-US" altLang="en-US" sz="1200" b="0" i="0" u="none" strike="noStrike" cap="none" normalizeH="0" baseline="0" dirty="0" err="1">
                <a:ln>
                  <a:noFill/>
                </a:ln>
                <a:solidFill>
                  <a:srgbClr val="FFFFFF"/>
                </a:solidFill>
                <a:effectLst/>
                <a:latin typeface="Arial Unicode MS" panose="020B0604020202020204" pitchFamily="34" charset="-128"/>
                <a:ea typeface="SFMono-Regular"/>
              </a:rPr>
              <a:t>SurvStat</a:t>
            </a:r>
            <a:r>
              <a:rPr kumimoji="0" lang="en-US" altLang="en-US" sz="1200" b="0" i="0" u="none" strike="noStrike" cap="none" normalizeH="0" baseline="0" dirty="0">
                <a:ln>
                  <a:noFill/>
                </a:ln>
                <a:solidFill>
                  <a:srgbClr val="FFFFFF"/>
                </a:solidFill>
                <a:effectLst/>
                <a:latin typeface="Arial Unicode MS" panose="020B0604020202020204" pitchFamily="34" charset="-128"/>
                <a:ea typeface="SFMono-Regular"/>
              </a:rPr>
              <a:t>',y='</a:t>
            </a:r>
            <a:r>
              <a:rPr kumimoji="0" lang="en-US" altLang="en-US" sz="1200" b="0" i="0" u="none" strike="noStrike" cap="none" normalizeH="0" baseline="0" dirty="0" err="1">
                <a:ln>
                  <a:noFill/>
                </a:ln>
                <a:solidFill>
                  <a:srgbClr val="FFFFFF"/>
                </a:solidFill>
                <a:effectLst/>
                <a:latin typeface="Arial Unicode MS" panose="020B0604020202020204" pitchFamily="34" charset="-128"/>
                <a:ea typeface="SFMono-Regular"/>
              </a:rPr>
              <a:t>axil_nodes',data</a:t>
            </a:r>
            <a:r>
              <a:rPr kumimoji="0" lang="en-US" altLang="en-US" sz="1200" b="0" i="0" u="none" strike="noStrike" cap="none" normalizeH="0" baseline="0" dirty="0">
                <a:ln>
                  <a:noFill/>
                </a:ln>
                <a:solidFill>
                  <a:srgbClr val="FFFFFF"/>
                </a:solidFill>
                <a:effectLst/>
                <a:latin typeface="Arial Unicode MS" panose="020B0604020202020204" pitchFamily="34" charset="-128"/>
                <a:ea typeface="SFMono-Regular"/>
              </a:rPr>
              <a:t>=</a:t>
            </a:r>
            <a:r>
              <a:rPr kumimoji="0" lang="en-US" altLang="en-US" sz="1200" b="0" i="0" u="none" strike="noStrike" cap="none" normalizeH="0" baseline="0" dirty="0" err="1">
                <a:ln>
                  <a:noFill/>
                </a:ln>
                <a:solidFill>
                  <a:srgbClr val="FFFFFF"/>
                </a:solidFill>
                <a:effectLst/>
                <a:latin typeface="Arial Unicode MS" panose="020B0604020202020204" pitchFamily="34" charset="-128"/>
                <a:ea typeface="SFMono-Regular"/>
              </a:rPr>
              <a:t>hb</a:t>
            </a:r>
            <a:r>
              <a:rPr kumimoji="0" lang="en-US" altLang="en-US" sz="1200" b="0" i="0" u="none" strike="noStrike" cap="none" normalizeH="0" baseline="0" dirty="0">
                <a:ln>
                  <a:noFill/>
                </a:ln>
                <a:solidFill>
                  <a:srgbClr val="FFFFFF"/>
                </a:solidFill>
                <a:effectLst/>
                <a:latin typeface="Arial Unicode MS" panose="020B0604020202020204" pitchFamily="34" charset="-128"/>
                <a:ea typeface="SFMono-Regular"/>
              </a:rPr>
              <a:t>)</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solidFill>
                <a:sym typeface="+mn-ea"/>
              </a:rPr>
              <a:t>Different Types of Analysis for Data Visualization</a:t>
            </a:r>
            <a:endParaRPr lang="en-US" dirty="0">
              <a:solidFill>
                <a:schemeClr val="accent6"/>
              </a:solidFill>
              <a:sym typeface="+mn-ea"/>
            </a:endParaRPr>
          </a:p>
        </p:txBody>
      </p:sp>
      <p:sp>
        <p:nvSpPr>
          <p:cNvPr id="3" name="Content Placeholder 2"/>
          <p:cNvSpPr>
            <a:spLocks noGrp="1"/>
          </p:cNvSpPr>
          <p:nvPr>
            <p:ph idx="1"/>
          </p:nvPr>
        </p:nvSpPr>
        <p:spPr>
          <a:xfrm>
            <a:off x="609600" y="773430"/>
            <a:ext cx="10972800" cy="5747385"/>
          </a:xfrm>
        </p:spPr>
        <p:txBody>
          <a:bodyPr/>
          <a:p>
            <a:r>
              <a:rPr lang="en-US" sz="1800" b="1" dirty="0">
                <a:solidFill>
                  <a:srgbClr val="222222"/>
                </a:solidFill>
                <a:latin typeface="Arial" panose="020B0604020202020204" pitchFamily="34" charset="0"/>
                <a:cs typeface="Arial" panose="020B0604020202020204" pitchFamily="34" charset="0"/>
                <a:sym typeface="+mn-ea"/>
              </a:rPr>
              <a:t>Bivariate Analysis:</a:t>
            </a:r>
            <a:r>
              <a:rPr lang="en-US" sz="1800" dirty="0">
                <a:solidFill>
                  <a:srgbClr val="222222"/>
                </a:solidFill>
                <a:latin typeface="Arial" panose="020B0604020202020204" pitchFamily="34" charset="0"/>
                <a:cs typeface="Arial" panose="020B0604020202020204" pitchFamily="34" charset="0"/>
                <a:sym typeface="+mn-ea"/>
              </a:rPr>
              <a:t> When we compare the data between exactly 2 features then it is known as bivariate analysis.</a:t>
            </a:r>
            <a:endParaRPr lang="en-US" sz="1800">
              <a:latin typeface="Arial" panose="020B0604020202020204" pitchFamily="34" charset="0"/>
              <a:cs typeface="Arial" panose="020B0604020202020204" pitchFamily="34" charset="0"/>
            </a:endParaRPr>
          </a:p>
        </p:txBody>
      </p:sp>
      <p:pic>
        <p:nvPicPr>
          <p:cNvPr id="3074" name="Picture 2" descr="line chart | data visualization technique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34695" y="1503045"/>
            <a:ext cx="2878455" cy="213233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734695" y="4364990"/>
            <a:ext cx="2921635" cy="1814830"/>
          </a:xfrm>
          <a:prstGeom prst="rect">
            <a:avLst/>
          </a:prstGeom>
        </p:spPr>
        <p:txBody>
          <a:bodyPr wrap="square">
            <a:spAutoFit/>
          </a:bodyPr>
          <a:p>
            <a:pPr marL="228600" indent="-228600">
              <a:buFont typeface="Arial" panose="020B0604020202020204" pitchFamily="34" charset="0"/>
              <a:buChar char="•"/>
            </a:pPr>
            <a:r>
              <a:rPr lang="en-US" sz="1400" dirty="0">
                <a:solidFill>
                  <a:srgbClr val="222222"/>
                </a:solidFill>
                <a:latin typeface="Arial" panose="020B0604020202020204" pitchFamily="34" charset="0"/>
                <a:cs typeface="Arial" panose="020B0604020202020204" pitchFamily="34" charset="0"/>
              </a:rPr>
              <a:t>The line plots are nothing but the values on a series of data points will be connected with straight lines.</a:t>
            </a:r>
            <a:endParaRPr lang="en-US" sz="1400" dirty="0">
              <a:solidFill>
                <a:srgbClr val="222222"/>
              </a:solidFill>
              <a:latin typeface="Arial" panose="020B0604020202020204" pitchFamily="34" charset="0"/>
              <a:cs typeface="Arial" panose="020B0604020202020204" pitchFamily="34" charset="0"/>
            </a:endParaRPr>
          </a:p>
          <a:p>
            <a:pPr marL="228600" indent="-228600">
              <a:buFont typeface="Arial" panose="020B0604020202020204" pitchFamily="34" charset="0"/>
              <a:buChar char="•"/>
            </a:pPr>
            <a:r>
              <a:rPr lang="en-US" sz="1400" dirty="0">
                <a:solidFill>
                  <a:srgbClr val="222222"/>
                </a:solidFill>
                <a:latin typeface="Arial" panose="020B0604020202020204" pitchFamily="34" charset="0"/>
                <a:cs typeface="Arial" panose="020B0604020202020204" pitchFamily="34" charset="0"/>
              </a:rPr>
              <a:t>The plot may seem very simple but it has more applications not only in machine learning but in many other areas.</a:t>
            </a:r>
            <a:endParaRPr lang="en-US" sz="1400" b="0" i="0" dirty="0">
              <a:solidFill>
                <a:srgbClr val="222222"/>
              </a:solidFill>
              <a:effectLst/>
              <a:latin typeface="Arial" panose="020B0604020202020204" pitchFamily="34" charset="0"/>
              <a:cs typeface="Arial" panose="020B0604020202020204" pitchFamily="34" charset="0"/>
            </a:endParaRPr>
          </a:p>
        </p:txBody>
      </p:sp>
      <p:sp>
        <p:nvSpPr>
          <p:cNvPr id="6" name="Rectangle 5"/>
          <p:cNvSpPr/>
          <p:nvPr/>
        </p:nvSpPr>
        <p:spPr>
          <a:xfrm>
            <a:off x="3877216" y="4337181"/>
            <a:ext cx="3720076" cy="1599565"/>
          </a:xfrm>
          <a:prstGeom prst="rect">
            <a:avLst/>
          </a:prstGeom>
        </p:spPr>
        <p:txBody>
          <a:bodyPr wrap="square">
            <a:spAutoFit/>
          </a:bodyPr>
          <a:p>
            <a:pPr marL="228600" indent="-228600">
              <a:buFont typeface="Arial" panose="020B0604020202020204" pitchFamily="34" charset="0"/>
              <a:buChar char="•"/>
            </a:pPr>
            <a:r>
              <a:rPr lang="en-US" sz="1400" dirty="0">
                <a:solidFill>
                  <a:srgbClr val="222222"/>
                </a:solidFill>
                <a:latin typeface="Arial" panose="020B0604020202020204" pitchFamily="34" charset="0"/>
                <a:cs typeface="Arial" panose="020B0604020202020204" pitchFamily="34" charset="0"/>
              </a:rPr>
              <a:t>Bar Plot is one of the widely used plots for categorical data.</a:t>
            </a:r>
            <a:endParaRPr lang="en-US" sz="1400" dirty="0">
              <a:solidFill>
                <a:srgbClr val="222222"/>
              </a:solidFill>
              <a:latin typeface="Arial" panose="020B0604020202020204" pitchFamily="34" charset="0"/>
              <a:cs typeface="Arial" panose="020B0604020202020204" pitchFamily="34" charset="0"/>
            </a:endParaRPr>
          </a:p>
          <a:p>
            <a:pPr marL="228600" indent="-228600">
              <a:buFont typeface="Arial" panose="020B0604020202020204" pitchFamily="34" charset="0"/>
              <a:buChar char="•"/>
            </a:pPr>
            <a:r>
              <a:rPr lang="en-US" sz="1400" dirty="0">
                <a:solidFill>
                  <a:srgbClr val="222222"/>
                </a:solidFill>
                <a:latin typeface="Arial" panose="020B0604020202020204" pitchFamily="34" charset="0"/>
                <a:cs typeface="Arial" panose="020B0604020202020204" pitchFamily="34" charset="0"/>
              </a:rPr>
              <a:t>Though it may seem simple it is powerful in analyzing data like sales figures every week, revenue from a product, Number of visitors to a site on each day of a week, etc.</a:t>
            </a:r>
            <a:endParaRPr lang="en-US" sz="1400" dirty="0">
              <a:solidFill>
                <a:srgbClr val="222222"/>
              </a:solidFill>
              <a:latin typeface="Arial" panose="020B0604020202020204" pitchFamily="34" charset="0"/>
              <a:cs typeface="Arial" panose="020B0604020202020204" pitchFamily="34" charset="0"/>
            </a:endParaRPr>
          </a:p>
        </p:txBody>
      </p:sp>
      <p:pic>
        <p:nvPicPr>
          <p:cNvPr id="3077" name="Picture 5" descr="bar pl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1120" y="1503045"/>
            <a:ext cx="3448050" cy="2132330"/>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scatter pl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7140" y="1502410"/>
            <a:ext cx="3159760" cy="2132965"/>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7597140" y="4291965"/>
            <a:ext cx="3159760" cy="2030095"/>
          </a:xfrm>
          <a:prstGeom prst="rect">
            <a:avLst/>
          </a:prstGeom>
        </p:spPr>
        <p:txBody>
          <a:bodyPr wrap="square">
            <a:spAutoFit/>
          </a:bodyPr>
          <a:p>
            <a:pPr marL="171450" indent="-171450">
              <a:buFont typeface="Arial" panose="020B0604020202020204" pitchFamily="34" charset="0"/>
              <a:buChar char="•"/>
            </a:pPr>
            <a:r>
              <a:rPr lang="en-US" sz="1400" dirty="0">
                <a:solidFill>
                  <a:srgbClr val="222222"/>
                </a:solidFill>
                <a:latin typeface="Arial" panose="020B0604020202020204" pitchFamily="34" charset="0"/>
                <a:cs typeface="Arial" panose="020B0604020202020204" pitchFamily="34" charset="0"/>
              </a:rPr>
              <a:t>Scatter Plot describes us as a representation, where each point in the entire dataset is present with respect to any 2 to 3 features</a:t>
            </a:r>
            <a:r>
              <a:rPr lang="en-IN" altLang="en-US" sz="1400" dirty="0">
                <a:solidFill>
                  <a:srgbClr val="222222"/>
                </a:solidFill>
                <a:latin typeface="Arial" panose="020B0604020202020204" pitchFamily="34" charset="0"/>
                <a:cs typeface="Arial" panose="020B0604020202020204" pitchFamily="34" charset="0"/>
              </a:rPr>
              <a:t> </a:t>
            </a:r>
            <a:r>
              <a:rPr lang="en-US" sz="1400" dirty="0">
                <a:solidFill>
                  <a:srgbClr val="222222"/>
                </a:solidFill>
                <a:latin typeface="Arial" panose="020B0604020202020204" pitchFamily="34" charset="0"/>
                <a:cs typeface="Arial" panose="020B0604020202020204" pitchFamily="34" charset="0"/>
              </a:rPr>
              <a:t>(Columns) and use to find the patterns, clusters, and separability of the data.</a:t>
            </a:r>
            <a:endParaRPr lang="en-US" sz="1400" dirty="0">
              <a:solidFill>
                <a:srgbClr val="222222"/>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400" dirty="0">
                <a:solidFill>
                  <a:srgbClr val="222222"/>
                </a:solidFill>
                <a:latin typeface="Arial" panose="020B0604020202020204" pitchFamily="34" charset="0"/>
                <a:cs typeface="Arial" panose="020B0604020202020204" pitchFamily="34" charset="0"/>
              </a:rPr>
              <a:t>Scatter plots are available in both 2-D as well as in 3-D.</a:t>
            </a:r>
            <a:endParaRPr lang="en-US" sz="1400" i="0" dirty="0">
              <a:solidFill>
                <a:srgbClr val="222222"/>
              </a:solidFill>
              <a:effectLst/>
              <a:latin typeface="Arial" panose="020B0604020202020204" pitchFamily="34" charset="0"/>
              <a:cs typeface="Arial" panose="020B0604020202020204" pitchFamily="34" charset="0"/>
            </a:endParaRPr>
          </a:p>
        </p:txBody>
      </p:sp>
      <p:sp>
        <p:nvSpPr>
          <p:cNvPr id="5" name="Rectangle 3"/>
          <p:cNvSpPr>
            <a:spLocks noChangeArrowheads="1"/>
          </p:cNvSpPr>
          <p:nvPr/>
        </p:nvSpPr>
        <p:spPr bwMode="auto">
          <a:xfrm>
            <a:off x="734695" y="3856673"/>
            <a:ext cx="2878455" cy="247015"/>
          </a:xfrm>
          <a:prstGeom prst="rect">
            <a:avLst/>
          </a:prstGeom>
          <a:solidFill>
            <a:srgbClr val="2C2C2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spAutoFit/>
          </a:bodyPr>
          <a:p>
            <a:pPr marL="0" marR="0" lvl="0" indent="0" algn="ctr" defTabSz="914400" rtl="0" eaLnBrk="0" fontAlgn="base" latinLnBrk="0" hangingPunct="0">
              <a:lnSpc>
                <a:spcPct val="100000"/>
              </a:lnSpc>
              <a:spcBef>
                <a:spcPct val="0"/>
              </a:spcBef>
              <a:spcAft>
                <a:spcPct val="0"/>
              </a:spcAft>
              <a:buClrTx/>
              <a:buSzTx/>
              <a:buFontTx/>
              <a:buNone/>
            </a:pPr>
            <a:r>
              <a:rPr kumimoji="0" lang="en-US" altLang="en-US" sz="1200" b="0" i="0" u="none" strike="noStrike" cap="none" normalizeH="0" baseline="0" dirty="0" err="1">
                <a:ln>
                  <a:noFill/>
                </a:ln>
                <a:solidFill>
                  <a:srgbClr val="FFFFFF"/>
                </a:solidFill>
                <a:effectLst/>
                <a:latin typeface="Arial Unicode MS" panose="020B0604020202020204" pitchFamily="34" charset="-128"/>
                <a:ea typeface="SFMono-Regular"/>
              </a:rPr>
              <a:t>plt.plot</a:t>
            </a:r>
            <a:r>
              <a:rPr kumimoji="0" lang="en-US" altLang="en-US" sz="1200" b="0" i="0" u="none" strike="noStrike" cap="none" normalizeH="0" baseline="0" dirty="0">
                <a:ln>
                  <a:noFill/>
                </a:ln>
                <a:solidFill>
                  <a:srgbClr val="FFFFFF"/>
                </a:solidFill>
                <a:effectLst/>
                <a:latin typeface="Arial Unicode MS" panose="020B0604020202020204" pitchFamily="34" charset="-128"/>
                <a:ea typeface="SFMono-Regular"/>
              </a:rPr>
              <a:t>(</a:t>
            </a:r>
            <a:r>
              <a:rPr kumimoji="0" lang="en-US" altLang="en-US" sz="1200" b="0" i="0" u="none" strike="noStrike" cap="none" normalizeH="0" baseline="0" dirty="0" err="1">
                <a:ln>
                  <a:noFill/>
                </a:ln>
                <a:solidFill>
                  <a:srgbClr val="FFFFFF"/>
                </a:solidFill>
                <a:effectLst/>
                <a:latin typeface="Arial Unicode MS" panose="020B0604020202020204" pitchFamily="34" charset="-128"/>
                <a:ea typeface="SFMono-Regular"/>
              </a:rPr>
              <a:t>x,y</a:t>
            </a:r>
            <a:r>
              <a:rPr kumimoji="0" lang="en-US" altLang="en-US" sz="1200" b="0" i="0" u="none" strike="noStrike" cap="none" normalizeH="0" baseline="0" dirty="0">
                <a:ln>
                  <a:noFill/>
                </a:ln>
                <a:solidFill>
                  <a:srgbClr val="FFFFFF"/>
                </a:solidFill>
                <a:effectLst/>
                <a:latin typeface="Arial Unicode MS" panose="020B0604020202020204" pitchFamily="34" charset="-128"/>
                <a:ea typeface="SFMono-Regular"/>
              </a:rPr>
              <a:t>)</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6"/>
          <p:cNvSpPr>
            <a:spLocks noChangeArrowheads="1"/>
          </p:cNvSpPr>
          <p:nvPr/>
        </p:nvSpPr>
        <p:spPr bwMode="auto">
          <a:xfrm>
            <a:off x="3881120" y="3842703"/>
            <a:ext cx="3448050" cy="247015"/>
          </a:xfrm>
          <a:prstGeom prst="rect">
            <a:avLst/>
          </a:prstGeom>
          <a:solidFill>
            <a:srgbClr val="2C2C2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spAutoFit/>
          </a:bodyPr>
          <a:p>
            <a:pPr marL="0" marR="0" lvl="0" indent="0" algn="ctr" defTabSz="914400" rtl="0" eaLnBrk="0" fontAlgn="base" latinLnBrk="0" hangingPunct="0">
              <a:lnSpc>
                <a:spcPct val="100000"/>
              </a:lnSpc>
              <a:spcBef>
                <a:spcPct val="0"/>
              </a:spcBef>
              <a:spcAft>
                <a:spcPct val="0"/>
              </a:spcAft>
              <a:buClrTx/>
              <a:buSzTx/>
              <a:buFontTx/>
              <a:buNone/>
            </a:pPr>
            <a:r>
              <a:rPr kumimoji="0" lang="en-US" altLang="en-US" sz="1200" b="0" i="0" u="none" strike="noStrike" cap="none" normalizeH="0" baseline="0" dirty="0" err="1">
                <a:ln>
                  <a:noFill/>
                </a:ln>
                <a:solidFill>
                  <a:srgbClr val="FFFFFF"/>
                </a:solidFill>
                <a:effectLst/>
                <a:latin typeface="Arial Unicode MS" panose="020B0604020202020204" pitchFamily="34" charset="-128"/>
                <a:ea typeface="SFMono-Regular"/>
              </a:rPr>
              <a:t>plt.bar</a:t>
            </a:r>
            <a:r>
              <a:rPr kumimoji="0" lang="en-US" altLang="en-US" sz="1200" b="0" i="0" u="none" strike="noStrike" cap="none" normalizeH="0" baseline="0" dirty="0">
                <a:ln>
                  <a:noFill/>
                </a:ln>
                <a:solidFill>
                  <a:srgbClr val="FFFFFF"/>
                </a:solidFill>
                <a:effectLst/>
                <a:latin typeface="Arial Unicode MS" panose="020B0604020202020204" pitchFamily="34" charset="-128"/>
                <a:ea typeface="SFMono-Regular"/>
              </a:rPr>
              <a:t>(</a:t>
            </a:r>
            <a:r>
              <a:rPr kumimoji="0" lang="en-US" altLang="en-US" sz="1200" b="0" i="0" u="none" strike="noStrike" cap="none" normalizeH="0" baseline="0" dirty="0" err="1">
                <a:ln>
                  <a:noFill/>
                </a:ln>
                <a:solidFill>
                  <a:srgbClr val="FFFFFF"/>
                </a:solidFill>
                <a:effectLst/>
                <a:latin typeface="Arial Unicode MS" panose="020B0604020202020204" pitchFamily="34" charset="-128"/>
                <a:ea typeface="SFMono-Regular"/>
              </a:rPr>
              <a:t>x,y</a:t>
            </a:r>
            <a:r>
              <a:rPr kumimoji="0" lang="en-US" altLang="en-US" sz="1200" b="0" i="0" u="none" strike="noStrike" cap="none" normalizeH="0" baseline="0" dirty="0">
                <a:ln>
                  <a:noFill/>
                </a:ln>
                <a:solidFill>
                  <a:srgbClr val="FFFFFF"/>
                </a:solidFill>
                <a:effectLst/>
                <a:latin typeface="Arial Unicode MS" panose="020B0604020202020204" pitchFamily="34" charset="-128"/>
                <a:ea typeface="SFMono-Regular"/>
              </a:rPr>
              <a:t>)</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9"/>
          <p:cNvSpPr>
            <a:spLocks noChangeArrowheads="1"/>
          </p:cNvSpPr>
          <p:nvPr/>
        </p:nvSpPr>
        <p:spPr bwMode="auto">
          <a:xfrm>
            <a:off x="7597140" y="3791268"/>
            <a:ext cx="3155315" cy="247015"/>
          </a:xfrm>
          <a:prstGeom prst="rect">
            <a:avLst/>
          </a:prstGeom>
          <a:solidFill>
            <a:srgbClr val="2C2C2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spAutoFit/>
          </a:bodyPr>
          <a:p>
            <a:pPr marL="0" marR="0" lvl="0" indent="0" algn="ctr" defTabSz="914400" rtl="0" eaLnBrk="0" fontAlgn="base" latinLnBrk="0" hangingPunct="0">
              <a:lnSpc>
                <a:spcPct val="100000"/>
              </a:lnSpc>
              <a:spcBef>
                <a:spcPct val="0"/>
              </a:spcBef>
              <a:spcAft>
                <a:spcPct val="0"/>
              </a:spcAft>
              <a:buClrTx/>
              <a:buSzTx/>
              <a:buFontTx/>
              <a:buNone/>
            </a:pPr>
            <a:r>
              <a:rPr kumimoji="0" lang="en-US" altLang="en-US" sz="1200" b="0" i="0" u="none" strike="noStrike" cap="none" normalizeH="0" baseline="0">
                <a:ln>
                  <a:noFill/>
                </a:ln>
                <a:solidFill>
                  <a:srgbClr val="FFFFFF"/>
                </a:solidFill>
                <a:effectLst/>
                <a:latin typeface="Arial Unicode MS" panose="020B0604020202020204" pitchFamily="34" charset="-128"/>
                <a:ea typeface="SFMono-Regular"/>
              </a:rPr>
              <a:t>plt.scatter(x,y)</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solidFill>
                <a:sym typeface="+mn-ea"/>
              </a:rPr>
              <a:t>Summarize</a:t>
            </a:r>
            <a:endParaRPr lang="en-US" dirty="0">
              <a:solidFill>
                <a:schemeClr val="accent6"/>
              </a:solidFill>
              <a:sym typeface="+mn-ea"/>
            </a:endParaRPr>
          </a:p>
        </p:txBody>
      </p:sp>
      <p:pic>
        <p:nvPicPr>
          <p:cNvPr id="4098" name="Picture 2"/>
          <p:cNvPicPr>
            <a:picLocks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813435" y="1017270"/>
            <a:ext cx="9385935" cy="526923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solidFill>
                <a:sym typeface="+mn-ea"/>
              </a:rPr>
              <a:t>Various Python Libraries used for visualization</a:t>
            </a:r>
            <a:endParaRPr lang="en-US" dirty="0">
              <a:solidFill>
                <a:schemeClr val="accent6"/>
              </a:solidFill>
              <a:sym typeface="+mn-ea"/>
            </a:endParaRPr>
          </a:p>
        </p:txBody>
      </p:sp>
      <p:sp>
        <p:nvSpPr>
          <p:cNvPr id="3" name="Content Placeholder 2"/>
          <p:cNvSpPr>
            <a:spLocks noGrp="1"/>
          </p:cNvSpPr>
          <p:nvPr>
            <p:ph idx="1"/>
          </p:nvPr>
        </p:nvSpPr>
        <p:spPr>
          <a:xfrm>
            <a:off x="609600" y="803275"/>
            <a:ext cx="10972800" cy="5855335"/>
          </a:xfrm>
        </p:spPr>
        <p:txBody>
          <a:bodyPr/>
          <a:p>
            <a:pPr/>
            <a:r>
              <a:rPr lang="en-IN" altLang="en-US" sz="2400" dirty="0">
                <a:solidFill>
                  <a:srgbClr val="FF0000"/>
                </a:solidFill>
                <a:latin typeface="Arial" panose="020B0604020202020204" pitchFamily="34" charset="0"/>
                <a:cs typeface="Arial" panose="020B0604020202020204" pitchFamily="34" charset="0"/>
                <a:sym typeface="+mn-ea"/>
              </a:rPr>
              <a:t>Matplotlib</a:t>
            </a: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r>
              <a:rPr lang="en-US" sz="1800" dirty="0">
                <a:solidFill>
                  <a:srgbClr val="292929"/>
                </a:solidFill>
                <a:latin typeface="Arial" panose="020B0604020202020204" pitchFamily="34" charset="0"/>
                <a:cs typeface="Arial" panose="020B0604020202020204" pitchFamily="34" charset="0"/>
                <a:sym typeface="+mn-ea"/>
              </a:rPr>
              <a:t>Matplotlib is very easy to set up and remember the code. </a:t>
            </a:r>
            <a:endParaRPr lang="en-US" sz="1800" dirty="0">
              <a:solidFill>
                <a:srgbClr val="292929"/>
              </a:solidFill>
              <a:latin typeface="Arial" panose="020B0604020202020204" pitchFamily="34" charset="0"/>
              <a:cs typeface="Arial" panose="020B0604020202020204" pitchFamily="34" charset="0"/>
            </a:endParaRPr>
          </a:p>
          <a:p>
            <a:pPr marL="342900" indent="-342900">
              <a:buFont typeface="+mj-lt"/>
              <a:buAutoNum type="arabicPeriod"/>
            </a:pPr>
            <a:r>
              <a:rPr lang="en-US" sz="1800" dirty="0">
                <a:solidFill>
                  <a:srgbClr val="292929"/>
                </a:solidFill>
                <a:latin typeface="Arial" panose="020B0604020202020204" pitchFamily="34" charset="0"/>
                <a:cs typeface="Arial" panose="020B0604020202020204" pitchFamily="34" charset="0"/>
                <a:sym typeface="+mn-ea"/>
              </a:rPr>
              <a:t>Matplotlib supports all the popular charts (lots, histograms, power spectra, bar charts, error charts, scatterplots, etc.) right out of the box. There are also extensions that you can use to create advanced visualizations like 3-Dimensional plots, etc. </a:t>
            </a:r>
            <a:endParaRPr lang="en-US" sz="1800" dirty="0">
              <a:solidFill>
                <a:srgbClr val="292929"/>
              </a:solidFill>
              <a:latin typeface="Arial" panose="020B0604020202020204" pitchFamily="34" charset="0"/>
              <a:cs typeface="Arial" panose="020B0604020202020204" pitchFamily="34" charset="0"/>
            </a:endParaRPr>
          </a:p>
          <a:p>
            <a:pPr marL="342900" indent="-342900">
              <a:buFont typeface="+mj-lt"/>
              <a:buAutoNum type="arabicPeriod"/>
            </a:pPr>
            <a:r>
              <a:rPr lang="en-US" sz="1800" dirty="0">
                <a:solidFill>
                  <a:srgbClr val="292929"/>
                </a:solidFill>
                <a:latin typeface="Arial" panose="020B0604020202020204" pitchFamily="34" charset="0"/>
                <a:cs typeface="Arial" panose="020B0604020202020204" pitchFamily="34" charset="0"/>
                <a:sym typeface="+mn-ea"/>
              </a:rPr>
              <a:t>However, the chart doesn’t look good. It will probably do the job for data analysis, but its result for a business meeting is not great.</a:t>
            </a:r>
            <a:endParaRPr lang="en-US" sz="1800" dirty="0">
              <a:latin typeface="Arial" panose="020B0604020202020204" pitchFamily="34" charset="0"/>
              <a:cs typeface="Arial" panose="020B0604020202020204" pitchFamily="34" charset="0"/>
            </a:endParaRPr>
          </a:p>
          <a:p>
            <a:endParaRPr lang="en-US" sz="1800">
              <a:latin typeface="Arial" panose="020B0604020202020204" pitchFamily="34" charset="0"/>
              <a:cs typeface="Arial" panose="020B0604020202020204" pitchFamily="34" charset="0"/>
            </a:endParaRPr>
          </a:p>
        </p:txBody>
      </p:sp>
      <p:pic>
        <p:nvPicPr>
          <p:cNvPr id="6"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22120" y="1381760"/>
            <a:ext cx="7486650" cy="3216910"/>
          </a:xfrm>
          <a:prstGeom prst="rect">
            <a:avLst/>
          </a:prstGeom>
          <a:noFill/>
          <a:ln>
            <a:noFill/>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solidFill>
                <a:sym typeface="+mn-ea"/>
              </a:rPr>
              <a:t>Various Python Libraries used for visualization</a:t>
            </a:r>
            <a:endParaRPr lang="en-US" dirty="0">
              <a:solidFill>
                <a:schemeClr val="accent6"/>
              </a:solidFill>
              <a:sym typeface="+mn-ea"/>
            </a:endParaRPr>
          </a:p>
        </p:txBody>
      </p:sp>
      <p:sp>
        <p:nvSpPr>
          <p:cNvPr id="3" name="Content Placeholder 2"/>
          <p:cNvSpPr>
            <a:spLocks noGrp="1"/>
          </p:cNvSpPr>
          <p:nvPr>
            <p:ph idx="1"/>
          </p:nvPr>
        </p:nvSpPr>
        <p:spPr>
          <a:xfrm>
            <a:off x="609600" y="803275"/>
            <a:ext cx="10972800" cy="5855335"/>
          </a:xfrm>
        </p:spPr>
        <p:txBody>
          <a:bodyPr/>
          <a:p>
            <a:r>
              <a:rPr lang="en-IN" altLang="en-US" sz="2400" dirty="0">
                <a:solidFill>
                  <a:srgbClr val="FF0000"/>
                </a:solidFill>
                <a:latin typeface="Arial" panose="020B0604020202020204" pitchFamily="34" charset="0"/>
                <a:cs typeface="Arial" panose="020B0604020202020204" pitchFamily="34" charset="0"/>
                <a:sym typeface="+mn-ea"/>
              </a:rPr>
              <a:t>Seaborn</a:t>
            </a:r>
            <a:endParaRPr lang="en-US" sz="1800" dirty="0">
              <a:solidFill>
                <a:srgbClr val="FF0000"/>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r>
              <a:rPr lang="en-US" sz="1800" dirty="0">
                <a:solidFill>
                  <a:srgbClr val="292929"/>
                </a:solidFill>
                <a:latin typeface="Arial" panose="020B0604020202020204" pitchFamily="34" charset="0"/>
                <a:cs typeface="Arial" panose="020B0604020202020204" pitchFamily="34" charset="0"/>
                <a:sym typeface="+mn-ea"/>
              </a:rPr>
              <a:t>When using Seaborn, you will also notice that many of the default settings in the plots work quite well right out of the box, example : It automatically adds x and y-axis labels. The x ticks could look better, but for a basic chart, that's way better than Matplotlib.</a:t>
            </a:r>
            <a:endParaRPr lang="en-US" sz="1800" dirty="0">
              <a:solidFill>
                <a:srgbClr val="292929"/>
              </a:solidFill>
              <a:latin typeface="Arial" panose="020B0604020202020204" pitchFamily="34" charset="0"/>
              <a:cs typeface="Arial" panose="020B0604020202020204" pitchFamily="34" charset="0"/>
            </a:endParaRPr>
          </a:p>
          <a:p>
            <a:pPr marL="342900" indent="-342900">
              <a:buFont typeface="+mj-lt"/>
              <a:buAutoNum type="arabicPeriod"/>
            </a:pPr>
            <a:r>
              <a:rPr lang="en-US" sz="1800" dirty="0">
                <a:solidFill>
                  <a:srgbClr val="292929"/>
                </a:solidFill>
                <a:latin typeface="Arial" panose="020B0604020202020204" pitchFamily="34" charset="0"/>
                <a:cs typeface="Arial" panose="020B0604020202020204" pitchFamily="34" charset="0"/>
                <a:sym typeface="+mn-ea"/>
              </a:rPr>
              <a:t>Seaborn is built on top of matplotlib and provides a very simple yet intuitive interface for building visualizations. </a:t>
            </a:r>
            <a:endParaRPr lang="en-US" sz="1800" dirty="0">
              <a:solidFill>
                <a:srgbClr val="292929"/>
              </a:solidFill>
              <a:latin typeface="Arial" panose="020B0604020202020204" pitchFamily="34" charset="0"/>
              <a:cs typeface="Arial" panose="020B0604020202020204" pitchFamily="34" charset="0"/>
            </a:endParaRPr>
          </a:p>
          <a:p>
            <a:pPr marL="342900" indent="-342900">
              <a:buFont typeface="+mj-lt"/>
              <a:buAutoNum type="arabicPeriod"/>
            </a:pPr>
            <a:r>
              <a:rPr lang="en-US" sz="1800" dirty="0">
                <a:solidFill>
                  <a:srgbClr val="292929"/>
                </a:solidFill>
                <a:latin typeface="Arial" panose="020B0604020202020204" pitchFamily="34" charset="0"/>
                <a:cs typeface="Arial" panose="020B0604020202020204" pitchFamily="34" charset="0"/>
                <a:sym typeface="+mn-ea"/>
              </a:rPr>
              <a:t>Seaborn supports a plethora of advanced plots like categorical plotting (</a:t>
            </a:r>
            <a:r>
              <a:rPr lang="en-US" sz="1800" dirty="0" err="1">
                <a:solidFill>
                  <a:srgbClr val="292929"/>
                </a:solidFill>
                <a:latin typeface="Arial" panose="020B0604020202020204" pitchFamily="34" charset="0"/>
                <a:cs typeface="Arial" panose="020B0604020202020204" pitchFamily="34" charset="0"/>
                <a:sym typeface="+mn-ea"/>
              </a:rPr>
              <a:t>catplot</a:t>
            </a:r>
            <a:r>
              <a:rPr lang="en-US" sz="1800" dirty="0">
                <a:solidFill>
                  <a:srgbClr val="292929"/>
                </a:solidFill>
                <a:latin typeface="Arial" panose="020B0604020202020204" pitchFamily="34" charset="0"/>
                <a:cs typeface="Arial" panose="020B0604020202020204" pitchFamily="34" charset="0"/>
                <a:sym typeface="+mn-ea"/>
              </a:rPr>
              <a:t>), distribution plotting using </a:t>
            </a:r>
            <a:r>
              <a:rPr lang="en-US" sz="1800" dirty="0" err="1">
                <a:solidFill>
                  <a:srgbClr val="292929"/>
                </a:solidFill>
                <a:latin typeface="Arial" panose="020B0604020202020204" pitchFamily="34" charset="0"/>
                <a:cs typeface="Arial" panose="020B0604020202020204" pitchFamily="34" charset="0"/>
                <a:sym typeface="+mn-ea"/>
              </a:rPr>
              <a:t>kde</a:t>
            </a:r>
            <a:r>
              <a:rPr lang="en-US" sz="1800" dirty="0">
                <a:solidFill>
                  <a:srgbClr val="292929"/>
                </a:solidFill>
                <a:latin typeface="Arial" panose="020B0604020202020204" pitchFamily="34" charset="0"/>
                <a:cs typeface="Arial" panose="020B0604020202020204" pitchFamily="34" charset="0"/>
                <a:sym typeface="+mn-ea"/>
              </a:rPr>
              <a:t> (</a:t>
            </a:r>
            <a:r>
              <a:rPr lang="en-US" sz="1800" dirty="0" err="1">
                <a:solidFill>
                  <a:srgbClr val="292929"/>
                </a:solidFill>
                <a:latin typeface="Arial" panose="020B0604020202020204" pitchFamily="34" charset="0"/>
                <a:cs typeface="Arial" panose="020B0604020202020204" pitchFamily="34" charset="0"/>
                <a:sym typeface="+mn-ea"/>
              </a:rPr>
              <a:t>distplot</a:t>
            </a:r>
            <a:r>
              <a:rPr lang="en-US" sz="1800" dirty="0">
                <a:solidFill>
                  <a:srgbClr val="292929"/>
                </a:solidFill>
                <a:latin typeface="Arial" panose="020B0604020202020204" pitchFamily="34" charset="0"/>
                <a:cs typeface="Arial" panose="020B0604020202020204" pitchFamily="34" charset="0"/>
                <a:sym typeface="+mn-ea"/>
              </a:rPr>
              <a:t>), swarm plot, etc.</a:t>
            </a:r>
            <a:endParaRPr lang="en-US" sz="1800">
              <a:latin typeface="Arial" panose="020B0604020202020204" pitchFamily="34" charset="0"/>
              <a:cs typeface="Arial" panose="020B0604020202020204" pitchFamily="34" charset="0"/>
            </a:endParaRPr>
          </a:p>
        </p:txBody>
      </p:sp>
      <p:pic>
        <p:nvPicPr>
          <p:cNvPr id="61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05205" y="1303020"/>
            <a:ext cx="7771130" cy="31546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solidFill>
                <a:sym typeface="+mn-ea"/>
              </a:rPr>
              <a:t>Various Python Libraries used for visualization</a:t>
            </a:r>
            <a:endParaRPr lang="en-US" dirty="0">
              <a:solidFill>
                <a:schemeClr val="accent6"/>
              </a:solidFill>
              <a:sym typeface="+mn-ea"/>
            </a:endParaRPr>
          </a:p>
        </p:txBody>
      </p:sp>
      <p:sp>
        <p:nvSpPr>
          <p:cNvPr id="3" name="Content Placeholder 2"/>
          <p:cNvSpPr>
            <a:spLocks noGrp="1"/>
          </p:cNvSpPr>
          <p:nvPr>
            <p:ph idx="1"/>
          </p:nvPr>
        </p:nvSpPr>
        <p:spPr>
          <a:xfrm>
            <a:off x="609600" y="803275"/>
            <a:ext cx="10972800" cy="5855335"/>
          </a:xfrm>
        </p:spPr>
        <p:txBody>
          <a:bodyPr/>
          <a:p>
            <a:pPr>
              <a:buFont typeface="Arial" panose="020B0604020202020204" pitchFamily="34" charset="0"/>
              <a:buChar char="•"/>
            </a:pPr>
            <a:r>
              <a:rPr lang="en-IN" sz="2400" dirty="0">
                <a:solidFill>
                  <a:srgbClr val="FF0000"/>
                </a:solidFill>
                <a:latin typeface="Arial" panose="020B0604020202020204" pitchFamily="34" charset="0"/>
                <a:cs typeface="Arial" panose="020B0604020202020204" pitchFamily="34" charset="0"/>
                <a:sym typeface="+mn-ea"/>
              </a:rPr>
              <a:t>Plotly Express</a:t>
            </a:r>
            <a:endParaRPr lang="en-US" sz="1800" dirty="0">
              <a:solidFill>
                <a:srgbClr val="FF0000"/>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a:buFont typeface="+mj-lt"/>
              <a:buAutoNum type="arabicPeriod"/>
            </a:pPr>
            <a:r>
              <a:rPr lang="en-US" sz="1800" dirty="0">
                <a:solidFill>
                  <a:srgbClr val="292929"/>
                </a:solidFill>
                <a:latin typeface="Arial" panose="020B0604020202020204" pitchFamily="34" charset="0"/>
                <a:cs typeface="Arial" panose="020B0604020202020204" pitchFamily="34" charset="0"/>
                <a:sym typeface="+mn-ea"/>
              </a:rPr>
              <a:t>The first thing that comes to my mind when I think about plotly is interactivity! It is used to create visualizations that need to be highly interactive for the user.</a:t>
            </a:r>
            <a:endParaRPr lang="en-US" sz="1800" dirty="0">
              <a:solidFill>
                <a:srgbClr val="292929"/>
              </a:solidFill>
              <a:latin typeface="Arial" panose="020B0604020202020204" pitchFamily="34" charset="0"/>
              <a:cs typeface="Arial" panose="020B0604020202020204" pitchFamily="34" charset="0"/>
            </a:endParaRPr>
          </a:p>
          <a:p>
            <a:pPr marL="342900" indent="-342900">
              <a:buFont typeface="+mj-lt"/>
              <a:buAutoNum type="arabicPeriod"/>
            </a:pPr>
            <a:r>
              <a:rPr lang="en-US" sz="1800" dirty="0">
                <a:solidFill>
                  <a:srgbClr val="292929"/>
                </a:solidFill>
                <a:latin typeface="Arial" panose="020B0604020202020204" pitchFamily="34" charset="0"/>
                <a:cs typeface="Arial" panose="020B0604020202020204" pitchFamily="34" charset="0"/>
                <a:sym typeface="+mn-ea"/>
              </a:rPr>
              <a:t>Plotly supports a gamut of plots like 3-D plots, Map-based visualizations, scientific plots, etc. The list is endless!</a:t>
            </a:r>
            <a:endParaRPr lang="en-US" sz="1800">
              <a:latin typeface="Arial" panose="020B0604020202020204" pitchFamily="34" charset="0"/>
              <a:cs typeface="Arial" panose="020B0604020202020204" pitchFamily="34" charset="0"/>
            </a:endParaRPr>
          </a:p>
        </p:txBody>
      </p:sp>
      <p:pic>
        <p:nvPicPr>
          <p:cNvPr id="71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33805" y="1273810"/>
            <a:ext cx="6819900" cy="38271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solidFill>
                <a:sym typeface="+mn-ea"/>
              </a:rPr>
              <a:t>Various Python Libraries used for visualization</a:t>
            </a:r>
            <a:endParaRPr lang="en-US" dirty="0">
              <a:solidFill>
                <a:schemeClr val="accent6"/>
              </a:solidFill>
              <a:sym typeface="+mn-ea"/>
            </a:endParaRPr>
          </a:p>
        </p:txBody>
      </p:sp>
      <p:sp>
        <p:nvSpPr>
          <p:cNvPr id="3" name="Content Placeholder 2"/>
          <p:cNvSpPr>
            <a:spLocks noGrp="1"/>
          </p:cNvSpPr>
          <p:nvPr>
            <p:ph idx="1"/>
          </p:nvPr>
        </p:nvSpPr>
        <p:spPr>
          <a:xfrm>
            <a:off x="609600" y="803275"/>
            <a:ext cx="10972800" cy="5855335"/>
          </a:xfrm>
        </p:spPr>
        <p:txBody>
          <a:bodyPr/>
          <a:p>
            <a:pPr/>
            <a:r>
              <a:rPr lang="en-IN" sz="2400" dirty="0">
                <a:solidFill>
                  <a:srgbClr val="FF0000"/>
                </a:solidFill>
                <a:latin typeface="Arial" panose="020B0604020202020204" pitchFamily="34" charset="0"/>
                <a:cs typeface="Arial" panose="020B0604020202020204" pitchFamily="34" charset="0"/>
                <a:sym typeface="+mn-ea"/>
              </a:rPr>
              <a:t>Altair</a:t>
            </a:r>
            <a:endParaRPr lang="en-US" sz="1800" dirty="0">
              <a:solidFill>
                <a:srgbClr val="FF0000"/>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endParaRPr lang="en-US" sz="1800" dirty="0">
              <a:solidFill>
                <a:srgbClr val="292929"/>
              </a:solidFill>
              <a:latin typeface="Arial" panose="020B0604020202020204" pitchFamily="34" charset="0"/>
              <a:cs typeface="Arial" panose="020B0604020202020204" pitchFamily="34" charset="0"/>
              <a:sym typeface="+mn-ea"/>
            </a:endParaRPr>
          </a:p>
          <a:p>
            <a:pPr marL="342900" indent="-342900">
              <a:buFont typeface="+mj-lt"/>
              <a:buAutoNum type="arabicPeriod"/>
            </a:pPr>
            <a:r>
              <a:rPr lang="en-US" sz="1800" dirty="0">
                <a:solidFill>
                  <a:srgbClr val="292929"/>
                </a:solidFill>
                <a:latin typeface="Arial" panose="020B0604020202020204" pitchFamily="34" charset="0"/>
                <a:cs typeface="Arial" panose="020B0604020202020204" pitchFamily="34" charset="0"/>
                <a:sym typeface="+mn-ea"/>
              </a:rPr>
              <a:t>Altair is a declarative library for data visualization. </a:t>
            </a:r>
            <a:endParaRPr lang="en-US" sz="1800" dirty="0">
              <a:solidFill>
                <a:srgbClr val="292929"/>
              </a:solidFill>
              <a:latin typeface="Arial" panose="020B0604020202020204" pitchFamily="34" charset="0"/>
              <a:cs typeface="Arial" panose="020B0604020202020204" pitchFamily="34" charset="0"/>
            </a:endParaRPr>
          </a:p>
          <a:p>
            <a:pPr marL="342900" indent="-342900">
              <a:buFont typeface="+mj-lt"/>
              <a:buAutoNum type="arabicPeriod"/>
            </a:pPr>
            <a:r>
              <a:rPr lang="en-US" sz="1800" dirty="0">
                <a:solidFill>
                  <a:srgbClr val="292929"/>
                </a:solidFill>
                <a:latin typeface="Arial" panose="020B0604020202020204" pitchFamily="34" charset="0"/>
                <a:cs typeface="Arial" panose="020B0604020202020204" pitchFamily="34" charset="0"/>
                <a:sym typeface="+mn-ea"/>
              </a:rPr>
              <a:t>Its principle is that rather than focusing on the code part, one should focus on the visualization part and write as less code as possible and still be able to create beautiful and intuitive plots. That’s right down my alley!</a:t>
            </a:r>
            <a:endParaRPr lang="en-US" sz="1800">
              <a:latin typeface="Arial" panose="020B0604020202020204" pitchFamily="34" charset="0"/>
              <a:cs typeface="Arial" panose="020B0604020202020204" pitchFamily="34" charset="0"/>
            </a:endParaRPr>
          </a:p>
        </p:txBody>
      </p:sp>
      <p:pic>
        <p:nvPicPr>
          <p:cNvPr id="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11580" y="1340485"/>
            <a:ext cx="6851650" cy="37458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solidFill>
                <a:sym typeface="+mn-ea"/>
              </a:rPr>
              <a:t>Assignment</a:t>
            </a:r>
            <a:endParaRPr lang="en-US" dirty="0">
              <a:solidFill>
                <a:schemeClr val="accent6"/>
              </a:solidFill>
              <a:sym typeface="+mn-ea"/>
            </a:endParaRPr>
          </a:p>
        </p:txBody>
      </p:sp>
      <p:sp>
        <p:nvSpPr>
          <p:cNvPr id="3" name="Content Placeholder 2"/>
          <p:cNvSpPr>
            <a:spLocks noGrp="1"/>
          </p:cNvSpPr>
          <p:nvPr>
            <p:ph idx="1"/>
          </p:nvPr>
        </p:nvSpPr>
        <p:spPr/>
        <p:txBody>
          <a:bodyPr/>
          <a:p>
            <a:r>
              <a:rPr lang="en-US" sz="1800" b="1" dirty="0">
                <a:latin typeface="Arial" panose="020B0604020202020204" pitchFamily="34" charset="0"/>
                <a:ea typeface="Verdana" panose="020B0604030504040204" pitchFamily="34" charset="0"/>
                <a:cs typeface="Arial" panose="020B0604020202020204" pitchFamily="34" charset="0"/>
                <a:sym typeface="+mn-ea"/>
              </a:rPr>
              <a:t>Please download the following datasets :</a:t>
            </a:r>
            <a:endParaRPr lang="en-US" sz="1800" dirty="0">
              <a:latin typeface="Arial" panose="020B0604020202020204" pitchFamily="34" charset="0"/>
              <a:ea typeface="Verdana" panose="020B0604030504040204" pitchFamily="34" charset="0"/>
              <a:cs typeface="Arial" panose="020B0604020202020204" pitchFamily="34" charset="0"/>
            </a:endParaRPr>
          </a:p>
          <a:p>
            <a:r>
              <a:rPr lang="en-US" sz="1800" dirty="0">
                <a:latin typeface="Arial" panose="020B0604020202020204" pitchFamily="34" charset="0"/>
                <a:ea typeface="Verdana" panose="020B0604030504040204" pitchFamily="34" charset="0"/>
                <a:cs typeface="Arial" panose="020B0604020202020204" pitchFamily="34" charset="0"/>
                <a:sym typeface="+mn-ea"/>
              </a:rPr>
              <a:t>1. Time series data</a:t>
            </a:r>
            <a:endParaRPr lang="en-US" sz="1800" dirty="0">
              <a:latin typeface="Arial" panose="020B0604020202020204" pitchFamily="34" charset="0"/>
              <a:ea typeface="Verdana" panose="020B0604030504040204" pitchFamily="34" charset="0"/>
              <a:cs typeface="Arial" panose="020B0604020202020204" pitchFamily="34" charset="0"/>
            </a:endParaRPr>
          </a:p>
          <a:p>
            <a:pPr marL="0" indent="0">
              <a:buNone/>
            </a:pPr>
            <a:r>
              <a:rPr lang="en-IN" altLang="en-US" sz="1800" dirty="0">
                <a:latin typeface="Arial" panose="020B0604020202020204" pitchFamily="34" charset="0"/>
                <a:ea typeface="Verdana" panose="020B0604030504040204" pitchFamily="34" charset="0"/>
                <a:cs typeface="Arial" panose="020B0604020202020204" pitchFamily="34" charset="0"/>
                <a:sym typeface="+mn-ea"/>
              </a:rPr>
              <a:t>	</a:t>
            </a:r>
            <a:r>
              <a:rPr lang="en-US" sz="1800" dirty="0">
                <a:latin typeface="Arial" panose="020B0604020202020204" pitchFamily="34" charset="0"/>
                <a:ea typeface="Verdana" panose="020B0604030504040204" pitchFamily="34" charset="0"/>
                <a:cs typeface="Arial" panose="020B0604020202020204" pitchFamily="34" charset="0"/>
                <a:sym typeface="+mn-ea"/>
              </a:rPr>
              <a:t>https://archive.ics.uci.edu/ml/machine-learning-databases/00597/</a:t>
            </a:r>
            <a:endParaRPr lang="en-US" sz="1800" dirty="0">
              <a:latin typeface="Arial" panose="020B0604020202020204" pitchFamily="34" charset="0"/>
              <a:ea typeface="Verdana" panose="020B0604030504040204" pitchFamily="34" charset="0"/>
              <a:cs typeface="Arial" panose="020B0604020202020204" pitchFamily="34" charset="0"/>
            </a:endParaRPr>
          </a:p>
          <a:p>
            <a:r>
              <a:rPr lang="en-US" sz="1800" dirty="0">
                <a:latin typeface="Arial" panose="020B0604020202020204" pitchFamily="34" charset="0"/>
                <a:ea typeface="Verdana" panose="020B0604030504040204" pitchFamily="34" charset="0"/>
                <a:cs typeface="Arial" panose="020B0604020202020204" pitchFamily="34" charset="0"/>
                <a:sym typeface="+mn-ea"/>
              </a:rPr>
              <a:t>2. Categorical dataset (combine white wine and red wine datasets hence, making 2 categories)</a:t>
            </a:r>
            <a:endParaRPr lang="en-US" sz="1800" dirty="0">
              <a:latin typeface="Arial" panose="020B0604020202020204" pitchFamily="34" charset="0"/>
              <a:ea typeface="Verdana" panose="020B0604030504040204" pitchFamily="34" charset="0"/>
              <a:cs typeface="Arial" panose="020B0604020202020204" pitchFamily="34" charset="0"/>
            </a:endParaRPr>
          </a:p>
          <a:p>
            <a:pPr marL="914400" lvl="2" indent="0">
              <a:buNone/>
            </a:pPr>
            <a:r>
              <a:rPr lang="en-US" sz="1800" dirty="0">
                <a:latin typeface="Arial" panose="020B0604020202020204" pitchFamily="34" charset="0"/>
                <a:ea typeface="Verdana" panose="020B0604030504040204" pitchFamily="34" charset="0"/>
                <a:cs typeface="Arial" panose="020B0604020202020204" pitchFamily="34" charset="0"/>
                <a:sym typeface="+mn-ea"/>
              </a:rPr>
              <a:t>https://archive.ics.uci.edu/ml/machine-learning-databases/wine-quality/</a:t>
            </a:r>
            <a:endParaRPr lang="en-US" sz="1800" dirty="0">
              <a:latin typeface="Arial" panose="020B0604020202020204" pitchFamily="34" charset="0"/>
              <a:ea typeface="Verdana" panose="020B0604030504040204" pitchFamily="34" charset="0"/>
              <a:cs typeface="Arial" panose="020B0604020202020204" pitchFamily="34" charset="0"/>
              <a:sym typeface="+mn-ea"/>
            </a:endParaRPr>
          </a:p>
          <a:p>
            <a:pPr marL="914400" lvl="2" indent="0">
              <a:buNone/>
            </a:pPr>
            <a:endParaRPr lang="en-US" sz="1800" dirty="0">
              <a:latin typeface="Arial" panose="020B0604020202020204" pitchFamily="34" charset="0"/>
              <a:ea typeface="Verdana" panose="020B0604030504040204" pitchFamily="34" charset="0"/>
              <a:cs typeface="Arial" panose="020B0604020202020204" pitchFamily="34" charset="0"/>
            </a:endParaRPr>
          </a:p>
          <a:p>
            <a:pPr lvl="1">
              <a:buFont typeface="Arial" panose="020B0604020202020204" pitchFamily="34" charset="0"/>
              <a:buChar char="•"/>
            </a:pPr>
            <a:r>
              <a:rPr lang="en-US" sz="1575" dirty="0">
                <a:latin typeface="Arial" panose="020B0604020202020204" pitchFamily="34" charset="0"/>
                <a:ea typeface="Verdana" panose="020B0604030504040204" pitchFamily="34" charset="0"/>
                <a:cs typeface="Arial" panose="020B0604020202020204" pitchFamily="34" charset="0"/>
                <a:sym typeface="+mn-ea"/>
              </a:rPr>
              <a:t>Plot simple visuals like line chart, bar chart, histogram, scatterplot, correlation plots, pie chart, stacked chart, box plot, dist plot and other relevant plots based on the given data and information.</a:t>
            </a:r>
            <a:endParaRPr lang="en-US" sz="1575" dirty="0">
              <a:latin typeface="Arial" panose="020B0604020202020204" pitchFamily="34" charset="0"/>
              <a:ea typeface="Verdana" panose="020B0604030504040204" pitchFamily="34" charset="0"/>
              <a:cs typeface="Arial" panose="020B0604020202020204" pitchFamily="34" charset="0"/>
            </a:endParaRPr>
          </a:p>
          <a:p>
            <a:pPr lvl="1">
              <a:buFont typeface="Arial" panose="020B0604020202020204" pitchFamily="34" charset="0"/>
              <a:buChar char="•"/>
            </a:pPr>
            <a:r>
              <a:rPr lang="en-US" sz="1575" dirty="0">
                <a:latin typeface="Arial" panose="020B0604020202020204" pitchFamily="34" charset="0"/>
                <a:ea typeface="Verdana" panose="020B0604030504040204" pitchFamily="34" charset="0"/>
                <a:cs typeface="Arial" panose="020B0604020202020204" pitchFamily="34" charset="0"/>
                <a:sym typeface="+mn-ea"/>
              </a:rPr>
              <a:t>Plot complex visuals by combining various simple visuals and add legends, axis and title to it. </a:t>
            </a:r>
            <a:endParaRPr lang="en-US" sz="1575" dirty="0">
              <a:latin typeface="Arial" panose="020B0604020202020204" pitchFamily="34" charset="0"/>
              <a:ea typeface="Verdana" panose="020B0604030504040204" pitchFamily="34" charset="0"/>
              <a:cs typeface="Arial" panose="020B0604020202020204" pitchFamily="34" charset="0"/>
            </a:endParaRPr>
          </a:p>
          <a:p>
            <a:pPr lvl="1">
              <a:buFont typeface="Arial" panose="020B0604020202020204" pitchFamily="34" charset="0"/>
              <a:buChar char="•"/>
            </a:pPr>
            <a:r>
              <a:rPr lang="en-US" sz="1575" dirty="0">
                <a:latin typeface="Arial" panose="020B0604020202020204" pitchFamily="34" charset="0"/>
                <a:ea typeface="Verdana" panose="020B0604030504040204" pitchFamily="34" charset="0"/>
                <a:cs typeface="Arial" panose="020B0604020202020204" pitchFamily="34" charset="0"/>
                <a:sym typeface="+mn-ea"/>
              </a:rPr>
              <a:t>Use customization in plots and make them more presentable.</a:t>
            </a:r>
            <a:endParaRPr lang="en-US" sz="1575" dirty="0">
              <a:latin typeface="Arial" panose="020B0604020202020204" pitchFamily="34" charset="0"/>
              <a:ea typeface="Verdana" panose="020B0604030504040204" pitchFamily="34" charset="0"/>
              <a:cs typeface="Arial" panose="020B0604020202020204" pitchFamily="34" charset="0"/>
            </a:endParaRPr>
          </a:p>
          <a:p>
            <a:pPr lvl="1">
              <a:buFont typeface="Arial" panose="020B0604020202020204" pitchFamily="34" charset="0"/>
              <a:buChar char="•"/>
            </a:pPr>
            <a:r>
              <a:rPr lang="en-US" sz="1575" dirty="0">
                <a:latin typeface="Arial" panose="020B0604020202020204" pitchFamily="34" charset="0"/>
                <a:ea typeface="Verdana" panose="020B0604030504040204" pitchFamily="34" charset="0"/>
                <a:cs typeface="Arial" panose="020B0604020202020204" pitchFamily="34" charset="0"/>
                <a:sym typeface="+mn-ea"/>
              </a:rPr>
              <a:t>Use different data visualization libraries in python like matplotlib, seaborn, plotly,…etc.</a:t>
            </a:r>
            <a:endParaRPr lang="en-US" sz="1575" dirty="0">
              <a:latin typeface="Arial" panose="020B0604020202020204" pitchFamily="34" charset="0"/>
              <a:ea typeface="Verdana" panose="020B0604030504040204" pitchFamily="34" charset="0"/>
              <a:cs typeface="Arial" panose="020B0604020202020204" pitchFamily="34" charset="0"/>
            </a:endParaRPr>
          </a:p>
          <a:p>
            <a:pPr lvl="1">
              <a:buFont typeface="Arial" panose="020B0604020202020204" pitchFamily="34" charset="0"/>
              <a:buChar char="•"/>
            </a:pPr>
            <a:r>
              <a:rPr lang="en-US" sz="1575" dirty="0">
                <a:latin typeface="Arial" panose="020B0604020202020204" pitchFamily="34" charset="0"/>
                <a:ea typeface="Verdana" panose="020B0604030504040204" pitchFamily="34" charset="0"/>
                <a:cs typeface="Arial" panose="020B0604020202020204" pitchFamily="34" charset="0"/>
                <a:sym typeface="+mn-ea"/>
              </a:rPr>
              <a:t>Find 5 insights from each dataset using bivariate and multivariate data analysis graphs also include correlation inferences.</a:t>
            </a:r>
            <a:endParaRPr lang="en-US" sz="1575" dirty="0">
              <a:latin typeface="Arial" panose="020B0604020202020204" pitchFamily="34" charset="0"/>
              <a:ea typeface="Verdana" panose="020B0604030504040204" pitchFamily="34" charset="0"/>
              <a:cs typeface="Arial" panose="020B0604020202020204" pitchFamily="34" charset="0"/>
            </a:endParaRPr>
          </a:p>
          <a:p>
            <a:pPr lvl="1">
              <a:buFont typeface="Arial" panose="020B0604020202020204" pitchFamily="34" charset="0"/>
              <a:buChar char="•"/>
            </a:pPr>
            <a:r>
              <a:rPr lang="en-US" sz="1575" dirty="0">
                <a:latin typeface="Arial" panose="020B0604020202020204" pitchFamily="34" charset="0"/>
                <a:ea typeface="Verdana" panose="020B0604030504040204" pitchFamily="34" charset="0"/>
                <a:cs typeface="Arial" panose="020B0604020202020204" pitchFamily="34" charset="0"/>
                <a:sym typeface="+mn-ea"/>
              </a:rPr>
              <a:t>Submit assignments in a combined Jupyter notebook and rename file as graphical_analysis_</a:t>
            </a:r>
            <a:r>
              <a:rPr lang="en-US" sz="1575" b="1" dirty="0">
                <a:latin typeface="Arial" panose="020B0604020202020204" pitchFamily="34" charset="0"/>
                <a:ea typeface="Verdana" panose="020B0604030504040204" pitchFamily="34" charset="0"/>
                <a:cs typeface="Arial" panose="020B0604020202020204" pitchFamily="34" charset="0"/>
                <a:sym typeface="+mn-ea"/>
              </a:rPr>
              <a:t>name </a:t>
            </a:r>
            <a:r>
              <a:rPr lang="en-US" sz="1575" dirty="0">
                <a:latin typeface="Arial" panose="020B0604020202020204" pitchFamily="34" charset="0"/>
                <a:ea typeface="Verdana" panose="020B0604030504040204" pitchFamily="34" charset="0"/>
                <a:cs typeface="Arial" panose="020B0604020202020204" pitchFamily="34" charset="0"/>
                <a:sym typeface="+mn-ea"/>
              </a:rPr>
              <a:t>(please replace name with your name)</a:t>
            </a:r>
            <a:endParaRPr lang="en-US" sz="1575" dirty="0">
              <a:latin typeface="Arial" panose="020B0604020202020204" pitchFamily="34" charset="0"/>
              <a:ea typeface="Verdana" panose="020B0604030504040204" pitchFamily="34" charset="0"/>
              <a:cs typeface="Arial" panose="020B0604020202020204" pitchFamily="34" charset="0"/>
            </a:endParaRPr>
          </a:p>
          <a:p>
            <a:pPr>
              <a:buNone/>
            </a:pPr>
            <a:endParaRPr lang="en-US" sz="1800">
              <a:latin typeface="Arial" panose="020B0604020202020204" pitchFamily="34" charset="0"/>
              <a:cs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noChangeArrowheads="1"/>
          </p:cNvSpPr>
          <p:nvPr>
            <p:ph type="ctrTitle"/>
          </p:nvPr>
        </p:nvSpPr>
        <p:spPr>
          <a:xfrm>
            <a:off x="806450" y="1265555"/>
            <a:ext cx="10942955" cy="2353945"/>
          </a:xfrm>
        </p:spPr>
        <p:txBody>
          <a:bodyPr/>
          <a:p>
            <a:pPr algn="ctr">
              <a:lnSpc>
                <a:spcPct val="90000"/>
              </a:lnSpc>
            </a:pPr>
            <a:r>
              <a:rPr lang="en-IN" altLang="en-US" sz="5000" b="1">
                <a:solidFill>
                  <a:srgbClr val="FF0000"/>
                </a:solidFill>
              </a:rPr>
              <a:t>THANK YOU FOR YOUR</a:t>
            </a:r>
            <a:br>
              <a:rPr lang="en-IN" altLang="en-US" sz="5000" b="1">
                <a:solidFill>
                  <a:srgbClr val="FF0000"/>
                </a:solidFill>
              </a:rPr>
            </a:br>
            <a:r>
              <a:rPr lang="en-IN" altLang="en-US" sz="5000" b="1">
                <a:solidFill>
                  <a:srgbClr val="FF0000"/>
                </a:solidFill>
              </a:rPr>
              <a:t>ATTENTATION</a:t>
            </a:r>
            <a:endParaRPr lang="en-IN" altLang="en-US" sz="5000" b="1">
              <a:solidFill>
                <a:srgbClr val="FF0000"/>
              </a:solidFill>
            </a:endParaRPr>
          </a:p>
        </p:txBody>
      </p:sp>
    </p:spTree>
  </p:cSld>
  <p:clrMapOvr>
    <a:masterClrMapping/>
  </p:clrMapOvr>
</p:sld>
</file>

<file path=ppt/theme/theme1.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DEA2B996A095145A431990D8746F65D" ma:contentTypeVersion="12" ma:contentTypeDescription="Create a new document." ma:contentTypeScope="" ma:versionID="b52efeacc52cdb0921dd3ecf044e49d6">
  <xsd:schema xmlns:xsd="http://www.w3.org/2001/XMLSchema" xmlns:xs="http://www.w3.org/2001/XMLSchema" xmlns:p="http://schemas.microsoft.com/office/2006/metadata/properties" xmlns:ns2="0ae31940-ca4a-45c5-b162-138273e95632" xmlns:ns3="931ab5c8-92b0-45e1-8bc3-523e2cbedd9f" targetNamespace="http://schemas.microsoft.com/office/2006/metadata/properties" ma:root="true" ma:fieldsID="f46cc9a8ff8ed0d34fdacf23a8b0da3b" ns2:_="" ns3:_="">
    <xsd:import namespace="0ae31940-ca4a-45c5-b162-138273e95632"/>
    <xsd:import namespace="931ab5c8-92b0-45e1-8bc3-523e2cbedd9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e31940-ca4a-45c5-b162-138273e9563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10b75c2f-733a-428e-8724-a6f3929c24d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31ab5c8-92b0-45e1-8bc3-523e2cbedd9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3981f5be-6e3e-4d6c-a653-15253177344c}" ma:internalName="TaxCatchAll" ma:showField="CatchAllData" ma:web="931ab5c8-92b0-45e1-8bc3-523e2cbedd9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ae31940-ca4a-45c5-b162-138273e95632">
      <Terms xmlns="http://schemas.microsoft.com/office/infopath/2007/PartnerControls"/>
    </lcf76f155ced4ddcb4097134ff3c332f>
    <TaxCatchAll xmlns="931ab5c8-92b0-45e1-8bc3-523e2cbedd9f" xsi:nil="true"/>
  </documentManagement>
</p:properties>
</file>

<file path=customXml/itemProps1.xml><?xml version="1.0" encoding="utf-8"?>
<ds:datastoreItem xmlns:ds="http://schemas.openxmlformats.org/officeDocument/2006/customXml" ds:itemID="{88A71916-33F2-4081-BC65-0D2F6A915DAE}"/>
</file>

<file path=customXml/itemProps2.xml><?xml version="1.0" encoding="utf-8"?>
<ds:datastoreItem xmlns:ds="http://schemas.openxmlformats.org/officeDocument/2006/customXml" ds:itemID="{89877528-0787-49A3-8D0B-82094CC819FF}"/>
</file>

<file path=customXml/itemProps3.xml><?xml version="1.0" encoding="utf-8"?>
<ds:datastoreItem xmlns:ds="http://schemas.openxmlformats.org/officeDocument/2006/customXml" ds:itemID="{1F0C0427-B5F9-4B00-860D-B9D782A9B31E}"/>
</file>

<file path=docProps/app.xml><?xml version="1.0" encoding="utf-8"?>
<Properties xmlns="http://schemas.openxmlformats.org/officeDocument/2006/extended-properties" xmlns:vt="http://schemas.openxmlformats.org/officeDocument/2006/docPropsVTypes">
  <TotalTime>0</TotalTime>
  <Words>8193</Words>
  <Application>WPS Presentation</Application>
  <PresentationFormat>Widescreen</PresentationFormat>
  <Paragraphs>207</Paragraphs>
  <Slides>17</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17</vt:i4>
      </vt:variant>
    </vt:vector>
  </HeadingPairs>
  <TitlesOfParts>
    <vt:vector size="35" baseType="lpstr">
      <vt:lpstr>Arial</vt:lpstr>
      <vt:lpstr>SimSun</vt:lpstr>
      <vt:lpstr>Wingdings</vt:lpstr>
      <vt:lpstr>Calibri Light</vt:lpstr>
      <vt:lpstr>Calibri</vt:lpstr>
      <vt:lpstr>Microsoft YaHei</vt:lpstr>
      <vt:lpstr>Arial Unicode MS</vt:lpstr>
      <vt:lpstr>Cambria Math</vt:lpstr>
      <vt:lpstr>Courier New</vt:lpstr>
      <vt:lpstr>MS Mincho</vt:lpstr>
      <vt:lpstr>Segoe Print</vt:lpstr>
      <vt:lpstr>Verdana</vt:lpstr>
      <vt:lpstr>Lato</vt:lpstr>
      <vt:lpstr>Arial Unicode MS</vt:lpstr>
      <vt:lpstr>SFMono-Regular</vt:lpstr>
      <vt:lpstr>charter</vt:lpstr>
      <vt:lpstr>Segoe Script</vt:lpstr>
      <vt:lpstr>Blue Waves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Various Python Libraries used for visualization</vt:lpstr>
      <vt:lpstr>Various Python Libraries used for visualization</vt:lpstr>
      <vt:lpstr>Various Python Libraries used for visualization</vt:lpstr>
      <vt:lpstr>PowerPoint 演示文稿</vt:lpstr>
      <vt:lpstr>THANK YOU FOR YOUR ATTENTATION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Correlation and Graphical Analysis</dc:title>
  <dc:creator/>
  <cp:lastModifiedBy>Dell</cp:lastModifiedBy>
  <cp:revision>18</cp:revision>
  <dcterms:created xsi:type="dcterms:W3CDTF">2022-12-23T08:57:25Z</dcterms:created>
  <dcterms:modified xsi:type="dcterms:W3CDTF">2022-12-23T09:59:50Z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ECE647468BDA4C819F20FAB908058069</vt:lpwstr>
  </property>
  <property fmtid="{D5CDD505-2E9C-101B-9397-08002B2CF9AE}" pid="3" name="KSOProductBuildVer">
    <vt:lpwstr>1033-11.2.0.11388</vt:lpwstr>
  </property>
  <property fmtid="{D5CDD505-2E9C-101B-9397-08002B2CF9AE}" pid="4" name="ContentTypeId">
    <vt:lpwstr>0x0101006DEA2B996A095145A431990D8746F65D</vt:lpwstr>
  </property>
</Properties>
</file>