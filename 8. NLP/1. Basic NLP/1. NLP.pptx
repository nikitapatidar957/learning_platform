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Masters/slideMaster1.xml" ContentType="application/vnd.openxmlformats-officedocument.presentationml.slideMaster+xml"/>
  <Override PartName="/ppt/theme/theme1.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273" r:id="rId20"/>
    <p:sldId id="274" r:id="rId21"/>
    <p:sldId id="275"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p:cViewPr varScale="1">
        <p:scale>
          <a:sx n="53" d="100"/>
          <a:sy n="53" d="100"/>
        </p:scale>
        <p:origin x="180" y="5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8" Type="http://schemas.openxmlformats.org/officeDocument/2006/relationships/slide" Target="slides/slide16.xml"/><Relationship Id="rId13" Type="http://schemas.openxmlformats.org/officeDocument/2006/relationships/slide" Target="slides/slide11.xml"/><Relationship Id="rId26" Type="http://schemas.openxmlformats.org/officeDocument/2006/relationships/customXml" Target="../customXml/item1.xml"/><Relationship Id="rId3" Type="http://schemas.openxmlformats.org/officeDocument/2006/relationships/slide" Target="slides/slide1.xml"/><Relationship Id="rId21" Type="http://schemas.openxmlformats.org/officeDocument/2006/relationships/slide" Target="slides/slide19.xml"/><Relationship Id="rId7" Type="http://schemas.openxmlformats.org/officeDocument/2006/relationships/slide" Target="slides/slide5.xml"/><Relationship Id="rId25" Type="http://schemas.openxmlformats.org/officeDocument/2006/relationships/tableStyles" Target="tableStyles.xml"/><Relationship Id="rId17" Type="http://schemas.openxmlformats.org/officeDocument/2006/relationships/slide" Target="slides/slide15.xml"/><Relationship Id="rId12" Type="http://schemas.openxmlformats.org/officeDocument/2006/relationships/slide" Target="slides/slide10.xml"/><Relationship Id="rId20" Type="http://schemas.openxmlformats.org/officeDocument/2006/relationships/slide" Target="slides/slide18.xml"/><Relationship Id="rId2" Type="http://schemas.openxmlformats.org/officeDocument/2006/relationships/theme" Target="theme/theme1.xml"/><Relationship Id="rId16" Type="http://schemas.openxmlformats.org/officeDocument/2006/relationships/slide" Target="slides/slide14.xml"/><Relationship Id="rId6" Type="http://schemas.openxmlformats.org/officeDocument/2006/relationships/slide" Target="slides/slide4.xml"/><Relationship Id="rId24" Type="http://schemas.openxmlformats.org/officeDocument/2006/relationships/viewProps" Target="viewProps.xml"/><Relationship Id="rId11" Type="http://schemas.openxmlformats.org/officeDocument/2006/relationships/slide" Target="slides/slide9.xml"/><Relationship Id="rId1" Type="http://schemas.openxmlformats.org/officeDocument/2006/relationships/slideMaster" Target="slideMasters/slideMaster1.xml"/><Relationship Id="rId5" Type="http://schemas.openxmlformats.org/officeDocument/2006/relationships/slide" Target="slides/slide3.xml"/><Relationship Id="rId23" Type="http://schemas.openxmlformats.org/officeDocument/2006/relationships/presProps" Target="presProps.xml"/><Relationship Id="rId15" Type="http://schemas.openxmlformats.org/officeDocument/2006/relationships/slide" Target="slides/slide13.xml"/><Relationship Id="rId28" Type="http://schemas.openxmlformats.org/officeDocument/2006/relationships/customXml" Target="../customXml/item3.xml"/><Relationship Id="rId19" Type="http://schemas.openxmlformats.org/officeDocument/2006/relationships/slide" Target="slides/slide17.xml"/><Relationship Id="rId10" Type="http://schemas.openxmlformats.org/officeDocument/2006/relationships/slide" Target="slides/slide8.xml"/><Relationship Id="rId9" Type="http://schemas.openxmlformats.org/officeDocument/2006/relationships/slide" Target="slides/slide7.xml"/><Relationship Id="rId4" Type="http://schemas.openxmlformats.org/officeDocument/2006/relationships/slide" Target="slides/slide2.xml"/><Relationship Id="rId22" Type="http://schemas.openxmlformats.org/officeDocument/2006/relationships/slide" Target="slides/slide20.xml"/><Relationship Id="rId14" Type="http://schemas.openxmlformats.org/officeDocument/2006/relationships/slide" Target="slides/slide12.xml"/><Relationship Id="rId27" Type="http://schemas.openxmlformats.org/officeDocument/2006/relationships/customXml" Target="../customXml/item2.xml"/></Relationships>
</file>

<file path=ppt/diagrams/_rels/data1.xml.rels><?xml version="1.0" encoding="UTF-8" standalone="yes"?>
<Relationships xmlns="http://schemas.openxmlformats.org/package/2006/relationships"><Relationship Id="rId1" Type="http://schemas.openxmlformats.org/officeDocument/2006/relationships/hyperlink" Target="https://monkeylearn.com/unstructured-data/"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https://monkeylearn.com/unstructured-data/" TargetMode="Externa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9311ABE-CCF8-4ADC-A88C-CDECA05242DB}" type="doc">
      <dgm:prSet loTypeId="urn:diagrams.loki3.com/BracketList" loCatId="list" qsTypeId="urn:microsoft.com/office/officeart/2005/8/quickstyle/simple1" qsCatId="simple" csTypeId="urn:microsoft.com/office/officeart/2005/8/colors/accent1_2" csCatId="accent1" phldr="1"/>
      <dgm:spPr/>
      <dgm:t>
        <a:bodyPr/>
        <a:lstStyle/>
        <a:p>
          <a:endParaRPr lang="en-US"/>
        </a:p>
      </dgm:t>
    </dgm:pt>
    <dgm:pt modelId="{5EB2645B-EEC9-43D9-BC9C-391F18ED8A7F}">
      <dgm:prSet phldrT="[Text]"/>
      <dgm:spPr/>
      <dgm:t>
        <a:bodyPr/>
        <a:lstStyle/>
        <a:p>
          <a:r>
            <a:rPr lang="en-US" b="1" i="0" dirty="0"/>
            <a:t>Perform large-scale analysis.</a:t>
          </a:r>
          <a:endParaRPr lang="en-US" dirty="0"/>
        </a:p>
      </dgm:t>
    </dgm:pt>
    <dgm:pt modelId="{4DCFCCA3-7F75-42EC-B2AA-9B5B5FD2F56A}" cxnId="{F96E725F-0A5B-4C99-8646-BC2157A02393}" type="parTrans">
      <dgm:prSet/>
      <dgm:spPr/>
      <dgm:t>
        <a:bodyPr/>
        <a:lstStyle/>
        <a:p>
          <a:endParaRPr lang="en-US"/>
        </a:p>
      </dgm:t>
    </dgm:pt>
    <dgm:pt modelId="{20277A45-9495-49DA-A147-DE0846D5B7AB}" cxnId="{F96E725F-0A5B-4C99-8646-BC2157A02393}" type="sibTrans">
      <dgm:prSet/>
      <dgm:spPr/>
      <dgm:t>
        <a:bodyPr/>
        <a:lstStyle/>
        <a:p>
          <a:endParaRPr lang="en-US"/>
        </a:p>
      </dgm:t>
    </dgm:pt>
    <dgm:pt modelId="{68D2F2AE-64B7-4E21-860E-EEF8D2F48158}">
      <dgm:prSet phldrT="[Text]"/>
      <dgm:spPr/>
      <dgm:t>
        <a:bodyPr/>
        <a:lstStyle/>
        <a:p>
          <a:r>
            <a:rPr lang="en-US" b="0" i="0" dirty="0"/>
            <a:t>Natural Language Processing helps machines automatically understand and analyze huge amounts of </a:t>
          </a:r>
          <a:r>
            <a:rPr lang="en-US" b="0" i="0" dirty="0">
              <a:hlinkClick xmlns:r="http://schemas.openxmlformats.org/officeDocument/2006/relationships" r:id="rId1"/>
            </a:rPr>
            <a:t>unstructured text data</a:t>
          </a:r>
          <a:r>
            <a:rPr lang="en-US" b="0" i="0" dirty="0"/>
            <a:t>, like social media comments, customer support tickets, online reviews, news reports, and more.</a:t>
          </a:r>
          <a:endParaRPr lang="en-US" dirty="0"/>
        </a:p>
      </dgm:t>
    </dgm:pt>
    <dgm:pt modelId="{A704DB24-D846-4F83-8497-9475D6FF105D}" cxnId="{7F127AF3-DFEE-4CED-A97E-2AB7DE517B4C}" type="parTrans">
      <dgm:prSet/>
      <dgm:spPr/>
      <dgm:t>
        <a:bodyPr/>
        <a:lstStyle/>
        <a:p>
          <a:endParaRPr lang="en-US"/>
        </a:p>
      </dgm:t>
    </dgm:pt>
    <dgm:pt modelId="{C5B8FA06-E590-43E3-B76D-1F2D78491185}" cxnId="{7F127AF3-DFEE-4CED-A97E-2AB7DE517B4C}" type="sibTrans">
      <dgm:prSet/>
      <dgm:spPr/>
      <dgm:t>
        <a:bodyPr/>
        <a:lstStyle/>
        <a:p>
          <a:endParaRPr lang="en-US"/>
        </a:p>
      </dgm:t>
    </dgm:pt>
    <dgm:pt modelId="{D79D0B42-E73B-4E9E-9025-0F7B2CBBF6FF}">
      <dgm:prSet phldrT="[Text]"/>
      <dgm:spPr/>
      <dgm:t>
        <a:bodyPr/>
        <a:lstStyle/>
        <a:p>
          <a:r>
            <a:rPr lang="en-US" b="1" i="0" dirty="0"/>
            <a:t>Automate processes in real-time.</a:t>
          </a:r>
          <a:endParaRPr lang="en-US" dirty="0"/>
        </a:p>
      </dgm:t>
    </dgm:pt>
    <dgm:pt modelId="{D5C62029-A5A1-4188-BE0B-12A88634D46D}" cxnId="{D01B7D77-CA73-4770-86AB-3EDC4CDF2AE7}" type="parTrans">
      <dgm:prSet/>
      <dgm:spPr/>
      <dgm:t>
        <a:bodyPr/>
        <a:lstStyle/>
        <a:p>
          <a:endParaRPr lang="en-US"/>
        </a:p>
      </dgm:t>
    </dgm:pt>
    <dgm:pt modelId="{CFA7A6DD-D04D-4011-8FE1-39E7B6B6C382}" cxnId="{D01B7D77-CA73-4770-86AB-3EDC4CDF2AE7}" type="sibTrans">
      <dgm:prSet/>
      <dgm:spPr/>
      <dgm:t>
        <a:bodyPr/>
        <a:lstStyle/>
        <a:p>
          <a:endParaRPr lang="en-US"/>
        </a:p>
      </dgm:t>
    </dgm:pt>
    <dgm:pt modelId="{4C409CA8-5060-4255-AE5F-4AA23055BC34}">
      <dgm:prSet phldrT="[Text]"/>
      <dgm:spPr/>
      <dgm:t>
        <a:bodyPr/>
        <a:lstStyle/>
        <a:p>
          <a:r>
            <a:rPr lang="en-US" b="0" i="0" dirty="0"/>
            <a:t>Natural language processing tools can help machines learn to sort and route information with little to no human interaction – quickly, efficiently, accurately, and around the clock.</a:t>
          </a:r>
          <a:endParaRPr lang="en-US" dirty="0"/>
        </a:p>
      </dgm:t>
    </dgm:pt>
    <dgm:pt modelId="{F2E6D4DC-9FF3-473A-8D71-97BE8307DE26}" cxnId="{8646D764-C6DC-453F-B4FF-F2EF4EBF6317}" type="parTrans">
      <dgm:prSet/>
      <dgm:spPr/>
      <dgm:t>
        <a:bodyPr/>
        <a:lstStyle/>
        <a:p>
          <a:endParaRPr lang="en-US"/>
        </a:p>
      </dgm:t>
    </dgm:pt>
    <dgm:pt modelId="{C68B9777-2BE2-482E-A941-F07A6604CB13}" cxnId="{8646D764-C6DC-453F-B4FF-F2EF4EBF6317}" type="sibTrans">
      <dgm:prSet/>
      <dgm:spPr/>
      <dgm:t>
        <a:bodyPr/>
        <a:lstStyle/>
        <a:p>
          <a:endParaRPr lang="en-US"/>
        </a:p>
      </dgm:t>
    </dgm:pt>
    <dgm:pt modelId="{69AE1444-23DB-41F6-AF84-1C1D42460F78}">
      <dgm:prSet phldrT="[Text]"/>
      <dgm:spPr/>
      <dgm:t>
        <a:bodyPr/>
        <a:lstStyle/>
        <a:p>
          <a:r>
            <a:rPr lang="en-US" b="1" i="0" dirty="0"/>
            <a:t>Tailor NLP tools to your industry.</a:t>
          </a:r>
          <a:endParaRPr lang="en-US" dirty="0"/>
        </a:p>
      </dgm:t>
    </dgm:pt>
    <dgm:pt modelId="{4CFB7A83-86FE-46EE-9C57-466980845940}" cxnId="{A57E976B-4CB4-48DF-939E-9F3721326503}" type="parTrans">
      <dgm:prSet/>
      <dgm:spPr/>
      <dgm:t>
        <a:bodyPr/>
        <a:lstStyle/>
        <a:p>
          <a:endParaRPr lang="en-US"/>
        </a:p>
      </dgm:t>
    </dgm:pt>
    <dgm:pt modelId="{BB96FB55-E753-4B45-B739-6AB2C1820F51}" cxnId="{A57E976B-4CB4-48DF-939E-9F3721326503}" type="sibTrans">
      <dgm:prSet/>
      <dgm:spPr/>
      <dgm:t>
        <a:bodyPr/>
        <a:lstStyle/>
        <a:p>
          <a:endParaRPr lang="en-US"/>
        </a:p>
      </dgm:t>
    </dgm:pt>
    <dgm:pt modelId="{E44667FA-CB61-4455-9099-B8C1DD2B1C00}">
      <dgm:prSet phldrT="[Text]"/>
      <dgm:spPr/>
      <dgm:t>
        <a:bodyPr/>
        <a:lstStyle/>
        <a:p>
          <a:r>
            <a:rPr lang="en-US" b="0" i="0" dirty="0"/>
            <a:t>Natural language processing algorithms can be tailored to your needs and criteria, like complex, industry-specific language – even sarcasm and misused words.</a:t>
          </a:r>
          <a:endParaRPr lang="en-US" dirty="0"/>
        </a:p>
      </dgm:t>
    </dgm:pt>
    <dgm:pt modelId="{512F2FEC-BFAA-4BD8-92A1-419572F3F935}" cxnId="{8E371C92-8B04-4CA3-A7BC-7814586AF411}" type="parTrans">
      <dgm:prSet/>
      <dgm:spPr/>
      <dgm:t>
        <a:bodyPr/>
        <a:lstStyle/>
        <a:p>
          <a:endParaRPr lang="en-US"/>
        </a:p>
      </dgm:t>
    </dgm:pt>
    <dgm:pt modelId="{0615791C-539C-40F3-B51D-2A8247D1658D}" cxnId="{8E371C92-8B04-4CA3-A7BC-7814586AF411}" type="sibTrans">
      <dgm:prSet/>
      <dgm:spPr/>
      <dgm:t>
        <a:bodyPr/>
        <a:lstStyle/>
        <a:p>
          <a:endParaRPr lang="en-US"/>
        </a:p>
      </dgm:t>
    </dgm:pt>
    <dgm:pt modelId="{69EE1DEC-4262-4B97-933B-858987D7EACD}" type="pres">
      <dgm:prSet presAssocID="{29311ABE-CCF8-4ADC-A88C-CDECA05242DB}" presName="Name0" presStyleCnt="0">
        <dgm:presLayoutVars>
          <dgm:dir/>
          <dgm:animLvl val="lvl"/>
          <dgm:resizeHandles val="exact"/>
        </dgm:presLayoutVars>
      </dgm:prSet>
      <dgm:spPr/>
    </dgm:pt>
    <dgm:pt modelId="{B5FD22E2-A3AA-43EA-8EE4-3BDC6642614E}" type="pres">
      <dgm:prSet presAssocID="{5EB2645B-EEC9-43D9-BC9C-391F18ED8A7F}" presName="linNode" presStyleCnt="0"/>
      <dgm:spPr/>
    </dgm:pt>
    <dgm:pt modelId="{0AA3A09B-557F-41A0-8F6B-B98E05F880A3}" type="pres">
      <dgm:prSet presAssocID="{5EB2645B-EEC9-43D9-BC9C-391F18ED8A7F}" presName="parTx" presStyleLbl="revTx" presStyleIdx="0" presStyleCnt="3">
        <dgm:presLayoutVars>
          <dgm:chMax val="1"/>
          <dgm:bulletEnabled val="1"/>
        </dgm:presLayoutVars>
      </dgm:prSet>
      <dgm:spPr/>
    </dgm:pt>
    <dgm:pt modelId="{07D9A5AA-6CDF-451C-8D4C-F1DA15685620}" type="pres">
      <dgm:prSet presAssocID="{5EB2645B-EEC9-43D9-BC9C-391F18ED8A7F}" presName="bracket" presStyleLbl="parChTrans1D1" presStyleIdx="0" presStyleCnt="3"/>
      <dgm:spPr/>
    </dgm:pt>
    <dgm:pt modelId="{BEB917F3-882D-4417-BCF7-ED2B6D79F521}" type="pres">
      <dgm:prSet presAssocID="{5EB2645B-EEC9-43D9-BC9C-391F18ED8A7F}" presName="spH" presStyleCnt="0"/>
      <dgm:spPr/>
    </dgm:pt>
    <dgm:pt modelId="{67A2132D-F590-42A4-ACF9-8AB81640FB30}" type="pres">
      <dgm:prSet presAssocID="{5EB2645B-EEC9-43D9-BC9C-391F18ED8A7F}" presName="desTx" presStyleLbl="node1" presStyleIdx="0" presStyleCnt="3" custLinFactNeighborX="-2436" custLinFactNeighborY="1977">
        <dgm:presLayoutVars>
          <dgm:bulletEnabled val="1"/>
        </dgm:presLayoutVars>
      </dgm:prSet>
      <dgm:spPr/>
    </dgm:pt>
    <dgm:pt modelId="{B2C67308-32BB-447C-874D-6E9414E56A57}" type="pres">
      <dgm:prSet presAssocID="{20277A45-9495-49DA-A147-DE0846D5B7AB}" presName="spV" presStyleCnt="0"/>
      <dgm:spPr/>
    </dgm:pt>
    <dgm:pt modelId="{4BA31800-F016-4B11-9865-491C29EADA43}" type="pres">
      <dgm:prSet presAssocID="{D79D0B42-E73B-4E9E-9025-0F7B2CBBF6FF}" presName="linNode" presStyleCnt="0"/>
      <dgm:spPr/>
    </dgm:pt>
    <dgm:pt modelId="{5F54B5DE-36B0-436D-B641-BB6A8CE168B2}" type="pres">
      <dgm:prSet presAssocID="{D79D0B42-E73B-4E9E-9025-0F7B2CBBF6FF}" presName="parTx" presStyleLbl="revTx" presStyleIdx="1" presStyleCnt="3" custLinFactNeighborY="11728">
        <dgm:presLayoutVars>
          <dgm:chMax val="1"/>
          <dgm:bulletEnabled val="1"/>
        </dgm:presLayoutVars>
      </dgm:prSet>
      <dgm:spPr/>
    </dgm:pt>
    <dgm:pt modelId="{143DC1FF-D0BC-4C78-BE9D-F44ABF1E96D7}" type="pres">
      <dgm:prSet presAssocID="{D79D0B42-E73B-4E9E-9025-0F7B2CBBF6FF}" presName="bracket" presStyleLbl="parChTrans1D1" presStyleIdx="1" presStyleCnt="3" custLinFactNeighborY="8097"/>
      <dgm:spPr/>
    </dgm:pt>
    <dgm:pt modelId="{60221260-49B3-4CB8-81F5-38BF50532286}" type="pres">
      <dgm:prSet presAssocID="{D79D0B42-E73B-4E9E-9025-0F7B2CBBF6FF}" presName="spH" presStyleCnt="0"/>
      <dgm:spPr/>
    </dgm:pt>
    <dgm:pt modelId="{28D05962-4971-4A27-9938-A92BC45EAD33}" type="pres">
      <dgm:prSet presAssocID="{D79D0B42-E73B-4E9E-9025-0F7B2CBBF6FF}" presName="desTx" presStyleLbl="node1" presStyleIdx="1" presStyleCnt="3" custLinFactNeighborY="8097">
        <dgm:presLayoutVars>
          <dgm:bulletEnabled val="1"/>
        </dgm:presLayoutVars>
      </dgm:prSet>
      <dgm:spPr/>
    </dgm:pt>
    <dgm:pt modelId="{66B58093-3A19-494D-B88D-AD7B1676D592}" type="pres">
      <dgm:prSet presAssocID="{CFA7A6DD-D04D-4011-8FE1-39E7B6B6C382}" presName="spV" presStyleCnt="0"/>
      <dgm:spPr/>
    </dgm:pt>
    <dgm:pt modelId="{B02CEC9C-4D9C-4E71-8DB6-66118986728E}" type="pres">
      <dgm:prSet presAssocID="{69AE1444-23DB-41F6-AF84-1C1D42460F78}" presName="linNode" presStyleCnt="0"/>
      <dgm:spPr/>
    </dgm:pt>
    <dgm:pt modelId="{FB287B93-2CF6-4C52-9C50-496D4E33523E}" type="pres">
      <dgm:prSet presAssocID="{69AE1444-23DB-41F6-AF84-1C1D42460F78}" presName="parTx" presStyleLbl="revTx" presStyleIdx="2" presStyleCnt="3" custLinFactNeighborY="11728">
        <dgm:presLayoutVars>
          <dgm:chMax val="1"/>
          <dgm:bulletEnabled val="1"/>
        </dgm:presLayoutVars>
      </dgm:prSet>
      <dgm:spPr/>
    </dgm:pt>
    <dgm:pt modelId="{421C5FD9-93AC-4250-8D26-37849BBE0EB1}" type="pres">
      <dgm:prSet presAssocID="{69AE1444-23DB-41F6-AF84-1C1D42460F78}" presName="bracket" presStyleLbl="parChTrans1D1" presStyleIdx="2" presStyleCnt="3" custLinFactNeighborY="8097"/>
      <dgm:spPr/>
    </dgm:pt>
    <dgm:pt modelId="{323A04A8-76C6-4884-BB78-BA0E86FDFC28}" type="pres">
      <dgm:prSet presAssocID="{69AE1444-23DB-41F6-AF84-1C1D42460F78}" presName="spH" presStyleCnt="0"/>
      <dgm:spPr/>
    </dgm:pt>
    <dgm:pt modelId="{A579CA07-CA7F-4324-9AE5-ED9FD57A3737}" type="pres">
      <dgm:prSet presAssocID="{69AE1444-23DB-41F6-AF84-1C1D42460F78}" presName="desTx" presStyleLbl="node1" presStyleIdx="2" presStyleCnt="3" custLinFactNeighborY="8097">
        <dgm:presLayoutVars>
          <dgm:bulletEnabled val="1"/>
        </dgm:presLayoutVars>
      </dgm:prSet>
      <dgm:spPr/>
    </dgm:pt>
  </dgm:ptLst>
  <dgm:cxnLst>
    <dgm:cxn modelId="{C40ACE2A-A17F-49E4-B6DB-A724D88A87F9}" type="presOf" srcId="{68D2F2AE-64B7-4E21-860E-EEF8D2F48158}" destId="{67A2132D-F590-42A4-ACF9-8AB81640FB30}" srcOrd="0" destOrd="0" presId="urn:diagrams.loki3.com/BracketList"/>
    <dgm:cxn modelId="{F96E725F-0A5B-4C99-8646-BC2157A02393}" srcId="{29311ABE-CCF8-4ADC-A88C-CDECA05242DB}" destId="{5EB2645B-EEC9-43D9-BC9C-391F18ED8A7F}" srcOrd="0" destOrd="0" parTransId="{4DCFCCA3-7F75-42EC-B2AA-9B5B5FD2F56A}" sibTransId="{20277A45-9495-49DA-A147-DE0846D5B7AB}"/>
    <dgm:cxn modelId="{8646D764-C6DC-453F-B4FF-F2EF4EBF6317}" srcId="{D79D0B42-E73B-4E9E-9025-0F7B2CBBF6FF}" destId="{4C409CA8-5060-4255-AE5F-4AA23055BC34}" srcOrd="0" destOrd="0" parTransId="{F2E6D4DC-9FF3-473A-8D71-97BE8307DE26}" sibTransId="{C68B9777-2BE2-482E-A941-F07A6604CB13}"/>
    <dgm:cxn modelId="{AB8E3A68-8B2B-48EE-8764-5D7BD4A2BE45}" type="presOf" srcId="{69AE1444-23DB-41F6-AF84-1C1D42460F78}" destId="{FB287B93-2CF6-4C52-9C50-496D4E33523E}" srcOrd="0" destOrd="0" presId="urn:diagrams.loki3.com/BracketList"/>
    <dgm:cxn modelId="{A770844B-C650-4CA1-A669-B914067BC7E0}" type="presOf" srcId="{29311ABE-CCF8-4ADC-A88C-CDECA05242DB}" destId="{69EE1DEC-4262-4B97-933B-858987D7EACD}" srcOrd="0" destOrd="0" presId="urn:diagrams.loki3.com/BracketList"/>
    <dgm:cxn modelId="{A57E976B-4CB4-48DF-939E-9F3721326503}" srcId="{29311ABE-CCF8-4ADC-A88C-CDECA05242DB}" destId="{69AE1444-23DB-41F6-AF84-1C1D42460F78}" srcOrd="2" destOrd="0" parTransId="{4CFB7A83-86FE-46EE-9C57-466980845940}" sibTransId="{BB96FB55-E753-4B45-B739-6AB2C1820F51}"/>
    <dgm:cxn modelId="{ADC7B173-E324-4168-96A3-6A8D81DD3EEE}" type="presOf" srcId="{D79D0B42-E73B-4E9E-9025-0F7B2CBBF6FF}" destId="{5F54B5DE-36B0-436D-B641-BB6A8CE168B2}" srcOrd="0" destOrd="0" presId="urn:diagrams.loki3.com/BracketList"/>
    <dgm:cxn modelId="{D01B7D77-CA73-4770-86AB-3EDC4CDF2AE7}" srcId="{29311ABE-CCF8-4ADC-A88C-CDECA05242DB}" destId="{D79D0B42-E73B-4E9E-9025-0F7B2CBBF6FF}" srcOrd="1" destOrd="0" parTransId="{D5C62029-A5A1-4188-BE0B-12A88634D46D}" sibTransId="{CFA7A6DD-D04D-4011-8FE1-39E7B6B6C382}"/>
    <dgm:cxn modelId="{D813A288-660C-4779-85EC-040A70968043}" type="presOf" srcId="{5EB2645B-EEC9-43D9-BC9C-391F18ED8A7F}" destId="{0AA3A09B-557F-41A0-8F6B-B98E05F880A3}" srcOrd="0" destOrd="0" presId="urn:diagrams.loki3.com/BracketList"/>
    <dgm:cxn modelId="{8E371C92-8B04-4CA3-A7BC-7814586AF411}" srcId="{69AE1444-23DB-41F6-AF84-1C1D42460F78}" destId="{E44667FA-CB61-4455-9099-B8C1DD2B1C00}" srcOrd="0" destOrd="0" parTransId="{512F2FEC-BFAA-4BD8-92A1-419572F3F935}" sibTransId="{0615791C-539C-40F3-B51D-2A8247D1658D}"/>
    <dgm:cxn modelId="{BDE76ECA-E9D2-4634-9D0A-45365EB1C5E9}" type="presOf" srcId="{E44667FA-CB61-4455-9099-B8C1DD2B1C00}" destId="{A579CA07-CA7F-4324-9AE5-ED9FD57A3737}" srcOrd="0" destOrd="0" presId="urn:diagrams.loki3.com/BracketList"/>
    <dgm:cxn modelId="{7D3333E4-1144-45D4-A934-8FFA74F281CE}" type="presOf" srcId="{4C409CA8-5060-4255-AE5F-4AA23055BC34}" destId="{28D05962-4971-4A27-9938-A92BC45EAD33}" srcOrd="0" destOrd="0" presId="urn:diagrams.loki3.com/BracketList"/>
    <dgm:cxn modelId="{7F127AF3-DFEE-4CED-A97E-2AB7DE517B4C}" srcId="{5EB2645B-EEC9-43D9-BC9C-391F18ED8A7F}" destId="{68D2F2AE-64B7-4E21-860E-EEF8D2F48158}" srcOrd="0" destOrd="0" parTransId="{A704DB24-D846-4F83-8497-9475D6FF105D}" sibTransId="{C5B8FA06-E590-43E3-B76D-1F2D78491185}"/>
    <dgm:cxn modelId="{B538BBC6-0AAF-48AF-A633-9841B71028AA}" type="presParOf" srcId="{69EE1DEC-4262-4B97-933B-858987D7EACD}" destId="{B5FD22E2-A3AA-43EA-8EE4-3BDC6642614E}" srcOrd="0" destOrd="0" presId="urn:diagrams.loki3.com/BracketList"/>
    <dgm:cxn modelId="{04A98087-2797-40BF-886F-4A686F53B56F}" type="presParOf" srcId="{B5FD22E2-A3AA-43EA-8EE4-3BDC6642614E}" destId="{0AA3A09B-557F-41A0-8F6B-B98E05F880A3}" srcOrd="0" destOrd="0" presId="urn:diagrams.loki3.com/BracketList"/>
    <dgm:cxn modelId="{D488781D-069B-4805-944D-DB1C5CC510A3}" type="presParOf" srcId="{B5FD22E2-A3AA-43EA-8EE4-3BDC6642614E}" destId="{07D9A5AA-6CDF-451C-8D4C-F1DA15685620}" srcOrd="1" destOrd="0" presId="urn:diagrams.loki3.com/BracketList"/>
    <dgm:cxn modelId="{462CA593-D97E-4754-ABF9-814BA7258630}" type="presParOf" srcId="{B5FD22E2-A3AA-43EA-8EE4-3BDC6642614E}" destId="{BEB917F3-882D-4417-BCF7-ED2B6D79F521}" srcOrd="2" destOrd="0" presId="urn:diagrams.loki3.com/BracketList"/>
    <dgm:cxn modelId="{A8F184A6-135E-40BF-B6AB-E270B73DE6A5}" type="presParOf" srcId="{B5FD22E2-A3AA-43EA-8EE4-3BDC6642614E}" destId="{67A2132D-F590-42A4-ACF9-8AB81640FB30}" srcOrd="3" destOrd="0" presId="urn:diagrams.loki3.com/BracketList"/>
    <dgm:cxn modelId="{396C87F5-A2C8-49B3-83F6-63CF8C92D359}" type="presParOf" srcId="{69EE1DEC-4262-4B97-933B-858987D7EACD}" destId="{B2C67308-32BB-447C-874D-6E9414E56A57}" srcOrd="1" destOrd="0" presId="urn:diagrams.loki3.com/BracketList"/>
    <dgm:cxn modelId="{0BE9F8F1-8949-4F5C-BFAE-2C93428C2373}" type="presParOf" srcId="{69EE1DEC-4262-4B97-933B-858987D7EACD}" destId="{4BA31800-F016-4B11-9865-491C29EADA43}" srcOrd="2" destOrd="0" presId="urn:diagrams.loki3.com/BracketList"/>
    <dgm:cxn modelId="{71E4E943-C51B-4CFA-BABA-EB7B00BF5F3C}" type="presParOf" srcId="{4BA31800-F016-4B11-9865-491C29EADA43}" destId="{5F54B5DE-36B0-436D-B641-BB6A8CE168B2}" srcOrd="0" destOrd="0" presId="urn:diagrams.loki3.com/BracketList"/>
    <dgm:cxn modelId="{08CB07B2-A582-4403-BBF0-D5303E612BA9}" type="presParOf" srcId="{4BA31800-F016-4B11-9865-491C29EADA43}" destId="{143DC1FF-D0BC-4C78-BE9D-F44ABF1E96D7}" srcOrd="1" destOrd="0" presId="urn:diagrams.loki3.com/BracketList"/>
    <dgm:cxn modelId="{0BFBD769-976C-459D-AB0B-411A6989A704}" type="presParOf" srcId="{4BA31800-F016-4B11-9865-491C29EADA43}" destId="{60221260-49B3-4CB8-81F5-38BF50532286}" srcOrd="2" destOrd="0" presId="urn:diagrams.loki3.com/BracketList"/>
    <dgm:cxn modelId="{00E20B19-FA8E-47FF-9519-066E78ADDBAA}" type="presParOf" srcId="{4BA31800-F016-4B11-9865-491C29EADA43}" destId="{28D05962-4971-4A27-9938-A92BC45EAD33}" srcOrd="3" destOrd="0" presId="urn:diagrams.loki3.com/BracketList"/>
    <dgm:cxn modelId="{B0E05980-ED78-46C5-9150-EE353AB689E0}" type="presParOf" srcId="{69EE1DEC-4262-4B97-933B-858987D7EACD}" destId="{66B58093-3A19-494D-B88D-AD7B1676D592}" srcOrd="3" destOrd="0" presId="urn:diagrams.loki3.com/BracketList"/>
    <dgm:cxn modelId="{0FB3FD9E-AAE5-475A-80BB-E93BECBDBAA3}" type="presParOf" srcId="{69EE1DEC-4262-4B97-933B-858987D7EACD}" destId="{B02CEC9C-4D9C-4E71-8DB6-66118986728E}" srcOrd="4" destOrd="0" presId="urn:diagrams.loki3.com/BracketList"/>
    <dgm:cxn modelId="{C52E1410-CF3F-4568-AA40-0065208F6231}" type="presParOf" srcId="{B02CEC9C-4D9C-4E71-8DB6-66118986728E}" destId="{FB287B93-2CF6-4C52-9C50-496D4E33523E}" srcOrd="0" destOrd="0" presId="urn:diagrams.loki3.com/BracketList"/>
    <dgm:cxn modelId="{2C451D8A-10F3-48B2-960C-C0DA87C07059}" type="presParOf" srcId="{B02CEC9C-4D9C-4E71-8DB6-66118986728E}" destId="{421C5FD9-93AC-4250-8D26-37849BBE0EB1}" srcOrd="1" destOrd="0" presId="urn:diagrams.loki3.com/BracketList"/>
    <dgm:cxn modelId="{9112A292-AD55-45D0-8AEF-1D7C168F67B4}" type="presParOf" srcId="{B02CEC9C-4D9C-4E71-8DB6-66118986728E}" destId="{323A04A8-76C6-4884-BB78-BA0E86FDFC28}" srcOrd="2" destOrd="0" presId="urn:diagrams.loki3.com/BracketList"/>
    <dgm:cxn modelId="{0F2163BF-C4C4-4621-8E4C-8E2023222D81}" type="presParOf" srcId="{B02CEC9C-4D9C-4E71-8DB6-66118986728E}" destId="{A579CA07-CA7F-4324-9AE5-ED9FD57A3737}" srcOrd="3" destOrd="0" presId="urn:diagrams.loki3.com/BracketList"/>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6CB74437-4739-4899-B1E1-2DEF6BD2A9A9}" type="doc">
      <dgm:prSet loTypeId="list" loCatId="list" qsTypeId="urn:microsoft.com/office/officeart/2005/8/quickstyle/simple3" qsCatId="simple" csTypeId="urn:microsoft.com/office/officeart/2005/8/colors/accent1_2" csCatId="accent1" phldr="1"/>
      <dgm:spPr/>
      <dgm:t>
        <a:bodyPr/>
        <a:lstStyle/>
        <a:p>
          <a:endParaRPr lang="en-US"/>
        </a:p>
      </dgm:t>
    </dgm:pt>
    <dgm:pt modelId="{120CE7A3-C23E-4C4D-B04F-6BA0CE6993EB}">
      <dgm:prSet phldrT="[Text]" phldr="0" custT="1"/>
      <dgm:spPr/>
      <dgm:t>
        <a:bodyPr vert="horz" wrap="square"/>
        <a:p>
          <a:pPr>
            <a:lnSpc>
              <a:spcPct val="100000"/>
            </a:lnSpc>
            <a:spcBef>
              <a:spcPct val="0"/>
            </a:spcBef>
            <a:spcAft>
              <a:spcPct val="35000"/>
            </a:spcAft>
          </a:pPr>
          <a:r>
            <a:rPr lang="en-US" sz="1800" dirty="0">
              <a:latin typeface="Arial" panose="020B0604020202020204" pitchFamily="34" charset="0"/>
              <a:cs typeface="Arial" panose="020B0604020202020204" pitchFamily="34" charset="0"/>
            </a:rPr>
            <a:t>Text Cleaning</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3BE31B13-8C58-4AAA-A64F-0DDBBB59FE1F}" cxnId="{84D4410D-D764-4E2A-83D1-CF9F00C6C774}" type="parTrans">
      <dgm:prSet/>
      <dgm:spPr/>
      <dgm:t>
        <a:bodyPr/>
        <a:lstStyle/>
        <a:p>
          <a:endParaRPr lang="en-US"/>
        </a:p>
      </dgm:t>
    </dgm:pt>
    <dgm:pt modelId="{E072102B-3487-4DEC-8865-3984A432AEBB}" cxnId="{84D4410D-D764-4E2A-83D1-CF9F00C6C774}" type="sibTrans">
      <dgm:prSet/>
      <dgm:spPr/>
      <dgm:t>
        <a:bodyPr/>
        <a:lstStyle/>
        <a:p>
          <a:endParaRPr lang="en-US"/>
        </a:p>
      </dgm:t>
    </dgm:pt>
    <dgm:pt modelId="{4C4449E0-5CD5-4348-A344-A164F5FA10B9}">
      <dgm:prSet phldrT="[Text]" phldr="0" custT="1"/>
      <dgm:spPr/>
      <dgm:t>
        <a:bodyPr vert="horz" wrap="square"/>
        <a:p>
          <a:pPr>
            <a:lnSpc>
              <a:spcPct val="100000"/>
            </a:lnSpc>
            <a:spcBef>
              <a:spcPct val="0"/>
            </a:spcBef>
            <a:spcAft>
              <a:spcPct val="15000"/>
            </a:spcAft>
          </a:pPr>
          <a:r>
            <a:rPr lang="en-US" sz="1800" dirty="0">
              <a:solidFill>
                <a:srgbClr val="000000"/>
              </a:solidFill>
              <a:latin typeface="Arial" panose="020B0604020202020204" pitchFamily="34" charset="0"/>
              <a:cs typeface="Arial" panose="020B0604020202020204" pitchFamily="34" charset="0"/>
            </a:rPr>
            <a:t>Convert lowercase</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5BFAD9E4-B9ED-4926-9AC8-958008EF57AD}" cxnId="{22D83F25-B8B8-4F9F-9C21-3F9CC38E83EA}" type="parTrans">
      <dgm:prSet/>
      <dgm:spPr/>
      <dgm:t>
        <a:bodyPr/>
        <a:lstStyle/>
        <a:p>
          <a:endParaRPr lang="en-US"/>
        </a:p>
      </dgm:t>
    </dgm:pt>
    <dgm:pt modelId="{EB50C416-500A-49ED-A0E6-63A89170D6FD}" cxnId="{22D83F25-B8B8-4F9F-9C21-3F9CC38E83EA}" type="sibTrans">
      <dgm:prSet/>
      <dgm:spPr/>
      <dgm:t>
        <a:bodyPr/>
        <a:lstStyle/>
        <a:p>
          <a:endParaRPr lang="en-US"/>
        </a:p>
      </dgm:t>
    </dgm:pt>
    <dgm:pt modelId="{5BF5F3FB-4C46-4842-926F-CB1A1FA88814}">
      <dgm:prSet phldr="0" custT="1"/>
      <dgm:spPr/>
      <dgm:t>
        <a:bodyPr vert="horz" wrap="square"/>
        <a:p>
          <a:pPr>
            <a:lnSpc>
              <a:spcPct val="100000"/>
            </a:lnSpc>
            <a:spcBef>
              <a:spcPct val="0"/>
            </a:spcBef>
            <a:spcAft>
              <a:spcPct val="15000"/>
            </a:spcAft>
          </a:pPr>
          <a:r>
            <a:rPr lang="en-US" sz="1800" dirty="0">
              <a:solidFill>
                <a:srgbClr val="000000"/>
              </a:solidFill>
              <a:latin typeface="Arial" panose="020B0604020202020204" pitchFamily="34" charset="0"/>
              <a:cs typeface="Arial" panose="020B0604020202020204" pitchFamily="34" charset="0"/>
            </a:rPr>
            <a:t>Remove punctuations</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1F5DDD08-AD48-4616-B487-AAFF2760B598}" cxnId="{2EBE333C-A620-4EF7-A1D5-20020416C49F}" type="parTrans">
      <dgm:prSet/>
      <dgm:spPr/>
    </dgm:pt>
    <dgm:pt modelId="{067565B6-99C1-44A3-8405-4E9B27E1881F}" cxnId="{2EBE333C-A620-4EF7-A1D5-20020416C49F}" type="sibTrans">
      <dgm:prSet/>
      <dgm:spPr/>
    </dgm:pt>
    <dgm:pt modelId="{03E4BF49-25D8-4281-BD6D-6908CE348395}">
      <dgm:prSet phldr="0" custT="1"/>
      <dgm:spPr/>
      <dgm:t>
        <a:bodyPr vert="horz" wrap="square"/>
        <a:p>
          <a:pPr>
            <a:lnSpc>
              <a:spcPct val="100000"/>
            </a:lnSpc>
            <a:spcBef>
              <a:spcPct val="0"/>
            </a:spcBef>
            <a:spcAft>
              <a:spcPct val="15000"/>
            </a:spcAft>
          </a:pPr>
          <a:r>
            <a:rPr lang="en-US" sz="1800" dirty="0">
              <a:solidFill>
                <a:srgbClr val="000000"/>
              </a:solidFill>
              <a:latin typeface="Arial" panose="020B0604020202020204" pitchFamily="34" charset="0"/>
              <a:cs typeface="Arial" panose="020B0604020202020204" pitchFamily="34" charset="0"/>
            </a:rPr>
            <a:t>Remove non numeric/ non-alphabet characters</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064876E0-56E8-411B-B326-5808FBED3C71}" cxnId="{8CDDA8D9-9917-4907-A9AC-5A2FA88A322E}" type="parTrans">
      <dgm:prSet/>
      <dgm:spPr/>
    </dgm:pt>
    <dgm:pt modelId="{E42DAAAA-4352-46E9-A4EF-C63FF8414D12}" cxnId="{8CDDA8D9-9917-4907-A9AC-5A2FA88A322E}" type="sibTrans">
      <dgm:prSet/>
      <dgm:spPr/>
    </dgm:pt>
    <dgm:pt modelId="{C6254A08-475A-45C9-B94F-881D9CBF05FE}">
      <dgm:prSet phldrT="[Text]" phldr="0" custT="1"/>
      <dgm:spPr/>
      <dgm:t>
        <a:bodyPr vert="horz" wrap="square"/>
        <a:p>
          <a:pPr>
            <a:lnSpc>
              <a:spcPct val="100000"/>
            </a:lnSpc>
            <a:spcBef>
              <a:spcPct val="0"/>
            </a:spcBef>
            <a:spcAft>
              <a:spcPct val="35000"/>
            </a:spcAft>
          </a:pPr>
          <a:r>
            <a:rPr lang="en-US" sz="1800" dirty="0">
              <a:latin typeface="Arial" panose="020B0604020202020204" pitchFamily="34" charset="0"/>
              <a:cs typeface="Arial" panose="020B0604020202020204" pitchFamily="34" charset="0"/>
            </a:rPr>
            <a:t>Text Processing</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7856E29F-06CC-4108-9D85-477D1335B66D}" cxnId="{5AF59CC6-267D-4B23-9575-E282EADD8C66}" type="parTrans">
      <dgm:prSet/>
      <dgm:spPr/>
      <dgm:t>
        <a:bodyPr/>
        <a:lstStyle/>
        <a:p>
          <a:endParaRPr lang="en-US"/>
        </a:p>
      </dgm:t>
    </dgm:pt>
    <dgm:pt modelId="{9AD878A3-3041-4FFE-9499-17D409F1355C}" cxnId="{5AF59CC6-267D-4B23-9575-E282EADD8C66}" type="sibTrans">
      <dgm:prSet/>
      <dgm:spPr/>
      <dgm:t>
        <a:bodyPr/>
        <a:lstStyle/>
        <a:p>
          <a:endParaRPr lang="en-US"/>
        </a:p>
      </dgm:t>
    </dgm:pt>
    <dgm:pt modelId="{C9C5F545-3CD7-4C2B-AC66-DCB652432C39}">
      <dgm:prSet phldrT="[Tex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Tokenization</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4871DD0E-AE81-4EAA-B783-AED16BC58D01}" cxnId="{7C363439-87DE-4A9F-9FBB-13FEF4911CFC}" type="parTrans">
      <dgm:prSet/>
      <dgm:spPr/>
      <dgm:t>
        <a:bodyPr/>
        <a:lstStyle/>
        <a:p>
          <a:endParaRPr lang="en-US"/>
        </a:p>
      </dgm:t>
    </dgm:pt>
    <dgm:pt modelId="{CAA97B60-B9E8-4FD4-A1BB-8F0BBF027CE3}" cxnId="{7C363439-87DE-4A9F-9FBB-13FEF4911CFC}" type="sibTrans">
      <dgm:prSet/>
      <dgm:spPr/>
      <dgm:t>
        <a:bodyPr/>
        <a:lstStyle/>
        <a:p>
          <a:endParaRPr lang="en-US"/>
        </a:p>
      </dgm:t>
    </dgm:pt>
    <dgm:pt modelId="{AD40CC32-4645-4BDF-B7E9-3D7D15B5EDBE}">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Stemming</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3CE48281-B5ED-4715-833D-BB39AAE83F5E}" cxnId="{7C5C3A65-1445-4370-9C64-C4D70D04E04A}" type="parTrans">
      <dgm:prSet/>
      <dgm:spPr/>
    </dgm:pt>
    <dgm:pt modelId="{9FF6A3BE-4881-4025-8F35-AF566FF2FED6}" cxnId="{7C5C3A65-1445-4370-9C64-C4D70D04E04A}" type="sibTrans">
      <dgm:prSet/>
      <dgm:spPr/>
    </dgm:pt>
    <dgm:pt modelId="{23E65F8E-BFE9-4890-94CB-C24E457E844C}">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Lemmatization</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11B6069A-F339-441B-A323-1ED4410F7E9D}" cxnId="{4DA70441-FFF4-4FA3-8A8C-3300F9374888}" type="parTrans">
      <dgm:prSet/>
      <dgm:spPr/>
    </dgm:pt>
    <dgm:pt modelId="{82B39DCD-6581-4ABC-B8C1-D93C9B60FD57}" cxnId="{4DA70441-FFF4-4FA3-8A8C-3300F9374888}" type="sibTrans">
      <dgm:prSet/>
      <dgm:spPr/>
    </dgm:pt>
    <dgm:pt modelId="{4F440B3D-E784-4DE3-8715-CE1EAEB8465C}">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Stop word Removal</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3D40CBAD-820E-4CB5-9EA7-0C156DBC0B4B}" cxnId="{D46C23DE-3EE8-4FBA-9517-76E056A47681}" type="parTrans">
      <dgm:prSet/>
      <dgm:spPr/>
    </dgm:pt>
    <dgm:pt modelId="{6B78FFB4-E88D-440F-8D17-868133A9A472}" cxnId="{D46C23DE-3EE8-4FBA-9517-76E056A47681}" type="sibTrans">
      <dgm:prSet/>
      <dgm:spPr/>
    </dgm:pt>
    <dgm:pt modelId="{E069E320-DC36-4288-B778-71328E48DA31}">
      <dgm:prSet phldrT="[Text]" phldr="0" custT="1"/>
      <dgm:spPr/>
      <dgm:t>
        <a:bodyPr vert="horz" wrap="square"/>
        <a:p>
          <a:pPr>
            <a:lnSpc>
              <a:spcPct val="100000"/>
            </a:lnSpc>
            <a:spcBef>
              <a:spcPct val="0"/>
            </a:spcBef>
            <a:spcAft>
              <a:spcPct val="35000"/>
            </a:spcAft>
          </a:pPr>
          <a:r>
            <a:rPr lang="en-US" sz="1800" dirty="0">
              <a:latin typeface="Arial" panose="020B0604020202020204" pitchFamily="34" charset="0"/>
              <a:cs typeface="Arial" panose="020B0604020202020204" pitchFamily="34" charset="0"/>
            </a:rPr>
            <a:t>Features </a:t>
          </a:r>
          <a:r>
            <a:rPr lang="en-IN" altLang="en-US" sz="1800" dirty="0">
              <a:latin typeface="Arial" panose="020B0604020202020204" pitchFamily="34" charset="0"/>
              <a:cs typeface="Arial" panose="020B0604020202020204" pitchFamily="34" charset="0"/>
            </a:rPr>
            <a:t>E</a:t>
          </a:r>
          <a:r>
            <a:rPr lang="en-US" sz="1800" dirty="0">
              <a:latin typeface="Arial" panose="020B0604020202020204" pitchFamily="34" charset="0"/>
              <a:cs typeface="Arial" panose="020B0604020202020204" pitchFamily="34" charset="0"/>
            </a:rPr>
            <a:t>xtraction</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C6107C72-D3ED-4ADB-9BE7-754F573E929A}" cxnId="{D53186F3-3294-4A47-B81F-B591B1A256C4}" type="parTrans">
      <dgm:prSet/>
      <dgm:spPr/>
      <dgm:t>
        <a:bodyPr/>
        <a:lstStyle/>
        <a:p>
          <a:endParaRPr lang="en-US"/>
        </a:p>
      </dgm:t>
    </dgm:pt>
    <dgm:pt modelId="{22E5BB61-ADF6-4172-8CCB-8DE067233FEC}" cxnId="{D53186F3-3294-4A47-B81F-B591B1A256C4}" type="sibTrans">
      <dgm:prSet/>
      <dgm:spPr/>
      <dgm:t>
        <a:bodyPr/>
        <a:lstStyle/>
        <a:p>
          <a:endParaRPr lang="en-US"/>
        </a:p>
      </dgm:t>
    </dgm:pt>
    <dgm:pt modelId="{5C6BEF08-0849-44C3-97A5-985A284C14CD}">
      <dgm:prSet phldrT="[Tex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Bag of Word</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A12D2859-51AB-4C79-A83A-AEE736A4F559}" cxnId="{FA047BCC-07E4-46B3-A58A-FB1BF016AD49}" type="parTrans">
      <dgm:prSet/>
      <dgm:spPr/>
      <dgm:t>
        <a:bodyPr/>
        <a:lstStyle/>
        <a:p>
          <a:endParaRPr lang="en-US"/>
        </a:p>
      </dgm:t>
    </dgm:pt>
    <dgm:pt modelId="{71AA8C82-0EFD-4F9C-81D6-5C6D6FA56A17}" cxnId="{FA047BCC-07E4-46B3-A58A-FB1BF016AD49}" type="sibTrans">
      <dgm:prSet/>
      <dgm:spPr/>
      <dgm:t>
        <a:bodyPr/>
        <a:lstStyle/>
        <a:p>
          <a:endParaRPr lang="en-US"/>
        </a:p>
      </dgm:t>
    </dgm:pt>
    <dgm:pt modelId="{93ADFB5B-42F6-4436-B35F-F3F6255B0350}">
      <dgm:prSet phldr="0" custT="1"/>
      <dgm:spPr/>
      <dgm:t>
        <a:bodyPr vert="horz" wrap="square"/>
        <a:p>
          <a:pPr>
            <a:lnSpc>
              <a:spcPct val="100000"/>
            </a:lnSpc>
            <a:spcBef>
              <a:spcPct val="0"/>
            </a:spcBef>
            <a:spcAft>
              <a:spcPct val="15000"/>
            </a:spcAft>
          </a:pPr>
          <a:r>
            <a:rPr lang="en-US" sz="1800" dirty="0" err="1">
              <a:latin typeface="Arial" panose="020B0604020202020204" pitchFamily="34" charset="0"/>
              <a:cs typeface="Arial" panose="020B0604020202020204" pitchFamily="34" charset="0"/>
            </a:rPr>
            <a:t>Tf-idf</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330AC836-B4A2-4124-B57C-0C2326EF5C4A}" cxnId="{9118BAAD-0AFC-49FE-BFA7-092F3D93A46E}" type="parTrans">
      <dgm:prSet/>
      <dgm:spPr/>
    </dgm:pt>
    <dgm:pt modelId="{B214B122-1ADF-4B3F-BCAA-ACC81D70EAD7}" cxnId="{9118BAAD-0AFC-49FE-BFA7-092F3D93A46E}" type="sibTrans">
      <dgm:prSet/>
      <dgm:spPr/>
    </dgm:pt>
    <dgm:pt modelId="{D32A6DD3-B0FA-4798-B364-134D40DC2186}">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Word2vec</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DCE36224-4C69-400F-9CDB-AF5C5B89F014}" cxnId="{D86FC9BC-9743-4666-B133-D44784893AFA}" type="parTrans">
      <dgm:prSet/>
      <dgm:spPr/>
    </dgm:pt>
    <dgm:pt modelId="{FA1B1A79-4D8C-4EBF-9B09-D82D2FD6D32B}" cxnId="{D86FC9BC-9743-4666-B133-D44784893AFA}" type="sibTrans">
      <dgm:prSet/>
      <dgm:spPr/>
    </dgm:pt>
    <dgm:pt modelId="{C0ED3A6F-721E-4188-B022-40B58E43B707}">
      <dgm:prSet phldrT="[Text]" phldr="0" custT="1"/>
      <dgm:spPr/>
      <dgm:t>
        <a:bodyPr vert="horz" wrap="square"/>
        <a:p>
          <a:pPr>
            <a:lnSpc>
              <a:spcPct val="90000"/>
            </a:lnSpc>
            <a:spcBef>
              <a:spcPct val="0"/>
            </a:spcBef>
            <a:spcAft>
              <a:spcPct val="35000"/>
            </a:spcAft>
          </a:pPr>
          <a:r>
            <a:rPr lang="en-IN" altLang="en-US" sz="1800" dirty="0">
              <a:latin typeface="Arial" panose="020B0604020202020204" pitchFamily="34" charset="0"/>
              <a:cs typeface="Arial" panose="020B0604020202020204" pitchFamily="34" charset="0"/>
              <a:sym typeface="+mn-ea"/>
            </a:rPr>
            <a:t>Dimensionality </a:t>
          </a:r>
          <a:r>
            <a:rPr lang="en-IN" sz="1800" dirty="0">
              <a:latin typeface="Arial" panose="020B0604020202020204" pitchFamily="34" charset="0"/>
              <a:cs typeface="Arial" panose="020B0604020202020204" pitchFamily="34" charset="0"/>
              <a:sym typeface="+mn-ea"/>
            </a:rPr>
            <a:t>Reduction</a:t>
          </a:r>
          <a:r>
            <a:rPr lang="en-IN" sz="1800" dirty="0">
              <a:latin typeface="Arial" panose="020B0604020202020204" pitchFamily="34" charset="0"/>
              <a:cs typeface="Arial" panose="020B0604020202020204" pitchFamily="34" charset="0"/>
            </a:rPr>
            <a:t/>
          </a:r>
          <a:endParaRPr lang="en-IN" sz="1800" dirty="0">
            <a:latin typeface="Arial" panose="020B0604020202020204" pitchFamily="34" charset="0"/>
            <a:cs typeface="Arial" panose="020B0604020202020204" pitchFamily="34" charset="0"/>
          </a:endParaRPr>
        </a:p>
      </dgm:t>
    </dgm:pt>
    <dgm:pt modelId="{6ABEA825-BE9D-4300-B0A9-90D336949FDC}" cxnId="{7B46F1C9-FC08-4402-8402-3F8B707EE7E0}" type="parTrans">
      <dgm:prSet/>
      <dgm:spPr/>
      <dgm:t>
        <a:bodyPr/>
        <a:lstStyle/>
        <a:p>
          <a:endParaRPr lang="en-US"/>
        </a:p>
      </dgm:t>
    </dgm:pt>
    <dgm:pt modelId="{25E5408F-91F9-4B44-B836-DD08702672A5}" cxnId="{7B46F1C9-FC08-4402-8402-3F8B707EE7E0}" type="sibTrans">
      <dgm:prSet/>
      <dgm:spPr/>
      <dgm:t>
        <a:bodyPr/>
        <a:lstStyle/>
        <a:p>
          <a:endParaRPr lang="en-US"/>
        </a:p>
      </dgm:t>
    </dgm:pt>
    <dgm:pt modelId="{A4658DB9-E68D-4CC7-93BC-F6DA34EDFD73}">
      <dgm:prSet phldrT="[Tex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PCA</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9F6DF00D-2266-41C3-B3FA-57D27A4924C3}" cxnId="{F5E51058-64D1-48F7-B49C-E008BA4E3E21}" type="parTrans">
      <dgm:prSet/>
      <dgm:spPr/>
      <dgm:t>
        <a:bodyPr/>
        <a:lstStyle/>
        <a:p>
          <a:endParaRPr lang="en-US"/>
        </a:p>
      </dgm:t>
    </dgm:pt>
    <dgm:pt modelId="{FB24C83A-FF71-4B39-BF4A-3FDD2BB5FCC3}" cxnId="{F5E51058-64D1-48F7-B49C-E008BA4E3E21}" type="sibTrans">
      <dgm:prSet/>
      <dgm:spPr/>
      <dgm:t>
        <a:bodyPr/>
        <a:lstStyle/>
        <a:p>
          <a:endParaRPr lang="en-US"/>
        </a:p>
      </dgm:t>
    </dgm:pt>
    <dgm:pt modelId="{4E349952-3696-4D28-8F03-1C4E19E01DD3}">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T-</a:t>
          </a:r>
          <a:r>
            <a:rPr lang="en-US" sz="1800" dirty="0" err="1">
              <a:latin typeface="Arial" panose="020B0604020202020204" pitchFamily="34" charset="0"/>
              <a:cs typeface="Arial" panose="020B0604020202020204" pitchFamily="34" charset="0"/>
            </a:rPr>
            <a:t>sne</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5B9004A2-3167-42ED-90A4-6AC1DA3C4291}" cxnId="{B605E631-6BB5-4680-A3AB-A1B75241F571}" type="parTrans">
      <dgm:prSet/>
      <dgm:spPr/>
    </dgm:pt>
    <dgm:pt modelId="{7721084B-7634-4BC0-AEAD-F996E223451E}" cxnId="{B605E631-6BB5-4680-A3AB-A1B75241F571}" type="sibTrans">
      <dgm:prSet/>
      <dgm:spPr/>
    </dgm:pt>
    <dgm:pt modelId="{C6C63207-F74E-4BE2-82F6-DF7936CED34F}">
      <dgm:prSet phldr="0" custT="1"/>
      <dgm:spPr/>
      <dgm:t>
        <a:bodyPr vert="horz" wrap="square"/>
        <a:p>
          <a:pPr>
            <a:lnSpc>
              <a:spcPct val="100000"/>
            </a:lnSpc>
            <a:spcBef>
              <a:spcPct val="0"/>
            </a:spcBef>
            <a:spcAft>
              <a:spcPct val="15000"/>
            </a:spcAft>
          </a:pPr>
          <a:r>
            <a:rPr lang="en-US" sz="1800" dirty="0" err="1">
              <a:latin typeface="Arial" panose="020B0604020202020204" pitchFamily="34" charset="0"/>
              <a:cs typeface="Arial" panose="020B0604020202020204" pitchFamily="34" charset="0"/>
            </a:rPr>
            <a:t>Umap</a:t>
          </a:r>
          <a:r>
            <a:rPr lang="en-US" sz="1800" dirty="0">
              <a:latin typeface="Arial" panose="020B0604020202020204" pitchFamily="34" charset="0"/>
              <a:cs typeface="Arial" panose="020B0604020202020204" pitchFamily="34" charset="0"/>
            </a:rPr>
            <a:t> </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FB71287A-CE7D-4B9F-9952-E76CE027D03C}" cxnId="{FE5E150B-1D80-465C-A1E7-7B12BCAF2BC1}" type="parTrans">
      <dgm:prSet/>
      <dgm:spPr/>
    </dgm:pt>
    <dgm:pt modelId="{C2BC273C-64A8-4BC0-A421-7F720C9415FE}" cxnId="{FE5E150B-1D80-465C-A1E7-7B12BCAF2BC1}" type="sibTrans">
      <dgm:prSet/>
      <dgm:spPr/>
    </dgm:pt>
    <dgm:pt modelId="{09495874-49B5-4483-A36B-F5D48DAD8FCD}">
      <dgm:prSet phldr="0" custT="1"/>
      <dgm:spPr/>
      <dgm:t>
        <a:bodyPr vert="horz" wrap="square"/>
        <a:p>
          <a:pPr algn="ctr">
            <a:lnSpc>
              <a:spcPct val="100000"/>
            </a:lnSpc>
            <a:spcBef>
              <a:spcPct val="0"/>
            </a:spcBef>
            <a:spcAft>
              <a:spcPct val="35000"/>
            </a:spcAft>
          </a:pPr>
          <a:r>
            <a:rPr lang="en-US" sz="1800" dirty="0">
              <a:latin typeface="Arial" panose="020B0604020202020204" pitchFamily="34" charset="0"/>
              <a:cs typeface="Arial" panose="020B0604020202020204" pitchFamily="34" charset="0"/>
            </a:rPr>
            <a:t>Usage</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DC47E146-C41E-4707-BF6E-778CE1FED18A}" cxnId="{BEC94382-1AD4-4828-8A84-55BFCC10B68C}" type="parTrans">
      <dgm:prSet/>
      <dgm:spPr/>
      <dgm:t>
        <a:bodyPr/>
        <a:lstStyle/>
        <a:p>
          <a:endParaRPr lang="en-US"/>
        </a:p>
      </dgm:t>
    </dgm:pt>
    <dgm:pt modelId="{2B6E397A-BAF9-49CD-8A41-B89210CFE46C}" cxnId="{BEC94382-1AD4-4828-8A84-55BFCC10B68C}" type="sibTrans">
      <dgm:prSet/>
      <dgm:spPr/>
      <dgm:t>
        <a:bodyPr/>
        <a:lstStyle/>
        <a:p>
          <a:endParaRPr lang="en-US"/>
        </a:p>
      </dgm:t>
    </dgm:pt>
    <dgm:pt modelId="{0A8804ED-5665-4103-B549-6AB860743F12}">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Document Clustering</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B6E47668-8E73-4E5E-8BD7-5A59E740754E}" cxnId="{0D576240-39AB-4411-8F6D-151BA6BA7746}" type="parTrans">
      <dgm:prSet/>
      <dgm:spPr/>
      <dgm:t>
        <a:bodyPr/>
        <a:lstStyle/>
        <a:p>
          <a:endParaRPr lang="en-US"/>
        </a:p>
      </dgm:t>
    </dgm:pt>
    <dgm:pt modelId="{A0BE315E-FD46-4852-BAF5-9FEEB3A06BB3}" cxnId="{0D576240-39AB-4411-8F6D-151BA6BA7746}" type="sibTrans">
      <dgm:prSet/>
      <dgm:spPr/>
      <dgm:t>
        <a:bodyPr/>
        <a:lstStyle/>
        <a:p>
          <a:endParaRPr lang="en-US"/>
        </a:p>
      </dgm:t>
    </dgm:pt>
    <dgm:pt modelId="{56863189-794C-4E55-BDD4-5A44ADE03DA5}">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Topic modelling</a:t>
          </a:r>
          <a:r>
            <a:rPr lang="en-US" sz="1800" dirty="0">
              <a:latin typeface="Arial" panose="020B0604020202020204" pitchFamily="34" charset="0"/>
              <a:cs typeface="Arial" panose="020B0604020202020204" pitchFamily="34" charset="0"/>
            </a:rPr>
            <a:t/>
          </a:r>
          <a:endParaRPr lang="en-US" sz="1800" dirty="0">
            <a:latin typeface="Arial" panose="020B0604020202020204" pitchFamily="34" charset="0"/>
            <a:cs typeface="Arial" panose="020B0604020202020204" pitchFamily="34" charset="0"/>
          </a:endParaRPr>
        </a:p>
      </dgm:t>
    </dgm:pt>
    <dgm:pt modelId="{CDC84F6B-08DD-4DC4-94EE-7981DEB5FECB}" cxnId="{D0F0D1F6-EBA8-4EC8-848D-04AC4609AABE}" type="parTrans">
      <dgm:prSet/>
      <dgm:spPr/>
    </dgm:pt>
    <dgm:pt modelId="{6804307C-01B3-472C-AD98-C09623EE5863}" cxnId="{D0F0D1F6-EBA8-4EC8-848D-04AC4609AABE}" type="sibTrans">
      <dgm:prSet/>
      <dgm:spPr/>
    </dgm:pt>
    <dgm:pt modelId="{536D08A4-5649-4FC0-B0A9-FB90C73BB3FD}">
      <dgm:prSet phldr="0" custT="1"/>
      <dgm:spPr/>
      <dgm:t>
        <a:bodyPr vert="horz" wrap="square"/>
        <a:p>
          <a:pPr>
            <a:lnSpc>
              <a:spcPct val="100000"/>
            </a:lnSpc>
            <a:spcBef>
              <a:spcPct val="0"/>
            </a:spcBef>
            <a:spcAft>
              <a:spcPct val="15000"/>
            </a:spcAft>
          </a:pPr>
          <a:r>
            <a:rPr lang="en-US" sz="1800" dirty="0">
              <a:latin typeface="Arial" panose="020B0604020202020204" pitchFamily="34" charset="0"/>
              <a:cs typeface="Arial" panose="020B0604020202020204" pitchFamily="34" charset="0"/>
            </a:rPr>
            <a:t>Similar words </a:t>
          </a:r>
          <a:r>
            <a:rPr sz="1800">
              <a:latin typeface="Arial" panose="020B0604020202020204" pitchFamily="34" charset="0"/>
              <a:cs typeface="Arial" panose="020B0604020202020204" pitchFamily="34" charset="0"/>
            </a:rPr>
            <a:t/>
          </a:r>
          <a:endParaRPr sz="1800">
            <a:latin typeface="Arial" panose="020B0604020202020204" pitchFamily="34" charset="0"/>
            <a:cs typeface="Arial" panose="020B0604020202020204" pitchFamily="34" charset="0"/>
          </a:endParaRPr>
        </a:p>
      </dgm:t>
    </dgm:pt>
    <dgm:pt modelId="{2BEB0248-89BD-4874-B1CD-5043AAD0438A}" cxnId="{942AC0DC-B3EF-4619-8FB2-89C6B6FB4ED1}" type="parTrans">
      <dgm:prSet/>
      <dgm:spPr/>
    </dgm:pt>
    <dgm:pt modelId="{467B5E1D-F403-4875-89D7-35498FF49A54}" cxnId="{942AC0DC-B3EF-4619-8FB2-89C6B6FB4ED1}" type="sibTrans">
      <dgm:prSet/>
      <dgm:spPr/>
    </dgm:pt>
    <dgm:pt modelId="{611B9B7A-B154-42E7-89F8-6B540006199F}" type="pres">
      <dgm:prSet presAssocID="{6CB74437-4739-4899-B1E1-2DEF6BD2A9A9}" presName="Name0" presStyleCnt="0">
        <dgm:presLayoutVars>
          <dgm:dir/>
          <dgm:animLvl val="lvl"/>
          <dgm:resizeHandles val="exact"/>
        </dgm:presLayoutVars>
      </dgm:prSet>
      <dgm:spPr/>
    </dgm:pt>
    <dgm:pt modelId="{65776986-98BA-4181-B8A6-B90B3062BF8A}" type="pres">
      <dgm:prSet presAssocID="{120CE7A3-C23E-4C4D-B04F-6BA0CE6993EB}" presName="composite" presStyleCnt="0"/>
      <dgm:spPr/>
    </dgm:pt>
    <dgm:pt modelId="{31914CD7-C017-4B5F-A832-6FE9EF3A1617}" type="pres">
      <dgm:prSet presAssocID="{120CE7A3-C23E-4C4D-B04F-6BA0CE6993EB}" presName="parTx" presStyleLbl="alignNode1" presStyleIdx="0" presStyleCnt="5">
        <dgm:presLayoutVars>
          <dgm:chMax val="0"/>
          <dgm:chPref val="0"/>
          <dgm:bulletEnabled val="1"/>
        </dgm:presLayoutVars>
      </dgm:prSet>
      <dgm:spPr/>
    </dgm:pt>
    <dgm:pt modelId="{4256EE86-71D5-47EC-8711-7EFE5FDFC644}" type="pres">
      <dgm:prSet presAssocID="{120CE7A3-C23E-4C4D-B04F-6BA0CE6993EB}" presName="desTx" presStyleLbl="alignAccFollowNode1" presStyleIdx="0" presStyleCnt="5">
        <dgm:presLayoutVars>
          <dgm:bulletEnabled val="1"/>
        </dgm:presLayoutVars>
      </dgm:prSet>
      <dgm:spPr/>
    </dgm:pt>
    <dgm:pt modelId="{CE0C3422-5A6C-4E51-AF8B-E14749DE5296}" type="pres">
      <dgm:prSet presAssocID="{E072102B-3487-4DEC-8865-3984A432AEBB}" presName="space" presStyleCnt="0"/>
      <dgm:spPr/>
    </dgm:pt>
    <dgm:pt modelId="{A97F758D-DCDF-4E5B-9E03-7C5150716930}" type="pres">
      <dgm:prSet presAssocID="{C6254A08-475A-45C9-B94F-881D9CBF05FE}" presName="composite" presStyleCnt="0"/>
      <dgm:spPr/>
    </dgm:pt>
    <dgm:pt modelId="{10E4983F-4E59-472B-94A6-CBC1028B87A8}" type="pres">
      <dgm:prSet presAssocID="{C6254A08-475A-45C9-B94F-881D9CBF05FE}" presName="parTx" presStyleLbl="alignNode1" presStyleIdx="1" presStyleCnt="5">
        <dgm:presLayoutVars>
          <dgm:chMax val="0"/>
          <dgm:chPref val="0"/>
          <dgm:bulletEnabled val="1"/>
        </dgm:presLayoutVars>
      </dgm:prSet>
      <dgm:spPr/>
    </dgm:pt>
    <dgm:pt modelId="{2430FDD2-72E1-4B14-9F19-E10D3FA8A18E}" type="pres">
      <dgm:prSet presAssocID="{C6254A08-475A-45C9-B94F-881D9CBF05FE}" presName="desTx" presStyleLbl="alignAccFollowNode1" presStyleIdx="1" presStyleCnt="5">
        <dgm:presLayoutVars>
          <dgm:bulletEnabled val="1"/>
        </dgm:presLayoutVars>
      </dgm:prSet>
      <dgm:spPr/>
    </dgm:pt>
    <dgm:pt modelId="{067A9D9B-1B12-40BE-8E08-43BC1339752A}" type="pres">
      <dgm:prSet presAssocID="{9AD878A3-3041-4FFE-9499-17D409F1355C}" presName="space" presStyleCnt="0"/>
      <dgm:spPr/>
    </dgm:pt>
    <dgm:pt modelId="{EB99E099-B0CC-451C-8569-C64AE2A683B5}" type="pres">
      <dgm:prSet presAssocID="{E069E320-DC36-4288-B778-71328E48DA31}" presName="composite" presStyleCnt="0"/>
      <dgm:spPr/>
    </dgm:pt>
    <dgm:pt modelId="{4EC4B327-617A-4CC4-A6BC-F5F9B07FB8B0}" type="pres">
      <dgm:prSet presAssocID="{E069E320-DC36-4288-B778-71328E48DA31}" presName="parTx" presStyleLbl="alignNode1" presStyleIdx="2" presStyleCnt="5">
        <dgm:presLayoutVars>
          <dgm:chMax val="0"/>
          <dgm:chPref val="0"/>
          <dgm:bulletEnabled val="1"/>
        </dgm:presLayoutVars>
      </dgm:prSet>
      <dgm:spPr/>
    </dgm:pt>
    <dgm:pt modelId="{97357075-848C-4737-9147-7DAA4C88CD5C}" type="pres">
      <dgm:prSet presAssocID="{E069E320-DC36-4288-B778-71328E48DA31}" presName="desTx" presStyleLbl="alignAccFollowNode1" presStyleIdx="2" presStyleCnt="5">
        <dgm:presLayoutVars>
          <dgm:bulletEnabled val="1"/>
        </dgm:presLayoutVars>
      </dgm:prSet>
      <dgm:spPr/>
    </dgm:pt>
    <dgm:pt modelId="{C697BE7E-44D4-4BC7-9668-8E89283BADB1}" type="pres">
      <dgm:prSet presAssocID="{22E5BB61-ADF6-4172-8CCB-8DE067233FEC}" presName="space" presStyleCnt="0"/>
      <dgm:spPr/>
    </dgm:pt>
    <dgm:pt modelId="{2EF82F5D-C30B-434A-89C3-587808BB4CC5}" type="pres">
      <dgm:prSet presAssocID="{C0ED3A6F-721E-4188-B022-40B58E43B707}" presName="composite" presStyleCnt="0"/>
      <dgm:spPr/>
    </dgm:pt>
    <dgm:pt modelId="{39D13B45-26B8-4E95-B8CD-5B84F86EB02A}" type="pres">
      <dgm:prSet presAssocID="{C0ED3A6F-721E-4188-B022-40B58E43B707}" presName="parTx" presStyleLbl="alignNode1" presStyleIdx="3" presStyleCnt="5">
        <dgm:presLayoutVars>
          <dgm:chMax val="0"/>
          <dgm:chPref val="0"/>
          <dgm:bulletEnabled val="1"/>
        </dgm:presLayoutVars>
      </dgm:prSet>
      <dgm:spPr/>
    </dgm:pt>
    <dgm:pt modelId="{84BA413D-16D6-4158-9C5F-55741E7FDD59}" type="pres">
      <dgm:prSet presAssocID="{C0ED3A6F-721E-4188-B022-40B58E43B707}" presName="desTx" presStyleLbl="alignAccFollowNode1" presStyleIdx="3" presStyleCnt="5">
        <dgm:presLayoutVars>
          <dgm:bulletEnabled val="1"/>
        </dgm:presLayoutVars>
      </dgm:prSet>
      <dgm:spPr/>
    </dgm:pt>
    <dgm:pt modelId="{595B7C89-79F5-478B-9689-9272344D8BC1}" type="pres">
      <dgm:prSet presAssocID="{25E5408F-91F9-4B44-B836-DD08702672A5}" presName="space" presStyleCnt="0"/>
      <dgm:spPr/>
    </dgm:pt>
    <dgm:pt modelId="{F694707C-1D5C-49AD-B5C6-884B44B16555}" type="pres">
      <dgm:prSet presAssocID="{09495874-49B5-4483-A36B-F5D48DAD8FCD}" presName="composite" presStyleCnt="0"/>
      <dgm:spPr/>
    </dgm:pt>
    <dgm:pt modelId="{AE960F01-5D5F-4ADF-A925-503FE159D0FC}" type="pres">
      <dgm:prSet presAssocID="{09495874-49B5-4483-A36B-F5D48DAD8FCD}" presName="parTx" presStyleLbl="alignNode1" presStyleIdx="4" presStyleCnt="5">
        <dgm:presLayoutVars>
          <dgm:chMax val="0"/>
          <dgm:chPref val="0"/>
          <dgm:bulletEnabled val="1"/>
        </dgm:presLayoutVars>
      </dgm:prSet>
      <dgm:spPr/>
    </dgm:pt>
    <dgm:pt modelId="{041B5808-5311-4C14-84CD-21E9BCFE7494}" type="pres">
      <dgm:prSet presAssocID="{09495874-49B5-4483-A36B-F5D48DAD8FCD}" presName="desTx" presStyleLbl="alignAccFollowNode1" presStyleIdx="4" presStyleCnt="5">
        <dgm:presLayoutVars>
          <dgm:bulletEnabled val="1"/>
        </dgm:presLayoutVars>
      </dgm:prSet>
      <dgm:spPr/>
    </dgm:pt>
  </dgm:ptLst>
  <dgm:cxnLst>
    <dgm:cxn modelId="{84D4410D-D764-4E2A-83D1-CF9F00C6C774}" srcId="{6CB74437-4739-4899-B1E1-2DEF6BD2A9A9}" destId="{120CE7A3-C23E-4C4D-B04F-6BA0CE6993EB}" srcOrd="0" destOrd="0" parTransId="{3BE31B13-8C58-4AAA-A64F-0DDBBB59FE1F}" sibTransId="{E072102B-3487-4DEC-8865-3984A432AEBB}"/>
    <dgm:cxn modelId="{22D83F25-B8B8-4F9F-9C21-3F9CC38E83EA}" srcId="{120CE7A3-C23E-4C4D-B04F-6BA0CE6993EB}" destId="{4C4449E0-5CD5-4348-A344-A164F5FA10B9}" srcOrd="0" destOrd="0" parTransId="{5BFAD9E4-B9ED-4926-9AC8-958008EF57AD}" sibTransId="{EB50C416-500A-49ED-A0E6-63A89170D6FD}"/>
    <dgm:cxn modelId="{2EBE333C-A620-4EF7-A1D5-20020416C49F}" srcId="{120CE7A3-C23E-4C4D-B04F-6BA0CE6993EB}" destId="{5BF5F3FB-4C46-4842-926F-CB1A1FA88814}" srcOrd="1" destOrd="0" parTransId="{1F5DDD08-AD48-4616-B487-AAFF2760B598}" sibTransId="{067565B6-99C1-44A3-8405-4E9B27E1881F}"/>
    <dgm:cxn modelId="{8CDDA8D9-9917-4907-A9AC-5A2FA88A322E}" srcId="{120CE7A3-C23E-4C4D-B04F-6BA0CE6993EB}" destId="{03E4BF49-25D8-4281-BD6D-6908CE348395}" srcOrd="2" destOrd="0" parTransId="{064876E0-56E8-411B-B326-5808FBED3C71}" sibTransId="{E42DAAAA-4352-46E9-A4EF-C63FF8414D12}"/>
    <dgm:cxn modelId="{5AF59CC6-267D-4B23-9575-E282EADD8C66}" srcId="{6CB74437-4739-4899-B1E1-2DEF6BD2A9A9}" destId="{C6254A08-475A-45C9-B94F-881D9CBF05FE}" srcOrd="1" destOrd="0" parTransId="{7856E29F-06CC-4108-9D85-477D1335B66D}" sibTransId="{9AD878A3-3041-4FFE-9499-17D409F1355C}"/>
    <dgm:cxn modelId="{7C363439-87DE-4A9F-9FBB-13FEF4911CFC}" srcId="{C6254A08-475A-45C9-B94F-881D9CBF05FE}" destId="{C9C5F545-3CD7-4C2B-AC66-DCB652432C39}" srcOrd="0" destOrd="1" parTransId="{4871DD0E-AE81-4EAA-B783-AED16BC58D01}" sibTransId="{CAA97B60-B9E8-4FD4-A1BB-8F0BBF027CE3}"/>
    <dgm:cxn modelId="{7C5C3A65-1445-4370-9C64-C4D70D04E04A}" srcId="{C6254A08-475A-45C9-B94F-881D9CBF05FE}" destId="{AD40CC32-4645-4BDF-B7E9-3D7D15B5EDBE}" srcOrd="1" destOrd="1" parTransId="{3CE48281-B5ED-4715-833D-BB39AAE83F5E}" sibTransId="{9FF6A3BE-4881-4025-8F35-AF566FF2FED6}"/>
    <dgm:cxn modelId="{4DA70441-FFF4-4FA3-8A8C-3300F9374888}" srcId="{C6254A08-475A-45C9-B94F-881D9CBF05FE}" destId="{23E65F8E-BFE9-4890-94CB-C24E457E844C}" srcOrd="2" destOrd="1" parTransId="{11B6069A-F339-441B-A323-1ED4410F7E9D}" sibTransId="{82B39DCD-6581-4ABC-B8C1-D93C9B60FD57}"/>
    <dgm:cxn modelId="{D46C23DE-3EE8-4FBA-9517-76E056A47681}" srcId="{C6254A08-475A-45C9-B94F-881D9CBF05FE}" destId="{4F440B3D-E784-4DE3-8715-CE1EAEB8465C}" srcOrd="3" destOrd="1" parTransId="{3D40CBAD-820E-4CB5-9EA7-0C156DBC0B4B}" sibTransId="{6B78FFB4-E88D-440F-8D17-868133A9A472}"/>
    <dgm:cxn modelId="{D53186F3-3294-4A47-B81F-B591B1A256C4}" srcId="{6CB74437-4739-4899-B1E1-2DEF6BD2A9A9}" destId="{E069E320-DC36-4288-B778-71328E48DA31}" srcOrd="2" destOrd="0" parTransId="{C6107C72-D3ED-4ADB-9BE7-754F573E929A}" sibTransId="{22E5BB61-ADF6-4172-8CCB-8DE067233FEC}"/>
    <dgm:cxn modelId="{FA047BCC-07E4-46B3-A58A-FB1BF016AD49}" srcId="{E069E320-DC36-4288-B778-71328E48DA31}" destId="{5C6BEF08-0849-44C3-97A5-985A284C14CD}" srcOrd="0" destOrd="2" parTransId="{A12D2859-51AB-4C79-A83A-AEE736A4F559}" sibTransId="{71AA8C82-0EFD-4F9C-81D6-5C6D6FA56A17}"/>
    <dgm:cxn modelId="{9118BAAD-0AFC-49FE-BFA7-092F3D93A46E}" srcId="{E069E320-DC36-4288-B778-71328E48DA31}" destId="{93ADFB5B-42F6-4436-B35F-F3F6255B0350}" srcOrd="1" destOrd="2" parTransId="{330AC836-B4A2-4124-B57C-0C2326EF5C4A}" sibTransId="{B214B122-1ADF-4B3F-BCAA-ACC81D70EAD7}"/>
    <dgm:cxn modelId="{D86FC9BC-9743-4666-B133-D44784893AFA}" srcId="{E069E320-DC36-4288-B778-71328E48DA31}" destId="{D32A6DD3-B0FA-4798-B364-134D40DC2186}" srcOrd="2" destOrd="2" parTransId="{DCE36224-4C69-400F-9CDB-AF5C5B89F014}" sibTransId="{FA1B1A79-4D8C-4EBF-9B09-D82D2FD6D32B}"/>
    <dgm:cxn modelId="{7B46F1C9-FC08-4402-8402-3F8B707EE7E0}" srcId="{6CB74437-4739-4899-B1E1-2DEF6BD2A9A9}" destId="{C0ED3A6F-721E-4188-B022-40B58E43B707}" srcOrd="3" destOrd="0" parTransId="{6ABEA825-BE9D-4300-B0A9-90D336949FDC}" sibTransId="{25E5408F-91F9-4B44-B836-DD08702672A5}"/>
    <dgm:cxn modelId="{F5E51058-64D1-48F7-B49C-E008BA4E3E21}" srcId="{C0ED3A6F-721E-4188-B022-40B58E43B707}" destId="{A4658DB9-E68D-4CC7-93BC-F6DA34EDFD73}" srcOrd="0" destOrd="3" parTransId="{9F6DF00D-2266-41C3-B3FA-57D27A4924C3}" sibTransId="{FB24C83A-FF71-4B39-BF4A-3FDD2BB5FCC3}"/>
    <dgm:cxn modelId="{B605E631-6BB5-4680-A3AB-A1B75241F571}" srcId="{C0ED3A6F-721E-4188-B022-40B58E43B707}" destId="{4E349952-3696-4D28-8F03-1C4E19E01DD3}" srcOrd="1" destOrd="3" parTransId="{5B9004A2-3167-42ED-90A4-6AC1DA3C4291}" sibTransId="{7721084B-7634-4BC0-AEAD-F996E223451E}"/>
    <dgm:cxn modelId="{FE5E150B-1D80-465C-A1E7-7B12BCAF2BC1}" srcId="{C0ED3A6F-721E-4188-B022-40B58E43B707}" destId="{C6C63207-F74E-4BE2-82F6-DF7936CED34F}" srcOrd="2" destOrd="3" parTransId="{FB71287A-CE7D-4B9F-9952-E76CE027D03C}" sibTransId="{C2BC273C-64A8-4BC0-A421-7F720C9415FE}"/>
    <dgm:cxn modelId="{BEC94382-1AD4-4828-8A84-55BFCC10B68C}" srcId="{6CB74437-4739-4899-B1E1-2DEF6BD2A9A9}" destId="{09495874-49B5-4483-A36B-F5D48DAD8FCD}" srcOrd="4" destOrd="0" parTransId="{DC47E146-C41E-4707-BF6E-778CE1FED18A}" sibTransId="{2B6E397A-BAF9-49CD-8A41-B89210CFE46C}"/>
    <dgm:cxn modelId="{0D576240-39AB-4411-8F6D-151BA6BA7746}" srcId="{09495874-49B5-4483-A36B-F5D48DAD8FCD}" destId="{0A8804ED-5665-4103-B549-6AB860743F12}" srcOrd="0" destOrd="4" parTransId="{B6E47668-8E73-4E5E-8BD7-5A59E740754E}" sibTransId="{A0BE315E-FD46-4852-BAF5-9FEEB3A06BB3}"/>
    <dgm:cxn modelId="{D0F0D1F6-EBA8-4EC8-848D-04AC4609AABE}" srcId="{09495874-49B5-4483-A36B-F5D48DAD8FCD}" destId="{56863189-794C-4E55-BDD4-5A44ADE03DA5}" srcOrd="1" destOrd="4" parTransId="{CDC84F6B-08DD-4DC4-94EE-7981DEB5FECB}" sibTransId="{6804307C-01B3-472C-AD98-C09623EE5863}"/>
    <dgm:cxn modelId="{942AC0DC-B3EF-4619-8FB2-89C6B6FB4ED1}" srcId="{09495874-49B5-4483-A36B-F5D48DAD8FCD}" destId="{536D08A4-5649-4FC0-B0A9-FB90C73BB3FD}" srcOrd="2" destOrd="4" parTransId="{2BEB0248-89BD-4874-B1CD-5043AAD0438A}" sibTransId="{467B5E1D-F403-4875-89D7-35498FF49A54}"/>
    <dgm:cxn modelId="{F4599488-B090-4ABD-A725-E2C3124839FB}" type="presOf" srcId="{6CB74437-4739-4899-B1E1-2DEF6BD2A9A9}" destId="{611B9B7A-B154-42E7-89F8-6B540006199F}" srcOrd="0" destOrd="0" presId="urn:microsoft.com/office/officeart/2005/8/layout/hList1"/>
    <dgm:cxn modelId="{808398CC-5065-4146-B586-92B35D68EFE2}" type="presParOf" srcId="{611B9B7A-B154-42E7-89F8-6B540006199F}" destId="{65776986-98BA-4181-B8A6-B90B3062BF8A}" srcOrd="0" destOrd="0" presId="urn:microsoft.com/office/officeart/2005/8/layout/hList1"/>
    <dgm:cxn modelId="{CF871B3F-07B6-4185-A419-A4FDFA6A0301}" type="presParOf" srcId="{65776986-98BA-4181-B8A6-B90B3062BF8A}" destId="{31914CD7-C017-4B5F-A832-6FE9EF3A1617}" srcOrd="0" destOrd="0" presId="urn:microsoft.com/office/officeart/2005/8/layout/hList1"/>
    <dgm:cxn modelId="{FE6EEB2F-0F04-4508-B798-677722662CD2}" type="presOf" srcId="{120CE7A3-C23E-4C4D-B04F-6BA0CE6993EB}" destId="{31914CD7-C017-4B5F-A832-6FE9EF3A1617}" srcOrd="0" destOrd="0" presId="urn:microsoft.com/office/officeart/2005/8/layout/hList1"/>
    <dgm:cxn modelId="{5BBCBB26-272B-4938-99B5-AD2216C9922A}" type="presParOf" srcId="{65776986-98BA-4181-B8A6-B90B3062BF8A}" destId="{4256EE86-71D5-47EC-8711-7EFE5FDFC644}" srcOrd="1" destOrd="0" presId="urn:microsoft.com/office/officeart/2005/8/layout/hList1"/>
    <dgm:cxn modelId="{A0EB2387-54A4-41EC-9298-93A4501CD32D}" type="presOf" srcId="{4C4449E0-5CD5-4348-A344-A164F5FA10B9}" destId="{4256EE86-71D5-47EC-8711-7EFE5FDFC644}" srcOrd="0" destOrd="0" presId="urn:microsoft.com/office/officeart/2005/8/layout/hList1"/>
    <dgm:cxn modelId="{2C06B6D6-1C04-4C4C-BDBF-313EE686969F}" type="presOf" srcId="{5BF5F3FB-4C46-4842-926F-CB1A1FA88814}" destId="{4256EE86-71D5-47EC-8711-7EFE5FDFC644}" srcOrd="0" destOrd="1" presId="urn:microsoft.com/office/officeart/2005/8/layout/hList1"/>
    <dgm:cxn modelId="{82FFA4DD-ECD6-44DD-BE40-3F7067CFB1B4}" type="presOf" srcId="{03E4BF49-25D8-4281-BD6D-6908CE348395}" destId="{4256EE86-71D5-47EC-8711-7EFE5FDFC644}" srcOrd="0" destOrd="2" presId="urn:microsoft.com/office/officeart/2005/8/layout/hList1"/>
    <dgm:cxn modelId="{89E57761-B3E4-4E6D-ADD5-114FA8963F46}" type="presParOf" srcId="{611B9B7A-B154-42E7-89F8-6B540006199F}" destId="{CE0C3422-5A6C-4E51-AF8B-E14749DE5296}" srcOrd="1" destOrd="0" presId="urn:microsoft.com/office/officeart/2005/8/layout/hList1"/>
    <dgm:cxn modelId="{0EF92618-CAB1-4DED-AABE-226E2B01A009}" type="presParOf" srcId="{611B9B7A-B154-42E7-89F8-6B540006199F}" destId="{A97F758D-DCDF-4E5B-9E03-7C5150716930}" srcOrd="2" destOrd="0" presId="urn:microsoft.com/office/officeart/2005/8/layout/hList1"/>
    <dgm:cxn modelId="{41288B5B-9DEE-4061-994B-8F05B425F530}" type="presParOf" srcId="{A97F758D-DCDF-4E5B-9E03-7C5150716930}" destId="{10E4983F-4E59-472B-94A6-CBC1028B87A8}" srcOrd="0" destOrd="2" presId="urn:microsoft.com/office/officeart/2005/8/layout/hList1"/>
    <dgm:cxn modelId="{17D6EE2F-7DDB-4587-B788-64F27DCCAB3A}" type="presOf" srcId="{C6254A08-475A-45C9-B94F-881D9CBF05FE}" destId="{10E4983F-4E59-472B-94A6-CBC1028B87A8}" srcOrd="0" destOrd="0" presId="urn:microsoft.com/office/officeart/2005/8/layout/hList1"/>
    <dgm:cxn modelId="{6EDBD5D5-23C5-4750-947E-8FC537033E8B}" type="presParOf" srcId="{A97F758D-DCDF-4E5B-9E03-7C5150716930}" destId="{2430FDD2-72E1-4B14-9F19-E10D3FA8A18E}" srcOrd="1" destOrd="2" presId="urn:microsoft.com/office/officeart/2005/8/layout/hList1"/>
    <dgm:cxn modelId="{AB1B08F6-A778-429D-98AB-3629830F8857}" type="presOf" srcId="{C9C5F545-3CD7-4C2B-AC66-DCB652432C39}" destId="{2430FDD2-72E1-4B14-9F19-E10D3FA8A18E}" srcOrd="0" destOrd="0" presId="urn:microsoft.com/office/officeart/2005/8/layout/hList1"/>
    <dgm:cxn modelId="{020F1027-6546-4E38-91E7-FED4CCBAAF7C}" type="presOf" srcId="{AD40CC32-4645-4BDF-B7E9-3D7D15B5EDBE}" destId="{2430FDD2-72E1-4B14-9F19-E10D3FA8A18E}" srcOrd="0" destOrd="1" presId="urn:microsoft.com/office/officeart/2005/8/layout/hList1"/>
    <dgm:cxn modelId="{B0F3C4B5-01B6-42A3-A9B8-2987FE8D2127}" type="presOf" srcId="{23E65F8E-BFE9-4890-94CB-C24E457E844C}" destId="{2430FDD2-72E1-4B14-9F19-E10D3FA8A18E}" srcOrd="0" destOrd="2" presId="urn:microsoft.com/office/officeart/2005/8/layout/hList1"/>
    <dgm:cxn modelId="{6EC7089C-948C-4365-AE65-42D40AC972BD}" type="presOf" srcId="{4F440B3D-E784-4DE3-8715-CE1EAEB8465C}" destId="{2430FDD2-72E1-4B14-9F19-E10D3FA8A18E}" srcOrd="0" destOrd="3" presId="urn:microsoft.com/office/officeart/2005/8/layout/hList1"/>
    <dgm:cxn modelId="{E15DA892-5BA3-4703-BD7D-594BCD180E1E}" type="presParOf" srcId="{611B9B7A-B154-42E7-89F8-6B540006199F}" destId="{067A9D9B-1B12-40BE-8E08-43BC1339752A}" srcOrd="3" destOrd="0" presId="urn:microsoft.com/office/officeart/2005/8/layout/hList1"/>
    <dgm:cxn modelId="{79E4E456-5821-4107-8073-F923AED3FDBC}" type="presParOf" srcId="{611B9B7A-B154-42E7-89F8-6B540006199F}" destId="{EB99E099-B0CC-451C-8569-C64AE2A683B5}" srcOrd="4" destOrd="0" presId="urn:microsoft.com/office/officeart/2005/8/layout/hList1"/>
    <dgm:cxn modelId="{8BC2FFC6-68C3-48C1-ABCF-00FDEB321D2C}" type="presParOf" srcId="{EB99E099-B0CC-451C-8569-C64AE2A683B5}" destId="{4EC4B327-617A-4CC4-A6BC-F5F9B07FB8B0}" srcOrd="0" destOrd="4" presId="urn:microsoft.com/office/officeart/2005/8/layout/hList1"/>
    <dgm:cxn modelId="{F7BB9A6B-DE34-4E79-9F65-05F3B5BDEA4E}" type="presOf" srcId="{E069E320-DC36-4288-B778-71328E48DA31}" destId="{4EC4B327-617A-4CC4-A6BC-F5F9B07FB8B0}" srcOrd="0" destOrd="0" presId="urn:microsoft.com/office/officeart/2005/8/layout/hList1"/>
    <dgm:cxn modelId="{FA969DC2-54BE-4B6B-A5A9-25246C180BCA}" type="presParOf" srcId="{EB99E099-B0CC-451C-8569-C64AE2A683B5}" destId="{97357075-848C-4737-9147-7DAA4C88CD5C}" srcOrd="1" destOrd="4" presId="urn:microsoft.com/office/officeart/2005/8/layout/hList1"/>
    <dgm:cxn modelId="{A98E69DE-C845-4589-A07D-45AFA5F1B3A1}" type="presOf" srcId="{5C6BEF08-0849-44C3-97A5-985A284C14CD}" destId="{97357075-848C-4737-9147-7DAA4C88CD5C}" srcOrd="0" destOrd="0" presId="urn:microsoft.com/office/officeart/2005/8/layout/hList1"/>
    <dgm:cxn modelId="{E6C7C14E-5237-4D71-B607-9C1FECE0C3E7}" type="presOf" srcId="{93ADFB5B-42F6-4436-B35F-F3F6255B0350}" destId="{97357075-848C-4737-9147-7DAA4C88CD5C}" srcOrd="0" destOrd="1" presId="urn:microsoft.com/office/officeart/2005/8/layout/hList1"/>
    <dgm:cxn modelId="{F6AB1A91-D4E6-4F4C-BE5B-44F63ADC1BC2}" type="presOf" srcId="{D32A6DD3-B0FA-4798-B364-134D40DC2186}" destId="{97357075-848C-4737-9147-7DAA4C88CD5C}" srcOrd="0" destOrd="2" presId="urn:microsoft.com/office/officeart/2005/8/layout/hList1"/>
    <dgm:cxn modelId="{E3B3B840-B7B0-4D91-B8D3-91B7C6F777FB}" type="presParOf" srcId="{611B9B7A-B154-42E7-89F8-6B540006199F}" destId="{C697BE7E-44D4-4BC7-9668-8E89283BADB1}" srcOrd="5" destOrd="0" presId="urn:microsoft.com/office/officeart/2005/8/layout/hList1"/>
    <dgm:cxn modelId="{A1B3FC7E-B4A1-43A3-AC1D-423059F7688A}" type="presParOf" srcId="{611B9B7A-B154-42E7-89F8-6B540006199F}" destId="{2EF82F5D-C30B-434A-89C3-587808BB4CC5}" srcOrd="6" destOrd="0" presId="urn:microsoft.com/office/officeart/2005/8/layout/hList1"/>
    <dgm:cxn modelId="{A47AA0A0-5D07-4BC6-B525-39EF725C11E6}" type="presParOf" srcId="{2EF82F5D-C30B-434A-89C3-587808BB4CC5}" destId="{39D13B45-26B8-4E95-B8CD-5B84F86EB02A}" srcOrd="0" destOrd="6" presId="urn:microsoft.com/office/officeart/2005/8/layout/hList1"/>
    <dgm:cxn modelId="{98CC2848-1B76-494B-B9A8-DCD7513CDBF6}" type="presOf" srcId="{C0ED3A6F-721E-4188-B022-40B58E43B707}" destId="{39D13B45-26B8-4E95-B8CD-5B84F86EB02A}" srcOrd="0" destOrd="0" presId="urn:microsoft.com/office/officeart/2005/8/layout/hList1"/>
    <dgm:cxn modelId="{FD0B86E8-4409-4F3C-AF20-6EF8A8B9D789}" type="presParOf" srcId="{2EF82F5D-C30B-434A-89C3-587808BB4CC5}" destId="{84BA413D-16D6-4158-9C5F-55741E7FDD59}" srcOrd="1" destOrd="6" presId="urn:microsoft.com/office/officeart/2005/8/layout/hList1"/>
    <dgm:cxn modelId="{80F8163D-B4F9-4E44-BF01-96A8D54AC4BC}" type="presOf" srcId="{A4658DB9-E68D-4CC7-93BC-F6DA34EDFD73}" destId="{84BA413D-16D6-4158-9C5F-55741E7FDD59}" srcOrd="0" destOrd="0" presId="urn:microsoft.com/office/officeart/2005/8/layout/hList1"/>
    <dgm:cxn modelId="{1C8FD70C-5C08-4DE5-88F3-6B4E11A68A0B}" type="presOf" srcId="{4E349952-3696-4D28-8F03-1C4E19E01DD3}" destId="{84BA413D-16D6-4158-9C5F-55741E7FDD59}" srcOrd="0" destOrd="1" presId="urn:microsoft.com/office/officeart/2005/8/layout/hList1"/>
    <dgm:cxn modelId="{CEEBDFEA-E85B-4538-AE8F-503CF795137F}" type="presOf" srcId="{C6C63207-F74E-4BE2-82F6-DF7936CED34F}" destId="{84BA413D-16D6-4158-9C5F-55741E7FDD59}" srcOrd="0" destOrd="2" presId="urn:microsoft.com/office/officeart/2005/8/layout/hList1"/>
    <dgm:cxn modelId="{BD531833-EF97-4792-988D-5891285AEFE1}" type="presParOf" srcId="{611B9B7A-B154-42E7-89F8-6B540006199F}" destId="{595B7C89-79F5-478B-9689-9272344D8BC1}" srcOrd="7" destOrd="0" presId="urn:microsoft.com/office/officeart/2005/8/layout/hList1"/>
    <dgm:cxn modelId="{399CF9CC-0E98-4D38-8653-23126E143576}" type="presParOf" srcId="{611B9B7A-B154-42E7-89F8-6B540006199F}" destId="{F694707C-1D5C-49AD-B5C6-884B44B16555}" srcOrd="8" destOrd="0" presId="urn:microsoft.com/office/officeart/2005/8/layout/hList1"/>
    <dgm:cxn modelId="{D0AD4678-D040-41AF-BE9E-A0C16D9184B5}" type="presParOf" srcId="{F694707C-1D5C-49AD-B5C6-884B44B16555}" destId="{AE960F01-5D5F-4ADF-A925-503FE159D0FC}" srcOrd="0" destOrd="8" presId="urn:microsoft.com/office/officeart/2005/8/layout/hList1"/>
    <dgm:cxn modelId="{4BD2F5B0-D41F-44F5-A054-1ED792701747}" type="presOf" srcId="{09495874-49B5-4483-A36B-F5D48DAD8FCD}" destId="{AE960F01-5D5F-4ADF-A925-503FE159D0FC}" srcOrd="0" destOrd="0" presId="urn:microsoft.com/office/officeart/2005/8/layout/hList1"/>
    <dgm:cxn modelId="{4D77A005-EC7B-4DA9-BACD-4B415B0C586B}" type="presParOf" srcId="{F694707C-1D5C-49AD-B5C6-884B44B16555}" destId="{041B5808-5311-4C14-84CD-21E9BCFE7494}" srcOrd="1" destOrd="8" presId="urn:microsoft.com/office/officeart/2005/8/layout/hList1"/>
    <dgm:cxn modelId="{82B80BCD-806E-4AC6-A50D-BB4E95A1210C}" type="presOf" srcId="{0A8804ED-5665-4103-B549-6AB860743F12}" destId="{041B5808-5311-4C14-84CD-21E9BCFE7494}" srcOrd="0" destOrd="0" presId="urn:microsoft.com/office/officeart/2005/8/layout/hList1"/>
    <dgm:cxn modelId="{AE685BF2-C7A4-4B60-9BCE-294312E09033}" type="presOf" srcId="{56863189-794C-4E55-BDD4-5A44ADE03DA5}" destId="{041B5808-5311-4C14-84CD-21E9BCFE7494}" srcOrd="0" destOrd="1" presId="urn:microsoft.com/office/officeart/2005/8/layout/hList1"/>
    <dgm:cxn modelId="{1DA62B8F-0B65-44F0-AEED-DE6F898A9A8C}" type="presOf" srcId="{536D08A4-5649-4FC0-B0A9-FB90C73BB3FD}" destId="{041B5808-5311-4C14-84CD-21E9BCFE7494}" srcOrd="0" destOrd="2" presId="urn:microsoft.com/office/officeart/2005/8/layout/hList1"/>
  </dgm:cxnLst>
  <dgm:bg/>
  <dgm:whole/>
  <dgm:extLst>
    <a:ext uri="http://schemas.microsoft.com/office/drawing/2008/diagram">
      <dsp:dataModelExt xmlns:dsp="http://schemas.microsoft.com/office/drawing/2008/diagram" relId="rId5"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8141149" cy="4780659"/>
        <a:chOff x="0" y="0"/>
        <a:chExt cx="8141149" cy="4780659"/>
      </a:xfrm>
    </dsp:grpSpPr>
    <dsp:sp modelId="{0AA3A09B-557F-41A0-8F6B-B98E05F880A3}">
      <dsp:nvSpPr>
        <dsp:cNvPr id="3" name="Rectangles 2"/>
        <dsp:cNvSpPr/>
      </dsp:nvSpPr>
      <dsp:spPr bwMode="white">
        <a:xfrm>
          <a:off x="0" y="469283"/>
          <a:ext cx="2035287" cy="64071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28016" tIns="45720" rIns="128016" bIns="45720" anchor="ctr"/>
        <a:lstStyle>
          <a:lvl1pPr algn="r">
            <a:defRPr sz="1800"/>
          </a:lvl1pPr>
          <a:lvl2pPr marL="114300" indent="-114300" algn="r">
            <a:defRPr sz="1400"/>
          </a:lvl2pPr>
          <a:lvl3pPr marL="228600" indent="-114300" algn="r">
            <a:defRPr sz="1400"/>
          </a:lvl3pPr>
          <a:lvl4pPr marL="342900" indent="-114300" algn="r">
            <a:defRPr sz="1400"/>
          </a:lvl4pPr>
          <a:lvl5pPr marL="457200" indent="-114300" algn="r">
            <a:defRPr sz="1400"/>
          </a:lvl5pPr>
          <a:lvl6pPr marL="571500" indent="-114300" algn="r">
            <a:defRPr sz="1400"/>
          </a:lvl6pPr>
          <a:lvl7pPr marL="685800" indent="-114300" algn="r">
            <a:defRPr sz="1400"/>
          </a:lvl7pPr>
          <a:lvl8pPr marL="800100" indent="-114300" algn="r">
            <a:defRPr sz="1400"/>
          </a:lvl8pPr>
          <a:lvl9pPr marL="914400" indent="-114300" algn="r">
            <a:defRPr sz="1400"/>
          </a:lvl9pPr>
        </a:lstStyle>
        <a:p>
          <a:pPr lvl="0">
            <a:lnSpc>
              <a:spcPct val="100000"/>
            </a:lnSpc>
            <a:spcBef>
              <a:spcPct val="0"/>
            </a:spcBef>
            <a:spcAft>
              <a:spcPct val="35000"/>
            </a:spcAft>
          </a:pPr>
          <a:r>
            <a:rPr lang="en-US" b="1" i="0" dirty="0">
              <a:solidFill>
                <a:schemeClr val="tx1"/>
              </a:solidFill>
            </a:rPr>
            <a:t>Perform large-scale analysis.</a:t>
          </a:r>
          <a:endParaRPr lang="en-US" dirty="0">
            <a:solidFill>
              <a:schemeClr val="tx1"/>
            </a:solidFill>
          </a:endParaRPr>
        </a:p>
      </dsp:txBody>
      <dsp:txXfrm>
        <a:off x="0" y="469283"/>
        <a:ext cx="2035287" cy="640715"/>
      </dsp:txXfrm>
    </dsp:sp>
    <dsp:sp modelId="{07D9A5AA-6CDF-451C-8D4C-F1DA15685620}">
      <dsp:nvSpPr>
        <dsp:cNvPr id="4" name="Left Brace 3"/>
        <dsp:cNvSpPr/>
      </dsp:nvSpPr>
      <dsp:spPr bwMode="white">
        <a:xfrm>
          <a:off x="2035287" y="611441"/>
          <a:ext cx="407057" cy="356400"/>
        </a:xfrm>
        <a:prstGeom prst="leftBrace">
          <a:avLst>
            <a:gd name="adj1" fmla="val 35000"/>
            <a:gd name="adj2" fmla="val 50000"/>
          </a:avLst>
        </a:prstGeom>
      </dsp:spPr>
      <dsp:style>
        <a:lnRef idx="2">
          <a:schemeClr val="accent1">
            <a:shade val="60000"/>
          </a:schemeClr>
        </a:lnRef>
        <a:fillRef idx="0">
          <a:schemeClr val="accent1"/>
        </a:fillRef>
        <a:effectRef idx="0">
          <a:scrgbClr r="0" g="0" b="0"/>
        </a:effectRef>
        <a:fontRef idx="minor"/>
      </dsp:style>
      <dsp:txXfrm>
        <a:off x="2035287" y="611441"/>
        <a:ext cx="407057" cy="356400"/>
      </dsp:txXfrm>
    </dsp:sp>
    <dsp:sp modelId="{67A2132D-F590-42A4-ACF9-8AB81640FB30}">
      <dsp:nvSpPr>
        <dsp:cNvPr id="5" name="Rectangles 4"/>
        <dsp:cNvSpPr/>
      </dsp:nvSpPr>
      <dsp:spPr bwMode="white">
        <a:xfrm>
          <a:off x="2601201" y="64784"/>
          <a:ext cx="5535981" cy="1509395"/>
        </a:xfrm>
        <a:prstGeom prst="rect">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n-US" b="0" i="0" dirty="0"/>
            <a:t>Natural Language Processing helps machines automatically understand and analyze huge amounts of </a:t>
          </a:r>
          <a:r>
            <a:rPr lang="en-US" b="0" i="0" dirty="0">
              <a:hlinkClick r:id="rId1"/>
            </a:rPr>
            <a:t>unstructured text data</a:t>
          </a:r>
          <a:r>
            <a:rPr lang="en-US" b="0" i="0" dirty="0"/>
            <a:t>, like social media comments, customer support tickets, online reviews, news reports, and more.</a:t>
          </a:r>
          <a:endParaRPr lang="en-US" dirty="0"/>
        </a:p>
      </dsp:txBody>
      <dsp:txXfrm>
        <a:off x="2601201" y="64784"/>
        <a:ext cx="5535981" cy="1509395"/>
      </dsp:txXfrm>
    </dsp:sp>
    <dsp:sp modelId="{5F54B5DE-36B0-436D-B641-BB6A8CE168B2}">
      <dsp:nvSpPr>
        <dsp:cNvPr id="6" name="Rectangles 5"/>
        <dsp:cNvSpPr/>
      </dsp:nvSpPr>
      <dsp:spPr bwMode="white">
        <a:xfrm>
          <a:off x="0" y="2040127"/>
          <a:ext cx="2035287" cy="91503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28016" tIns="45720" rIns="128016" bIns="45720" anchor="ctr"/>
        <a:lstStyle>
          <a:lvl1pPr algn="r">
            <a:defRPr sz="1800"/>
          </a:lvl1pPr>
          <a:lvl2pPr marL="114300" indent="-114300" algn="r">
            <a:defRPr sz="1400"/>
          </a:lvl2pPr>
          <a:lvl3pPr marL="228600" indent="-114300" algn="r">
            <a:defRPr sz="1400"/>
          </a:lvl3pPr>
          <a:lvl4pPr marL="342900" indent="-114300" algn="r">
            <a:defRPr sz="1400"/>
          </a:lvl4pPr>
          <a:lvl5pPr marL="457200" indent="-114300" algn="r">
            <a:defRPr sz="1400"/>
          </a:lvl5pPr>
          <a:lvl6pPr marL="571500" indent="-114300" algn="r">
            <a:defRPr sz="1400"/>
          </a:lvl6pPr>
          <a:lvl7pPr marL="685800" indent="-114300" algn="r">
            <a:defRPr sz="1400"/>
          </a:lvl7pPr>
          <a:lvl8pPr marL="800100" indent="-114300" algn="r">
            <a:defRPr sz="1400"/>
          </a:lvl8pPr>
          <a:lvl9pPr marL="914400" indent="-114300" algn="r">
            <a:defRPr sz="1400"/>
          </a:lvl9pPr>
        </a:lstStyle>
        <a:p>
          <a:pPr lvl="0">
            <a:lnSpc>
              <a:spcPct val="100000"/>
            </a:lnSpc>
            <a:spcBef>
              <a:spcPct val="0"/>
            </a:spcBef>
            <a:spcAft>
              <a:spcPct val="35000"/>
            </a:spcAft>
          </a:pPr>
          <a:r>
            <a:rPr lang="en-US" b="1" i="0" dirty="0">
              <a:solidFill>
                <a:schemeClr val="tx1"/>
              </a:solidFill>
            </a:rPr>
            <a:t>Automate processes in real-time.</a:t>
          </a:r>
          <a:endParaRPr lang="en-US" dirty="0">
            <a:solidFill>
              <a:schemeClr val="tx1"/>
            </a:solidFill>
          </a:endParaRPr>
        </a:p>
      </dsp:txBody>
      <dsp:txXfrm>
        <a:off x="0" y="2040127"/>
        <a:ext cx="2035287" cy="915035"/>
      </dsp:txXfrm>
    </dsp:sp>
    <dsp:sp modelId="{143DC1FF-D0BC-4C78-BE9D-F44ABF1E96D7}">
      <dsp:nvSpPr>
        <dsp:cNvPr id="7" name="Left Brace 6"/>
        <dsp:cNvSpPr/>
      </dsp:nvSpPr>
      <dsp:spPr bwMode="white">
        <a:xfrm>
          <a:off x="2035287" y="2240987"/>
          <a:ext cx="407057" cy="356400"/>
        </a:xfrm>
        <a:prstGeom prst="leftBrace">
          <a:avLst>
            <a:gd name="adj1" fmla="val 35000"/>
            <a:gd name="adj2" fmla="val 50000"/>
          </a:avLst>
        </a:prstGeom>
      </dsp:spPr>
      <dsp:style>
        <a:lnRef idx="2">
          <a:schemeClr val="accent1">
            <a:shade val="60000"/>
          </a:schemeClr>
        </a:lnRef>
        <a:fillRef idx="0">
          <a:schemeClr val="accent1"/>
        </a:fillRef>
        <a:effectRef idx="0">
          <a:scrgbClr r="0" g="0" b="0"/>
        </a:effectRef>
        <a:fontRef idx="minor"/>
      </dsp:style>
      <dsp:txXfrm>
        <a:off x="2035287" y="2240987"/>
        <a:ext cx="407057" cy="356400"/>
      </dsp:txXfrm>
    </dsp:sp>
    <dsp:sp modelId="{28D05962-4971-4A27-9938-A92BC45EAD33}">
      <dsp:nvSpPr>
        <dsp:cNvPr id="8" name="Rectangles 7"/>
        <dsp:cNvSpPr/>
      </dsp:nvSpPr>
      <dsp:spPr bwMode="white">
        <a:xfrm>
          <a:off x="2605168" y="1872796"/>
          <a:ext cx="5535981" cy="1235075"/>
        </a:xfrm>
        <a:prstGeom prst="rect">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n-US" b="0" i="0" dirty="0"/>
            <a:t>Natural language processing tools can help machines learn to sort and route information with little to no human interaction – quickly, efficiently, accurately, and around the clock.</a:t>
          </a:r>
          <a:endParaRPr lang="en-US" dirty="0"/>
        </a:p>
      </dsp:txBody>
      <dsp:txXfrm>
        <a:off x="2605168" y="1872796"/>
        <a:ext cx="5535981" cy="1235075"/>
      </dsp:txXfrm>
    </dsp:sp>
    <dsp:sp modelId="{FB287B93-2CF6-4C52-9C50-496D4E33523E}">
      <dsp:nvSpPr>
        <dsp:cNvPr id="9" name="Rectangles 8"/>
        <dsp:cNvSpPr/>
      </dsp:nvSpPr>
      <dsp:spPr bwMode="white">
        <a:xfrm>
          <a:off x="0" y="3745804"/>
          <a:ext cx="2035287" cy="640715"/>
        </a:xfrm>
        <a:prstGeom prst="rect">
          <a:avLst/>
        </a:prstGeom>
      </dsp:spPr>
      <dsp:style>
        <a:lnRef idx="0">
          <a:schemeClr val="dk1">
            <a:alpha val="0"/>
          </a:schemeClr>
        </a:lnRef>
        <a:fillRef idx="0">
          <a:schemeClr val="lt1">
            <a:alpha val="0"/>
          </a:schemeClr>
        </a:fillRef>
        <a:effectRef idx="0">
          <a:scrgbClr r="0" g="0" b="0"/>
        </a:effectRef>
        <a:fontRef idx="minor"/>
      </dsp:style>
      <dsp:txBody>
        <a:bodyPr lIns="128016" tIns="45720" rIns="128016" bIns="45720" anchor="ctr"/>
        <a:lstStyle>
          <a:lvl1pPr algn="r">
            <a:defRPr sz="1800"/>
          </a:lvl1pPr>
          <a:lvl2pPr marL="114300" indent="-114300" algn="r">
            <a:defRPr sz="1400"/>
          </a:lvl2pPr>
          <a:lvl3pPr marL="228600" indent="-114300" algn="r">
            <a:defRPr sz="1400"/>
          </a:lvl3pPr>
          <a:lvl4pPr marL="342900" indent="-114300" algn="r">
            <a:defRPr sz="1400"/>
          </a:lvl4pPr>
          <a:lvl5pPr marL="457200" indent="-114300" algn="r">
            <a:defRPr sz="1400"/>
          </a:lvl5pPr>
          <a:lvl6pPr marL="571500" indent="-114300" algn="r">
            <a:defRPr sz="1400"/>
          </a:lvl6pPr>
          <a:lvl7pPr marL="685800" indent="-114300" algn="r">
            <a:defRPr sz="1400"/>
          </a:lvl7pPr>
          <a:lvl8pPr marL="800100" indent="-114300" algn="r">
            <a:defRPr sz="1400"/>
          </a:lvl8pPr>
          <a:lvl9pPr marL="914400" indent="-114300" algn="r">
            <a:defRPr sz="1400"/>
          </a:lvl9pPr>
        </a:lstStyle>
        <a:p>
          <a:pPr lvl="0">
            <a:lnSpc>
              <a:spcPct val="100000"/>
            </a:lnSpc>
            <a:spcBef>
              <a:spcPct val="0"/>
            </a:spcBef>
            <a:spcAft>
              <a:spcPct val="35000"/>
            </a:spcAft>
          </a:pPr>
          <a:r>
            <a:rPr lang="en-US" b="1" i="0" dirty="0">
              <a:solidFill>
                <a:schemeClr val="tx1"/>
              </a:solidFill>
            </a:rPr>
            <a:t>Tailor NLP tools to your industry.</a:t>
          </a:r>
          <a:endParaRPr lang="en-US" dirty="0">
            <a:solidFill>
              <a:schemeClr val="tx1"/>
            </a:solidFill>
          </a:endParaRPr>
        </a:p>
      </dsp:txBody>
      <dsp:txXfrm>
        <a:off x="0" y="3745804"/>
        <a:ext cx="2035287" cy="640715"/>
      </dsp:txXfrm>
    </dsp:sp>
    <dsp:sp modelId="{421C5FD9-93AC-4250-8D26-37849BBE0EB1}">
      <dsp:nvSpPr>
        <dsp:cNvPr id="10" name="Left Brace 9"/>
        <dsp:cNvSpPr/>
      </dsp:nvSpPr>
      <dsp:spPr bwMode="white">
        <a:xfrm>
          <a:off x="2035287" y="3841676"/>
          <a:ext cx="407057" cy="356400"/>
        </a:xfrm>
        <a:prstGeom prst="leftBrace">
          <a:avLst>
            <a:gd name="adj1" fmla="val 35000"/>
            <a:gd name="adj2" fmla="val 50000"/>
          </a:avLst>
        </a:prstGeom>
      </dsp:spPr>
      <dsp:style>
        <a:lnRef idx="2">
          <a:schemeClr val="accent1">
            <a:shade val="60000"/>
          </a:schemeClr>
        </a:lnRef>
        <a:fillRef idx="0">
          <a:schemeClr val="accent1"/>
        </a:fillRef>
        <a:effectRef idx="0">
          <a:scrgbClr r="0" g="0" b="0"/>
        </a:effectRef>
        <a:fontRef idx="minor"/>
      </dsp:style>
      <dsp:txXfrm>
        <a:off x="2035287" y="3841676"/>
        <a:ext cx="407057" cy="356400"/>
      </dsp:txXfrm>
    </dsp:sp>
    <dsp:sp modelId="{A579CA07-CA7F-4324-9AE5-ED9FD57A3737}">
      <dsp:nvSpPr>
        <dsp:cNvPr id="11" name="Rectangles 10"/>
        <dsp:cNvSpPr/>
      </dsp:nvSpPr>
      <dsp:spPr bwMode="white">
        <a:xfrm>
          <a:off x="2605168" y="3473485"/>
          <a:ext cx="5535981" cy="1235075"/>
        </a:xfrm>
        <a:prstGeom prst="rect">
          <a:avLst/>
        </a:prstGeom>
      </dsp:spPr>
      <dsp:style>
        <a:lnRef idx="2">
          <a:schemeClr val="lt1"/>
        </a:lnRef>
        <a:fillRef idx="1">
          <a:schemeClr val="accent1"/>
        </a:fillRef>
        <a:effectRef idx="0">
          <a:scrgbClr r="0" g="0" b="0"/>
        </a:effectRef>
        <a:fontRef idx="minor">
          <a:schemeClr val="lt1"/>
        </a:fontRef>
      </dsp:style>
      <dsp:txBody>
        <a:bodyPr lIns="68580" tIns="68580" rIns="68580" bIns="68580" anchor="ctr"/>
        <a:lstStyle>
          <a:lvl1pPr algn="l">
            <a:defRPr sz="1800"/>
          </a:lvl1pPr>
          <a:lvl2pPr marL="171450" indent="-171450" algn="l">
            <a:defRPr sz="1800"/>
          </a:lvl2pPr>
          <a:lvl3pPr marL="342900" indent="-171450" algn="l">
            <a:defRPr sz="1800"/>
          </a:lvl3pPr>
          <a:lvl4pPr marL="514350" indent="-171450" algn="l">
            <a:defRPr sz="1800"/>
          </a:lvl4pPr>
          <a:lvl5pPr marL="685800" indent="-171450" algn="l">
            <a:defRPr sz="1800"/>
          </a:lvl5pPr>
          <a:lvl6pPr marL="857250" indent="-171450" algn="l">
            <a:defRPr sz="1800"/>
          </a:lvl6pPr>
          <a:lvl7pPr marL="1028700" indent="-171450" algn="l">
            <a:defRPr sz="1800"/>
          </a:lvl7pPr>
          <a:lvl8pPr marL="1200150" indent="-171450" algn="l">
            <a:defRPr sz="1800"/>
          </a:lvl8pPr>
          <a:lvl9pPr marL="1371600" indent="-171450" algn="l">
            <a:defRPr sz="1800"/>
          </a:lvl9pPr>
        </a:lstStyle>
        <a:p>
          <a:pPr lvl="1">
            <a:lnSpc>
              <a:spcPct val="100000"/>
            </a:lnSpc>
            <a:spcBef>
              <a:spcPct val="0"/>
            </a:spcBef>
            <a:spcAft>
              <a:spcPct val="15000"/>
            </a:spcAft>
            <a:buChar char="•"/>
          </a:pPr>
          <a:r>
            <a:rPr lang="en-US" b="0" i="0" dirty="0"/>
            <a:t>Natural language processing algorithms can be tailored to your needs and criteria, like complex, industry-specific language – even sarcasm and misused words.</a:t>
          </a:r>
          <a:endParaRPr lang="en-US" dirty="0"/>
        </a:p>
      </dsp:txBody>
      <dsp:txXfrm>
        <a:off x="2605168" y="3473485"/>
        <a:ext cx="5535981" cy="1235075"/>
      </dsp:txXfrm>
    </dsp:sp>
  </dsp:spTree>
</dsp:drawing>
</file>

<file path=ppt/diagrams/drawing2.xml><?xml version="1.0" encoding="utf-8"?>
<dsp:drawing xmlns:dgm="http://schemas.openxmlformats.org/drawingml/2006/diagram" xmlns:dsp="http://schemas.microsoft.com/office/drawing/2008/diagram" xmlns:a="http://schemas.openxmlformats.org/drawingml/2006/main" xmlns:r="http://schemas.openxmlformats.org/officeDocument/2006/relationships">
  <dsp:spTree>
    <dsp:nvGrpSpPr>
      <dsp:cNvPr id="2" name="Group 1"/>
      <dsp:cNvGrpSpPr/>
    </dsp:nvGrpSpPr>
    <dsp:grpSpPr>
      <a:xfrm>
        <a:off x="0" y="0"/>
        <a:ext cx="10800715" cy="4942840"/>
        <a:chOff x="0" y="0"/>
        <a:chExt cx="10800715" cy="4942840"/>
      </a:xfrm>
    </dsp:grpSpPr>
    <dsp:sp modelId="{31914CD7-C017-4B5F-A832-6FE9EF3A1617}">
      <dsp:nvSpPr>
        <dsp:cNvPr id="3" name="Rectangles 2"/>
        <dsp:cNvSpPr/>
      </dsp:nvSpPr>
      <dsp:spPr bwMode="white">
        <a:xfrm>
          <a:off x="0" y="655505"/>
          <a:ext cx="1942575" cy="777030"/>
        </a:xfrm>
        <a:prstGeom prst="rect">
          <a:avLst/>
        </a:prstGeom>
      </dsp:spPr>
      <dsp:style>
        <a:lnRef idx="1">
          <a:schemeClr val="accent1"/>
        </a:lnRef>
        <a:fillRef idx="2">
          <a:schemeClr val="accent1"/>
        </a:fillRef>
        <a:effectRef idx="1">
          <a:scrgbClr r="0" g="0" b="0"/>
        </a:effectRef>
        <a:fontRef idx="minor">
          <a:schemeClr val="dk1"/>
        </a:fontRef>
      </dsp:style>
      <dsp:txBody>
        <a:bodyPr vert="horz" wrap="square" lIns="128016" tIns="73152" rIns="128016" bIns="7315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800" dirty="0">
              <a:latin typeface="Arial" panose="020B0604020202020204" pitchFamily="34" charset="0"/>
              <a:cs typeface="Arial" panose="020B0604020202020204" pitchFamily="34" charset="0"/>
            </a:rPr>
            <a:t>Text Cleaning</a:t>
          </a:r>
          <a:endParaRPr sz="1800">
            <a:latin typeface="Arial" panose="020B0604020202020204" pitchFamily="34" charset="0"/>
            <a:cs typeface="Arial" panose="020B0604020202020204" pitchFamily="34" charset="0"/>
          </a:endParaRPr>
        </a:p>
      </dsp:txBody>
      <dsp:txXfrm>
        <a:off x="0" y="655505"/>
        <a:ext cx="1942575" cy="777030"/>
      </dsp:txXfrm>
    </dsp:sp>
    <dsp:sp modelId="{4256EE86-71D5-47EC-8711-7EFE5FDFC644}">
      <dsp:nvSpPr>
        <dsp:cNvPr id="4" name="Rectangles 3"/>
        <dsp:cNvSpPr/>
      </dsp:nvSpPr>
      <dsp:spPr bwMode="white">
        <a:xfrm>
          <a:off x="0" y="1432535"/>
          <a:ext cx="1942575" cy="28548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sz="1800" dirty="0">
              <a:solidFill>
                <a:srgbClr val="000000"/>
              </a:solidFill>
              <a:latin typeface="Arial" panose="020B0604020202020204" pitchFamily="34" charset="0"/>
              <a:cs typeface="Arial" panose="020B0604020202020204" pitchFamily="34" charset="0"/>
            </a:rPr>
            <a:t>Convert lowercase</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rgbClr val="000000"/>
              </a:solidFill>
              <a:latin typeface="Arial" panose="020B0604020202020204" pitchFamily="34" charset="0"/>
              <a:cs typeface="Arial" panose="020B0604020202020204" pitchFamily="34" charset="0"/>
            </a:rPr>
            <a:t>Remove punctuations</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rgbClr val="000000"/>
              </a:solidFill>
              <a:latin typeface="Arial" panose="020B0604020202020204" pitchFamily="34" charset="0"/>
              <a:cs typeface="Arial" panose="020B0604020202020204" pitchFamily="34" charset="0"/>
            </a:rPr>
            <a:t>Remove non numeric/ non-alphabet characters</a:t>
          </a:r>
          <a:endParaRPr lang="en-US" sz="1800" dirty="0">
            <a:solidFill>
              <a:schemeClr val="dk1"/>
            </a:solidFill>
            <a:latin typeface="Arial" panose="020B0604020202020204" pitchFamily="34" charset="0"/>
            <a:cs typeface="Arial" panose="020B0604020202020204" pitchFamily="34" charset="0"/>
          </a:endParaRPr>
        </a:p>
      </dsp:txBody>
      <dsp:txXfrm>
        <a:off x="0" y="1432535"/>
        <a:ext cx="1942575" cy="2854800"/>
      </dsp:txXfrm>
    </dsp:sp>
    <dsp:sp modelId="{10E4983F-4E59-472B-94A6-CBC1028B87A8}">
      <dsp:nvSpPr>
        <dsp:cNvPr id="5" name="Rectangles 4"/>
        <dsp:cNvSpPr/>
      </dsp:nvSpPr>
      <dsp:spPr bwMode="white">
        <a:xfrm>
          <a:off x="2214535" y="655505"/>
          <a:ext cx="1942575" cy="777030"/>
        </a:xfrm>
        <a:prstGeom prst="rect">
          <a:avLst/>
        </a:prstGeom>
      </dsp:spPr>
      <dsp:style>
        <a:lnRef idx="1">
          <a:schemeClr val="accent1"/>
        </a:lnRef>
        <a:fillRef idx="2">
          <a:schemeClr val="accent1"/>
        </a:fillRef>
        <a:effectRef idx="1">
          <a:scrgbClr r="0" g="0" b="0"/>
        </a:effectRef>
        <a:fontRef idx="minor">
          <a:schemeClr val="dk1"/>
        </a:fontRef>
      </dsp:style>
      <dsp:txBody>
        <a:bodyPr vert="horz" wrap="square" lIns="128016" tIns="73152" rIns="128016" bIns="7315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800" dirty="0">
              <a:latin typeface="Arial" panose="020B0604020202020204" pitchFamily="34" charset="0"/>
              <a:cs typeface="Arial" panose="020B0604020202020204" pitchFamily="34" charset="0"/>
            </a:rPr>
            <a:t>Text Processing</a:t>
          </a:r>
          <a:endParaRPr sz="1800">
            <a:latin typeface="Arial" panose="020B0604020202020204" pitchFamily="34" charset="0"/>
            <a:cs typeface="Arial" panose="020B0604020202020204" pitchFamily="34" charset="0"/>
          </a:endParaRPr>
        </a:p>
      </dsp:txBody>
      <dsp:txXfrm>
        <a:off x="2214535" y="655505"/>
        <a:ext cx="1942575" cy="777030"/>
      </dsp:txXfrm>
    </dsp:sp>
    <dsp:sp modelId="{2430FDD2-72E1-4B14-9F19-E10D3FA8A18E}">
      <dsp:nvSpPr>
        <dsp:cNvPr id="6" name="Rectangles 5"/>
        <dsp:cNvSpPr/>
      </dsp:nvSpPr>
      <dsp:spPr bwMode="white">
        <a:xfrm>
          <a:off x="2214535" y="1432535"/>
          <a:ext cx="1942575" cy="28548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Tokenization</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Stemming</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Lemmatization</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Stop word Removal</a:t>
          </a:r>
          <a:endParaRPr sz="1800">
            <a:solidFill>
              <a:schemeClr val="dk1"/>
            </a:solidFill>
            <a:latin typeface="Arial" panose="020B0604020202020204" pitchFamily="34" charset="0"/>
            <a:cs typeface="Arial" panose="020B0604020202020204" pitchFamily="34" charset="0"/>
          </a:endParaRPr>
        </a:p>
      </dsp:txBody>
      <dsp:txXfrm>
        <a:off x="2214535" y="1432535"/>
        <a:ext cx="1942575" cy="2854800"/>
      </dsp:txXfrm>
    </dsp:sp>
    <dsp:sp modelId="{4EC4B327-617A-4CC4-A6BC-F5F9B07FB8B0}">
      <dsp:nvSpPr>
        <dsp:cNvPr id="7" name="Rectangles 6"/>
        <dsp:cNvSpPr/>
      </dsp:nvSpPr>
      <dsp:spPr bwMode="white">
        <a:xfrm>
          <a:off x="4429070" y="655505"/>
          <a:ext cx="1942575" cy="777030"/>
        </a:xfrm>
        <a:prstGeom prst="rect">
          <a:avLst/>
        </a:prstGeom>
      </dsp:spPr>
      <dsp:style>
        <a:lnRef idx="1">
          <a:schemeClr val="accent1"/>
        </a:lnRef>
        <a:fillRef idx="2">
          <a:schemeClr val="accent1"/>
        </a:fillRef>
        <a:effectRef idx="1">
          <a:scrgbClr r="0" g="0" b="0"/>
        </a:effectRef>
        <a:fontRef idx="minor">
          <a:schemeClr val="dk1"/>
        </a:fontRef>
      </dsp:style>
      <dsp:txBody>
        <a:bodyPr vert="horz" wrap="square" lIns="128016" tIns="73152" rIns="128016" bIns="7315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100000"/>
            </a:lnSpc>
            <a:spcBef>
              <a:spcPct val="0"/>
            </a:spcBef>
            <a:spcAft>
              <a:spcPct val="35000"/>
            </a:spcAft>
          </a:pPr>
          <a:r>
            <a:rPr lang="en-US" sz="1800" dirty="0">
              <a:latin typeface="Arial" panose="020B0604020202020204" pitchFamily="34" charset="0"/>
              <a:cs typeface="Arial" panose="020B0604020202020204" pitchFamily="34" charset="0"/>
            </a:rPr>
            <a:t>Features </a:t>
          </a:r>
          <a:r>
            <a:rPr lang="en-IN" altLang="en-US" sz="1800" dirty="0">
              <a:latin typeface="Arial" panose="020B0604020202020204" pitchFamily="34" charset="0"/>
              <a:cs typeface="Arial" panose="020B0604020202020204" pitchFamily="34" charset="0"/>
            </a:rPr>
            <a:t>E</a:t>
          </a:r>
          <a:r>
            <a:rPr lang="en-US" sz="1800" dirty="0">
              <a:latin typeface="Arial" panose="020B0604020202020204" pitchFamily="34" charset="0"/>
              <a:cs typeface="Arial" panose="020B0604020202020204" pitchFamily="34" charset="0"/>
            </a:rPr>
            <a:t>xtraction</a:t>
          </a:r>
          <a:endParaRPr sz="1800">
            <a:latin typeface="Arial" panose="020B0604020202020204" pitchFamily="34" charset="0"/>
            <a:cs typeface="Arial" panose="020B0604020202020204" pitchFamily="34" charset="0"/>
          </a:endParaRPr>
        </a:p>
      </dsp:txBody>
      <dsp:txXfrm>
        <a:off x="4429070" y="655505"/>
        <a:ext cx="1942575" cy="777030"/>
      </dsp:txXfrm>
    </dsp:sp>
    <dsp:sp modelId="{97357075-848C-4737-9147-7DAA4C88CD5C}">
      <dsp:nvSpPr>
        <dsp:cNvPr id="8" name="Rectangles 7"/>
        <dsp:cNvSpPr/>
      </dsp:nvSpPr>
      <dsp:spPr bwMode="white">
        <a:xfrm>
          <a:off x="4429070" y="1432535"/>
          <a:ext cx="1942575" cy="28548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Bag of Word</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err="1">
              <a:solidFill>
                <a:schemeClr val="dk1"/>
              </a:solidFill>
              <a:latin typeface="Arial" panose="020B0604020202020204" pitchFamily="34" charset="0"/>
              <a:cs typeface="Arial" panose="020B0604020202020204" pitchFamily="34" charset="0"/>
            </a:rPr>
            <a:t>Tf-idf</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Word2vec</a:t>
          </a:r>
          <a:endParaRPr sz="1800">
            <a:solidFill>
              <a:schemeClr val="dk1"/>
            </a:solidFill>
            <a:latin typeface="Arial" panose="020B0604020202020204" pitchFamily="34" charset="0"/>
            <a:cs typeface="Arial" panose="020B0604020202020204" pitchFamily="34" charset="0"/>
          </a:endParaRPr>
        </a:p>
      </dsp:txBody>
      <dsp:txXfrm>
        <a:off x="4429070" y="1432535"/>
        <a:ext cx="1942575" cy="2854800"/>
      </dsp:txXfrm>
    </dsp:sp>
    <dsp:sp modelId="{39D13B45-26B8-4E95-B8CD-5B84F86EB02A}">
      <dsp:nvSpPr>
        <dsp:cNvPr id="9" name="Rectangles 8"/>
        <dsp:cNvSpPr/>
      </dsp:nvSpPr>
      <dsp:spPr bwMode="white">
        <a:xfrm>
          <a:off x="6643605" y="655505"/>
          <a:ext cx="1942575" cy="777030"/>
        </a:xfrm>
        <a:prstGeom prst="rect">
          <a:avLst/>
        </a:prstGeom>
      </dsp:spPr>
      <dsp:style>
        <a:lnRef idx="1">
          <a:schemeClr val="accent1"/>
        </a:lnRef>
        <a:fillRef idx="2">
          <a:schemeClr val="accent1"/>
        </a:fillRef>
        <a:effectRef idx="1">
          <a:scrgbClr r="0" g="0" b="0"/>
        </a:effectRef>
        <a:fontRef idx="minor">
          <a:schemeClr val="dk1"/>
        </a:fontRef>
      </dsp:style>
      <dsp:txBody>
        <a:bodyPr vert="horz" wrap="square" lIns="128016" tIns="73152" rIns="128016" bIns="7315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nSpc>
              <a:spcPct val="90000"/>
            </a:lnSpc>
            <a:spcBef>
              <a:spcPct val="0"/>
            </a:spcBef>
            <a:spcAft>
              <a:spcPct val="35000"/>
            </a:spcAft>
          </a:pPr>
          <a:r>
            <a:rPr lang="en-IN" altLang="en-US" sz="1800" dirty="0">
              <a:latin typeface="Arial" panose="020B0604020202020204" pitchFamily="34" charset="0"/>
              <a:cs typeface="Arial" panose="020B0604020202020204" pitchFamily="34" charset="0"/>
              <a:sym typeface="+mn-ea"/>
            </a:rPr>
            <a:t>Dimensionality </a:t>
          </a:r>
          <a:r>
            <a:rPr lang="en-IN" sz="1800" dirty="0">
              <a:latin typeface="Arial" panose="020B0604020202020204" pitchFamily="34" charset="0"/>
              <a:cs typeface="Arial" panose="020B0604020202020204" pitchFamily="34" charset="0"/>
              <a:sym typeface="+mn-ea"/>
            </a:rPr>
            <a:t>Reduction</a:t>
          </a:r>
          <a:endParaRPr lang="en-IN" sz="1800" dirty="0">
            <a:latin typeface="Arial" panose="020B0604020202020204" pitchFamily="34" charset="0"/>
            <a:cs typeface="Arial" panose="020B0604020202020204" pitchFamily="34" charset="0"/>
          </a:endParaRPr>
        </a:p>
      </dsp:txBody>
      <dsp:txXfrm>
        <a:off x="6643605" y="655505"/>
        <a:ext cx="1942575" cy="777030"/>
      </dsp:txXfrm>
    </dsp:sp>
    <dsp:sp modelId="{84BA413D-16D6-4158-9C5F-55741E7FDD59}">
      <dsp:nvSpPr>
        <dsp:cNvPr id="10" name="Rectangles 9"/>
        <dsp:cNvSpPr/>
      </dsp:nvSpPr>
      <dsp:spPr bwMode="white">
        <a:xfrm>
          <a:off x="6643605" y="1432535"/>
          <a:ext cx="1942575" cy="28548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PCA</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T-</a:t>
          </a:r>
          <a:r>
            <a:rPr lang="en-US" sz="1800" dirty="0" err="1">
              <a:solidFill>
                <a:schemeClr val="dk1"/>
              </a:solidFill>
              <a:latin typeface="Arial" panose="020B0604020202020204" pitchFamily="34" charset="0"/>
              <a:cs typeface="Arial" panose="020B0604020202020204" pitchFamily="34" charset="0"/>
            </a:rPr>
            <a:t>sne</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err="1">
              <a:solidFill>
                <a:schemeClr val="dk1"/>
              </a:solidFill>
              <a:latin typeface="Arial" panose="020B0604020202020204" pitchFamily="34" charset="0"/>
              <a:cs typeface="Arial" panose="020B0604020202020204" pitchFamily="34" charset="0"/>
            </a:rPr>
            <a:t>Umap</a:t>
          </a:r>
          <a:r>
            <a:rPr lang="en-US" sz="1800" dirty="0">
              <a:solidFill>
                <a:schemeClr val="dk1"/>
              </a:solidFill>
              <a:latin typeface="Arial" panose="020B0604020202020204" pitchFamily="34" charset="0"/>
              <a:cs typeface="Arial" panose="020B0604020202020204" pitchFamily="34" charset="0"/>
            </a:rPr>
            <a:t> </a:t>
          </a:r>
          <a:endParaRPr sz="1800">
            <a:solidFill>
              <a:schemeClr val="dk1"/>
            </a:solidFill>
            <a:latin typeface="Arial" panose="020B0604020202020204" pitchFamily="34" charset="0"/>
            <a:cs typeface="Arial" panose="020B0604020202020204" pitchFamily="34" charset="0"/>
          </a:endParaRPr>
        </a:p>
      </dsp:txBody>
      <dsp:txXfrm>
        <a:off x="6643605" y="1432535"/>
        <a:ext cx="1942575" cy="2854800"/>
      </dsp:txXfrm>
    </dsp:sp>
    <dsp:sp modelId="{AE960F01-5D5F-4ADF-A925-503FE159D0FC}">
      <dsp:nvSpPr>
        <dsp:cNvPr id="11" name="Rectangles 10"/>
        <dsp:cNvSpPr/>
      </dsp:nvSpPr>
      <dsp:spPr bwMode="white">
        <a:xfrm>
          <a:off x="8858140" y="655505"/>
          <a:ext cx="1942575" cy="777030"/>
        </a:xfrm>
        <a:prstGeom prst="rect">
          <a:avLst/>
        </a:prstGeom>
      </dsp:spPr>
      <dsp:style>
        <a:lnRef idx="1">
          <a:schemeClr val="accent1"/>
        </a:lnRef>
        <a:fillRef idx="2">
          <a:schemeClr val="accent1"/>
        </a:fillRef>
        <a:effectRef idx="1">
          <a:scrgbClr r="0" g="0" b="0"/>
        </a:effectRef>
        <a:fontRef idx="minor">
          <a:schemeClr val="dk1"/>
        </a:fontRef>
      </dsp:style>
      <dsp:txBody>
        <a:bodyPr vert="horz" wrap="square" lIns="128016" tIns="73152" rIns="128016" bIns="73152" anchor="ctr"/>
        <a:lstStyle>
          <a:lvl1pPr algn="ctr">
            <a:defRPr sz="6500"/>
          </a:lvl1pPr>
          <a:lvl2pPr marL="285750" indent="-285750" algn="ctr">
            <a:defRPr sz="5000"/>
          </a:lvl2pPr>
          <a:lvl3pPr marL="571500" indent="-285750" algn="ctr">
            <a:defRPr sz="5000"/>
          </a:lvl3pPr>
          <a:lvl4pPr marL="857250" indent="-285750" algn="ctr">
            <a:defRPr sz="5000"/>
          </a:lvl4pPr>
          <a:lvl5pPr marL="1143000" indent="-285750" algn="ctr">
            <a:defRPr sz="5000"/>
          </a:lvl5pPr>
          <a:lvl6pPr marL="1428750" indent="-285750" algn="ctr">
            <a:defRPr sz="5000"/>
          </a:lvl6pPr>
          <a:lvl7pPr marL="1714500" indent="-285750" algn="ctr">
            <a:defRPr sz="5000"/>
          </a:lvl7pPr>
          <a:lvl8pPr marL="2000250" indent="-285750" algn="ctr">
            <a:defRPr sz="5000"/>
          </a:lvl8pPr>
          <a:lvl9pPr marL="2286000" indent="-285750" algn="ctr">
            <a:defRPr sz="5000"/>
          </a:lvl9pPr>
        </a:lstStyle>
        <a:p>
          <a:pPr lvl="0" algn="ctr">
            <a:lnSpc>
              <a:spcPct val="100000"/>
            </a:lnSpc>
            <a:spcBef>
              <a:spcPct val="0"/>
            </a:spcBef>
            <a:spcAft>
              <a:spcPct val="35000"/>
            </a:spcAft>
          </a:pPr>
          <a:r>
            <a:rPr lang="en-US" sz="1800" dirty="0">
              <a:latin typeface="Arial" panose="020B0604020202020204" pitchFamily="34" charset="0"/>
              <a:cs typeface="Arial" panose="020B0604020202020204" pitchFamily="34" charset="0"/>
            </a:rPr>
            <a:t>Usage</a:t>
          </a:r>
          <a:endParaRPr sz="1800">
            <a:latin typeface="Arial" panose="020B0604020202020204" pitchFamily="34" charset="0"/>
            <a:cs typeface="Arial" panose="020B0604020202020204" pitchFamily="34" charset="0"/>
          </a:endParaRPr>
        </a:p>
      </dsp:txBody>
      <dsp:txXfrm>
        <a:off x="8858140" y="655505"/>
        <a:ext cx="1942575" cy="777030"/>
      </dsp:txXfrm>
    </dsp:sp>
    <dsp:sp modelId="{041B5808-5311-4C14-84CD-21E9BCFE7494}">
      <dsp:nvSpPr>
        <dsp:cNvPr id="12" name="Rectangles 11"/>
        <dsp:cNvSpPr/>
      </dsp:nvSpPr>
      <dsp:spPr bwMode="white">
        <a:xfrm>
          <a:off x="8858140" y="1432535"/>
          <a:ext cx="1942575" cy="2854800"/>
        </a:xfrm>
        <a:prstGeom prst="rect">
          <a:avLst/>
        </a:prstGeom>
      </dsp:spPr>
      <dsp:style>
        <a:lnRef idx="1">
          <a:schemeClr val="accent1">
            <a:alpha val="90000"/>
            <a:tint val="40000"/>
          </a:schemeClr>
        </a:lnRef>
        <a:fillRef idx="1">
          <a:schemeClr val="accent1">
            <a:alpha val="90000"/>
            <a:tint val="40000"/>
          </a:schemeClr>
        </a:fillRef>
        <a:effectRef idx="0">
          <a:scrgbClr r="0" g="0" b="0"/>
        </a:effectRef>
        <a:fontRef idx="minor"/>
      </dsp:style>
      <dsp:txBody>
        <a:bodyPr vert="horz" wrap="square" lIns="96012" tIns="96012" rIns="128016" bIns="144018" anchor="t"/>
        <a:lstStyle>
          <a:lvl1pPr algn="l">
            <a:defRPr sz="6500"/>
          </a:lvl1pPr>
          <a:lvl2pPr marL="285750" indent="-285750" algn="l">
            <a:defRPr sz="6500"/>
          </a:lvl2pPr>
          <a:lvl3pPr marL="571500" indent="-285750" algn="l">
            <a:defRPr sz="6500"/>
          </a:lvl3pPr>
          <a:lvl4pPr marL="857250" indent="-285750" algn="l">
            <a:defRPr sz="6500"/>
          </a:lvl4pPr>
          <a:lvl5pPr marL="1143000" indent="-285750" algn="l">
            <a:defRPr sz="6500"/>
          </a:lvl5pPr>
          <a:lvl6pPr marL="1428750" indent="-285750" algn="l">
            <a:defRPr sz="6500"/>
          </a:lvl6pPr>
          <a:lvl7pPr marL="1714500" indent="-285750" algn="l">
            <a:defRPr sz="6500"/>
          </a:lvl7pPr>
          <a:lvl8pPr marL="2000250" indent="-285750" algn="l">
            <a:defRPr sz="6500"/>
          </a:lvl8pPr>
          <a:lvl9pPr marL="2286000" indent="-285750" algn="l">
            <a:defRPr sz="6500"/>
          </a:lvl9pPr>
        </a:lstStyle>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Document Clustering</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Topic modelling</a:t>
          </a:r>
          <a:endParaRPr lang="en-US" sz="1800" dirty="0">
            <a:solidFill>
              <a:schemeClr val="dk1"/>
            </a:solidFill>
            <a:latin typeface="Arial" panose="020B0604020202020204" pitchFamily="34" charset="0"/>
            <a:cs typeface="Arial" panose="020B0604020202020204" pitchFamily="34" charset="0"/>
          </a:endParaRPr>
        </a:p>
        <a:p>
          <a:pPr marL="171450" lvl="1" indent="-171450">
            <a:lnSpc>
              <a:spcPct val="100000"/>
            </a:lnSpc>
            <a:spcBef>
              <a:spcPct val="0"/>
            </a:spcBef>
            <a:spcAft>
              <a:spcPct val="15000"/>
            </a:spcAft>
            <a:buChar char="•"/>
          </a:pPr>
          <a:r>
            <a:rPr lang="en-US" sz="1800" dirty="0">
              <a:solidFill>
                <a:schemeClr val="dk1"/>
              </a:solidFill>
              <a:latin typeface="Arial" panose="020B0604020202020204" pitchFamily="34" charset="0"/>
              <a:cs typeface="Arial" panose="020B0604020202020204" pitchFamily="34" charset="0"/>
            </a:rPr>
            <a:t>Similar words </a:t>
          </a:r>
          <a:endParaRPr sz="1800">
            <a:solidFill>
              <a:schemeClr val="dk1"/>
            </a:solidFill>
            <a:latin typeface="Arial" panose="020B0604020202020204" pitchFamily="34" charset="0"/>
            <a:cs typeface="Arial" panose="020B0604020202020204" pitchFamily="34" charset="0"/>
          </a:endParaRPr>
        </a:p>
      </dsp:txBody>
      <dsp:txXfrm>
        <a:off x="8858140" y="1432535"/>
        <a:ext cx="1942575" cy="2854800"/>
      </dsp:txXfrm>
    </dsp:sp>
  </dsp:spTree>
</dsp:drawing>
</file>

<file path=ppt/diagrams/layout1.xml><?xml version="1.0" encoding="utf-8"?>
<dgm:layoutDef xmlns:dgm="http://schemas.openxmlformats.org/drawingml/2006/diagram" xmlns:a="http://schemas.openxmlformats.org/drawingml/2006/main" uniqueId="urn:diagrams.loki3.com/BracketList">
  <dgm:title val="Vertical Bracket List"/>
  <dgm:desc val="Use to show grouped blocks of information.  Works well with large amounts of Level 2 text."/>
  <dgm:catLst>
    <dgm:cat type="list" pri="4110"/>
    <dgm:cat type="officeonline" pri="3000"/>
  </dgm:catLst>
  <dgm:sampData>
    <dgm:dataModel>
      <dgm:ptLst>
        <dgm:pt modelId="0" type="doc"/>
        <dgm:pt modelId="1">
          <dgm:prSet phldr="1"/>
        </dgm:pt>
        <dgm:pt modelId="11">
          <dgm:prSet phldr="1"/>
        </dgm:pt>
        <dgm:pt modelId="2">
          <dgm:prSet phldr="1"/>
        </dgm:pt>
        <dgm:pt modelId="21">
          <dgm:prSet phldr="1"/>
        </dgm:pt>
      </dgm:ptLst>
      <dgm:cxnLst>
        <dgm:cxn modelId="3" srcId="0" destId="1" srcOrd="0" destOrd="0"/>
        <dgm:cxn modelId="4" srcId="1" destId="11" srcOrd="0" destOrd="0"/>
        <dgm:cxn modelId="5" srcId="0" destId="2" srcOrd="0" destOrd="0"/>
        <dgm:cxn modelId="6" srcId="2" destId="21" srcOrd="0" destOrd="0"/>
      </dgm:cxnLst>
      <dgm:bg/>
      <dgm:whole/>
    </dgm:dataModel>
  </dgm:sampData>
  <dgm:styleData useDef="1">
    <dgm:dataModel>
      <dgm:ptLst/>
      <dgm:bg/>
      <dgm:whole/>
    </dgm:dataModel>
  </dgm:styleData>
  <dgm:clrData useDef="1">
    <dgm:dataModel>
      <dgm:pt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V" refType="primFontSz" refFor="des" refForName="parTx" fact="0.1"/>
      <dgm:constr type="primFontSz" for="des" forName="parTx" val="65"/>
      <dgm:constr type="primFontSz" for="des" forName="desTx" refType="primFontSz" refFor="des" refForName="parTx"/>
      <dgm:constr type="h" for="des" forName="parTx" refType="primFontSz" refFor="des" refForName="parTx" fact="0.55"/>
      <dgm:constr type="h" for="des" forName="bracket" refType="primFontSz" refFor="des" refForName="parTx" fact="0.55"/>
      <dgm:constr type="h" for="des" forName="desTx" refType="primFontSz" refFor="des" refForName="parTx" fact="0.55"/>
    </dgm:constrLst>
    <dgm:ruleLst>
      <dgm:rule type="primFontSz" for="des" forName="parTx" val="5" fact="NaN" max="NaN"/>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Tx" refType="w" fact="0.25"/>
          <dgm:constr type="w" for="ch" forName="bracket" refType="w" fact="0.05"/>
          <dgm:constr type="w" for="ch" forName="spH" refType="w" fact="0.02"/>
          <dgm:constr type="w" for="ch" forName="desTx" refType="w" fact="0.68"/>
          <dgm:constr type="h" for="ch" forName="bracket" refType="h" refFor="ch" refForName="desTx" op="gte"/>
          <dgm:constr type="h" for="ch" forName="bracket" refType="h" refFor="ch" refForName="parTx" op="gte"/>
          <dgm:constr type="h" for="ch" forName="desTx" refType="h" refFor="ch" refForName="parTx" op="gte"/>
        </dgm:constrLst>
        <dgm:ruleLst/>
        <dgm:layoutNode name="parTx" styleLbl="revTx">
          <dgm:varLst>
            <dgm:chMax val="1"/>
            <dgm:bulletEnabled val="1"/>
          </dgm:varLst>
          <dgm:choose name="Name8">
            <dgm:if name="Name9" func="var" arg="dir" op="equ" val="norm">
              <dgm:alg type="tx">
                <dgm:param type="parTxLTRAlign" val="r"/>
              </dgm:alg>
            </dgm:if>
            <dgm:else name="Name10">
              <dgm:alg type="tx">
                <dgm:param type="parTxLTRAlign" val="l"/>
              </dgm:alg>
            </dgm:else>
          </dgm:choose>
          <dgm:shape xmlns:r="http://schemas.openxmlformats.org/officeDocument/2006/relationships" type="rect" r:blip="">
            <dgm:adjLst/>
          </dgm:shape>
          <dgm:presOf axis="self" ptType="node"/>
          <dgm:constrLst>
            <dgm:constr type="tMarg" refType="primFontSz" fact="0.2"/>
            <dgm:constr type="bMarg" refType="primFontSz" fact="0.2"/>
          </dgm:constrLst>
          <dgm:ruleLst>
            <dgm:rule type="h" val="INF" fact="NaN" max="NaN"/>
          </dgm:ruleLst>
        </dgm:layoutNode>
        <dgm:layoutNode name="bracket" styleLbl="parChTrans1D1">
          <dgm:alg type="sp"/>
          <dgm:choose name="Name11">
            <dgm:if name="Name12" func="var" arg="dir" op="equ" val="norm">
              <dgm:shape xmlns:r="http://schemas.openxmlformats.org/officeDocument/2006/relationships" type="leftBrace" r:blip="">
                <dgm:adjLst>
                  <dgm:adj idx="1" val="0.35"/>
                </dgm:adjLst>
              </dgm:shape>
            </dgm:if>
            <dgm:else name="Name13">
              <dgm:shape xmlns:r="http://schemas.openxmlformats.org/officeDocument/2006/relationships" type="leftBrace" r:blip="" rot="180">
                <dgm:adjLst>
                  <dgm:adj idx="1" val="0.35"/>
                </dgm:adjLst>
              </dgm:shape>
            </dgm:else>
          </dgm:choose>
          <dgm:presOf/>
        </dgm:layoutNode>
        <dgm:layoutNode name="spH">
          <dgm:alg type="sp"/>
        </dgm:layoutNode>
        <dgm:choose name="Name14">
          <dgm:if name="Name15" axis="ch" ptType="node" func="cnt" op="gte" val="1">
            <dgm:layoutNode name="desTx" styleLbl="node1">
              <dgm:varLst>
                <dgm:bulletEnabled val="1"/>
              </dgm:varLst>
              <dgm:alg type="tx">
                <dgm:param type="stBulletLvl" val="1"/>
                <dgm:param type="txAnchorVertCh" val="mid"/>
              </dgm:alg>
              <dgm:shape xmlns:r="http://schemas.openxmlformats.org/officeDocument/2006/relationships" type="rect" r:blip="">
                <dgm:adjLst/>
              </dgm:shape>
              <dgm:presOf axis="des" ptType="node"/>
              <dgm:constrLst>
                <dgm:constr type="secFontSz" refType="primFontSz"/>
                <dgm:constr type="tMarg" refType="primFontSz" fact="0.3"/>
                <dgm:constr type="bMarg" refType="primFontSz" fact="0.3"/>
                <dgm:constr type="lMarg" refType="primFontSz" fact="0.3"/>
                <dgm:constr type="rMarg" refType="primFontSz" fact="0.3"/>
              </dgm:constrLst>
              <dgm:ruleLst>
                <dgm:rule type="h" val="INF" fact="NaN" max="NaN"/>
              </dgm:ruleLst>
            </dgm:layoutNode>
          </dgm:if>
          <dgm:else name="Name16"/>
        </dgm:choose>
      </dgm:layoutNode>
      <dgm:forEach name="Name17" axis="followSib" ptType="sibTrans" cnt="1">
        <dgm:layoutNode name="spV">
          <dgm:alg type="sp"/>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hList1">
  <dgm:title val=""/>
  <dgm:desc val=""/>
  <dgm:catLst>
    <dgm:cat type="list" pri="5000"/>
    <dgm:cat type="convert" pri="5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rSet qsTypeId="urn:microsoft.com/office/officeart/2005/8/quickstyle/simple5"/>
        </dgm:pt>
        <dgm:pt modelId="1">
          <dgm:prSet phldr="1"/>
        </dgm:pt>
        <dgm:pt modelId="2">
          <dgm:prSet phldr="1"/>
        </dgm:pt>
      </dgm:ptLst>
      <dgm:cxnLst>
        <dgm:cxn modelId="3" srcId="0" destId="1" srcOrd="0" destOrd="0"/>
        <dgm:cxn modelId="4" srcId="0" destId="2" srcOrd="1" destOrd="0"/>
      </dgm:cxnLst>
      <dgm:bg/>
      <dgm:whole/>
    </dgm:dataModel>
  </dgm:styleData>
  <dgm:clr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animLvl val="lvl"/>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onstrLst>
      <dgm:constr type="h" for="ch" forName="composite" refType="h"/>
      <dgm:constr type="w" for="ch" forName="composite" refType="w"/>
      <dgm:constr type="w" for="des" forName="parTx"/>
      <dgm:constr type="h" for="des" forName="parTx" op="equ"/>
      <dgm:constr type="w" for="des" forName="desTx"/>
      <dgm:constr type="h" for="des" forName="desTx" op="equ"/>
      <dgm:constr type="primFontSz" for="des" forName="parTx" val="65"/>
      <dgm:constr type="secFontSz" for="des" forName="desTx" refType="primFontSz" refFor="des" refForName="parTx" op="equ"/>
      <dgm:constr type="h" for="des" forName="parTx" refType="primFontSz" refFor="des" refForName="parTx" fact="0.8"/>
      <dgm:constr type="h" for="des" forName="desTx" refType="primFontSz" refFor="des" refForName="parTx" fact="1.22"/>
      <dgm:constr type="w" for="ch" forName="space" refType="w" refFor="ch" refForName="composite" op="equ" fact="0.14"/>
    </dgm:constrLst>
    <dgm:ruleLst>
      <dgm:rule type="w" for="ch" forName="composite" val="0" fact="NaN" max="NaN"/>
      <dgm:rule type="primFontSz" for="des" forName="parTx" val="5" fact="NaN" max="NaN"/>
    </dgm:ruleLst>
    <dgm:forEach name="Name4" axis="ch" ptType="node">
      <dgm:layoutNode name="composite">
        <dgm:alg type="composite"/>
        <dgm:shape xmlns:r="http://schemas.openxmlformats.org/officeDocument/2006/relationships" r:blip="">
          <dgm:adjLst/>
        </dgm:shape>
        <dgm:presOf/>
        <dgm:constrLst>
          <dgm:constr type="l" for="ch" forName="parTx"/>
          <dgm:constr type="w" for="ch" forName="parTx" refType="w"/>
          <dgm:constr type="t" for="ch" forName="parTx"/>
          <dgm:constr type="l" for="ch" forName="desTx"/>
          <dgm:constr type="w" for="ch" forName="desTx" refType="w" refFor="ch" refForName="parTx"/>
          <dgm:constr type="t" for="ch" forName="desTx" refType="h" refFor="ch" refForName="parTx"/>
        </dgm:constrLst>
        <dgm:ruleLst>
          <dgm:rule type="h" val="INF" fact="NaN" max="NaN"/>
        </dgm:ruleLst>
        <dgm:layoutNode name="parTx" styleLbl="alignNode1">
          <dgm:varLst>
            <dgm:chMax val="0"/>
            <dgm:chPref val="0"/>
            <dgm:bulletEnabled val="1"/>
          </dgm:varLst>
          <dgm:alg type="tx"/>
          <dgm:shape xmlns:r="http://schemas.openxmlformats.org/officeDocument/2006/relationships" type="rect" r:blip="">
            <dgm:adjLst/>
          </dgm:shape>
          <dgm:presOf axis="self" ptType="node"/>
          <dgm:constrLst>
            <dgm:constr type="h" refType="w" op="lte" fact="0.4"/>
            <dgm:constr type="h"/>
            <dgm:constr type="tMarg" refType="primFontSz" fact="0.32"/>
            <dgm:constr type="bMarg" refType="primFontSz" fact="0.32"/>
          </dgm:constrLst>
          <dgm:ruleLst>
            <dgm:rule type="h" val="INF" fact="NaN" max="NaN"/>
          </dgm:ruleLst>
        </dgm:layoutNode>
        <dgm:layoutNode name="desTx" styleLbl="alignAccFollowNode1">
          <dgm:varLst>
            <dgm:bulletEnabled val="1"/>
          </dgm:varLst>
          <dgm:alg type="tx">
            <dgm:param type="stBulletLvl" val="1"/>
          </dgm:alg>
          <dgm:shape xmlns:r="http://schemas.openxmlformats.org/officeDocument/2006/relationships" type="rect" r:blip="">
            <dgm:adjLst/>
          </dgm:shape>
          <dgm:presOf axis="des" ptType="node"/>
          <dgm:constrLst>
            <dgm:constr type="secFontSz" val="65"/>
            <dgm:constr type="primFontSz" refType="secFontSz"/>
            <dgm:constr type="h"/>
            <dgm:constr type="lMarg" refType="primFontSz" fact="0.42"/>
            <dgm:constr type="tMarg" refType="primFontSz" fact="0.42"/>
            <dgm:constr type="bMarg" refType="primFontSz" fact="0.63"/>
          </dgm:constrLst>
          <dgm:ruleLst>
            <dgm:rule type="h" val="INF" fact="NaN" max="NaN"/>
          </dgm:ruleLst>
        </dgm:layoutNode>
      </dgm:layoutNode>
      <dgm:forEach name="Name5"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alig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b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callout">
    <dgm:scene3d>
      <a:camera prst="orthographicFront"/>
      <a:lightRig rig="threePt" dir="t"/>
    </dgm:scene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hp">
    <dgm:scene3d>
      <a:camera prst="orthographicFront"/>
      <a:lightRig rig="threePt" dir="t"/>
    </dgm:scene3d>
    <dgm:txPr/>
    <dgm:style>
      <a:lnRef idx="2">
        <a:scrgbClr r="0" g="0" b="0"/>
      </a:lnRef>
      <a:fillRef idx="1">
        <a:scrgbClr r="0" g="0" b="0"/>
      </a:fillRef>
      <a:effectRef idx="0">
        <a:scrgbClr r="0" g="0" b="0"/>
      </a:effectRef>
      <a:fontRef idx="minor"/>
    </dgm:style>
  </dgm:styleLbl>
  <dgm:styleLbl name="fg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0">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txPr/>
    <dgm:style>
      <a:lnRef idx="2">
        <a:scrgbClr r="0" g="0" b="0"/>
      </a:lnRef>
      <a:fillRef idx="1">
        <a:scrgbClr r="0" g="0" b="0"/>
      </a:fillRef>
      <a:effectRef idx="0">
        <a:scrgbClr r="0" g="0" b="0"/>
      </a:effectRef>
      <a:fontRef idx="minor">
        <a:schemeClr val="lt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1">
        <a:scrgbClr r="0" g="0" b="0"/>
      </a:fillRef>
      <a:effectRef idx="0">
        <a:scrgbClr r="0" g="0" b="0"/>
      </a:effectRef>
      <a:fontRef idx="minor">
        <a:schemeClr val="lt1"/>
      </a:fontRef>
    </dgm:style>
  </dgm:styleLbl>
  <dgm:styleLbl name="solidAlign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txPr/>
    <dgm:style>
      <a:lnRef idx="2">
        <a:scrgbClr r="0" g="0" b="0"/>
      </a:lnRef>
      <a:fillRef idx="1">
        <a:scrgbClr r="0" g="0" b="0"/>
      </a:fillRef>
      <a:effectRef idx="0">
        <a:scrgbClr r="0" g="0" b="0"/>
      </a:effectRef>
      <a:fontRef idx="minor">
        <a:schemeClr val="tx1"/>
      </a:fontRef>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alignNode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b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callout">
    <dgm:scene3d>
      <a:camera prst="orthographicFront"/>
      <a:lightRig rig="threePt" dir="t"/>
    </dgm:scene3d>
    <dgm:txPr/>
    <dgm:style>
      <a:lnRef idx="1">
        <a:scrgbClr r="0" g="0" b="0"/>
      </a:lnRef>
      <a:fillRef idx="2">
        <a:scrgbClr r="0" g="0" b="0"/>
      </a:fillRef>
      <a:effectRef idx="1">
        <a:scrgbClr r="0" g="0" b="0"/>
      </a:effectRef>
      <a:fontRef idx="minor"/>
    </dgm:style>
  </dgm:styleLbl>
  <dgm:styleLbl name="con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txPr/>
    <dgm:style>
      <a:lnRef idx="0">
        <a:scrgbClr r="0" g="0" b="0"/>
      </a:lnRef>
      <a:fillRef idx="1">
        <a:scrgbClr r="0" g="0" b="0"/>
      </a:fillRef>
      <a:effectRef idx="1">
        <a:scrgbClr r="0" g="0" b="0"/>
      </a:effectRef>
      <a:fontRef idx="minor"/>
    </dgm:style>
  </dgm:styleLbl>
  <dgm:styleLbl name="fgAcc0">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txPr/>
    <dgm:style>
      <a:lnRef idx="1">
        <a:scrgbClr r="0" g="0" b="0"/>
      </a:lnRef>
      <a:fillRef idx="1">
        <a:scrgbClr r="0" g="0" b="0"/>
      </a:fillRef>
      <a:effectRef idx="1">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fg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txPr/>
    <dgm:style>
      <a:lnRef idx="2">
        <a:scrgbClr r="0" g="0" b="0"/>
      </a:lnRef>
      <a:fillRef idx="0">
        <a:scrgbClr r="0" g="0" b="0"/>
      </a:fillRef>
      <a:effectRef idx="0">
        <a:scrgbClr r="0" g="0" b="0"/>
      </a:effectRef>
      <a:fontRef idx="minor"/>
    </dgm:style>
  </dgm:styleLbl>
  <dgm:styleLbl name="parChTrans2D1">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txPr/>
    <dgm:style>
      <a:lnRef idx="1">
        <a:scrgbClr r="0" g="0" b="0"/>
      </a:lnRef>
      <a:fillRef idx="2">
        <a:scrgbClr r="0" g="0" b="0"/>
      </a:fillRef>
      <a:effectRef idx="1">
        <a:scrgbClr r="0" g="0" b="0"/>
      </a:effectRef>
      <a:fontRef idx="minor">
        <a:schemeClr val="dk1"/>
      </a:fontRef>
    </dgm:style>
  </dgm:styleLbl>
  <dgm:styleLbl name="revTx">
    <dgm:scene3d>
      <a:camera prst="orthographicFront"/>
      <a:lightRig rig="threePt" dir="t"/>
    </dgm:scene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txPr/>
    <dgm:style>
      <a:lnRef idx="0">
        <a:scrgbClr r="0" g="0" b="0"/>
      </a:lnRef>
      <a:fillRef idx="2">
        <a:scrgbClr r="0" g="0" b="0"/>
      </a:fillRef>
      <a:effectRef idx="1">
        <a:scrgbClr r="0" g="0" b="0"/>
      </a:effectRef>
      <a:fontRef idx="minor">
        <a:schemeClr val="dk1"/>
      </a:fontRef>
    </dgm:style>
  </dgm:styleLbl>
  <dgm:styleLbl name="solid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txPr/>
    <dgm:style>
      <a:lnRef idx="1">
        <a:scrgbClr r="0" g="0" b="0"/>
      </a:lnRef>
      <a:fillRef idx="2">
        <a:scrgbClr r="0" g="0" b="0"/>
      </a:fillRef>
      <a:effectRef idx="0">
        <a:scrgbClr r="0" g="0" b="0"/>
      </a:effectRef>
      <a:fontRef idx="minor"/>
    </dgm:style>
  </dgm:styleLbl>
  <dgm:styleLbl name="trAlignAcc1">
    <dgm:scene3d>
      <a:camera prst="orthographicFront"/>
      <a:lightRig rig="threePt" dir="t"/>
    </dgm:scene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txPr/>
    <dgm:style>
      <a:lnRef idx="0">
        <a:scrgbClr r="0" g="0" b="0"/>
      </a:lnRef>
      <a:fillRef idx="1">
        <a:scrgbClr r="0" g="0" b="0"/>
      </a:fillRef>
      <a:effectRef idx="0">
        <a:scrgbClr r="0" g="0" b="0"/>
      </a:effectRef>
      <a:fontRef idx="minor"/>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Def>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1.xml"/><Relationship Id="rId4" Type="http://schemas.openxmlformats.org/officeDocument/2006/relationships/diagramColors" Target="../diagrams/colors1.xml"/><Relationship Id="rId3" Type="http://schemas.openxmlformats.org/officeDocument/2006/relationships/diagramQuickStyle" Target="../diagrams/quickStyle1.xml"/><Relationship Id="rId2" Type="http://schemas.openxmlformats.org/officeDocument/2006/relationships/diagramLayout" Target="../diagrams/layout1.xml"/><Relationship Id="rId1" Type="http://schemas.openxmlformats.org/officeDocument/2006/relationships/diagramData" Target="../diagrams/data1.xml"/></Relationships>
</file>

<file path=ppt/slides/_rels/slide4.xml.rels><?xml version="1.0" encoding="UTF-8" standalone="yes"?>
<Relationships xmlns="http://schemas.openxmlformats.org/package/2006/relationships"><Relationship Id="rId7" Type="http://schemas.openxmlformats.org/officeDocument/2006/relationships/slideLayout" Target="../slideLayouts/slideLayout4.xml"/><Relationship Id="rId6" Type="http://schemas.openxmlformats.org/officeDocument/2006/relationships/image" Target="../media/image9.jpeg"/><Relationship Id="rId5" Type="http://schemas.openxmlformats.org/officeDocument/2006/relationships/image" Target="../media/image8.png"/><Relationship Id="rId4" Type="http://schemas.openxmlformats.org/officeDocument/2006/relationships/image" Target="../media/image7.png"/><Relationship Id="rId3" Type="http://schemas.openxmlformats.org/officeDocument/2006/relationships/image" Target="../media/image6.png"/><Relationship Id="rId2" Type="http://schemas.openxmlformats.org/officeDocument/2006/relationships/image" Target="../media/image5.jpeg"/><Relationship Id="rId1"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6" Type="http://schemas.openxmlformats.org/officeDocument/2006/relationships/slideLayout" Target="../slideLayouts/slideLayout2.xml"/><Relationship Id="rId5" Type="http://schemas.microsoft.com/office/2007/relationships/diagramDrawing" Target="../diagrams/drawing2.xml"/><Relationship Id="rId4" Type="http://schemas.openxmlformats.org/officeDocument/2006/relationships/diagramColors" Target="../diagrams/colors2.xml"/><Relationship Id="rId3" Type="http://schemas.openxmlformats.org/officeDocument/2006/relationships/diagramQuickStyle" Target="../diagrams/quickStyle2.xml"/><Relationship Id="rId2" Type="http://schemas.openxmlformats.org/officeDocument/2006/relationships/diagramLayout" Target="../diagrams/layout2.xml"/><Relationship Id="rId1" Type="http://schemas.openxmlformats.org/officeDocument/2006/relationships/diagramData" Target="../diagrams/data2.xml"/></Relationships>
</file>

<file path=ppt/slides/_rels/slide10.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hyperlink" Target="https://www.analyticsvidhya.com/blog/2017/06/word-embeddings-count-word2veec/" TargetMode="External"/></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4.xml"/><Relationship Id="rId1" Type="http://schemas.openxmlformats.org/officeDocument/2006/relationships/image" Target="../media/image1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4.png"/><Relationship Id="rId1"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8.png"/><Relationship Id="rId1" Type="http://schemas.openxmlformats.org/officeDocument/2006/relationships/image" Target="../media/image17.png"/></Relationships>
</file>

<file path=ppt/slides/_rels/slide17.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9.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25052" y="1652905"/>
            <a:ext cx="10943167" cy="1082675"/>
          </a:xfrm>
        </p:spPr>
        <p:txBody>
          <a:bodyPr/>
          <a:lstStyle/>
          <a:p>
            <a:r>
              <a:rPr lang="de-DE" sz="5000" b="1" dirty="0">
                <a:solidFill>
                  <a:srgbClr val="FF0000"/>
                </a:solidFill>
                <a:sym typeface="+mn-ea"/>
              </a:rPr>
              <a:t>Natural Language Processing</a:t>
            </a:r>
            <a:endParaRPr lang="de-DE" sz="5000" b="1" dirty="0">
              <a:solidFill>
                <a:srgbClr val="FF0000"/>
              </a:solidFill>
              <a:sym typeface="+mn-ea"/>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rPr>
              <a:t>Introduction</a:t>
            </a:r>
            <a:endPar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endParaRPr>
          </a:p>
        </p:txBody>
      </p:sp>
      <p:sp>
        <p:nvSpPr>
          <p:cNvPr id="3" name="Content Placeholder 2"/>
          <p:cNvSpPr>
            <a:spLocks noGrp="1"/>
          </p:cNvSpPr>
          <p:nvPr>
            <p:ph idx="1"/>
          </p:nvPr>
        </p:nvSpPr>
        <p:spPr>
          <a:xfrm>
            <a:off x="609600" y="873125"/>
            <a:ext cx="10972800" cy="5672455"/>
          </a:xfrm>
        </p:spPr>
        <p:txBody>
          <a:bodyPr/>
          <a:p>
            <a:r>
              <a:rPr lang="en-US" sz="1800" dirty="0">
                <a:latin typeface="Arial" panose="020B0604020202020204" pitchFamily="34" charset="0"/>
                <a:ea typeface="Verdana" panose="020B0604030504040204" pitchFamily="34" charset="0"/>
                <a:cs typeface="Arial" panose="020B0604020202020204" pitchFamily="34" charset="0"/>
                <a:sym typeface="+mn-ea"/>
              </a:rPr>
              <a:t>Humans communicate with each other using words and text. The way that humans convey information to each other is called Natural Language. Every day humans share a large quality of information with each other in various languages as speech or text.</a:t>
            </a:r>
            <a:endParaRPr lang="en-US" sz="1800" dirty="0">
              <a:latin typeface="Arial" panose="020B0604020202020204" pitchFamily="34" charset="0"/>
              <a:ea typeface="Verdana" panose="020B0604030504040204" pitchFamily="34" charset="0"/>
              <a:cs typeface="Arial" panose="020B0604020202020204" pitchFamily="34" charset="0"/>
              <a:sym typeface="+mn-ea"/>
            </a:endParaRPr>
          </a:p>
          <a:p>
            <a:r>
              <a:rPr lang="en-US" sz="1800" dirty="0">
                <a:latin typeface="Arial" panose="020B0604020202020204" pitchFamily="34" charset="0"/>
                <a:ea typeface="Verdana" panose="020B0604030504040204" pitchFamily="34" charset="0"/>
                <a:cs typeface="Arial" panose="020B0604020202020204" pitchFamily="34" charset="0"/>
                <a:sym typeface="+mn-ea"/>
              </a:rPr>
              <a:t>However, computers cannot interpret this data, which is in natural language, as they communicate in 1s and 0s. The data produced is precious and can offer valuable insights. Hence, you need computers to be able to understand, emulate and respond intelligently to human speech. </a:t>
            </a:r>
            <a:endParaRPr lang="en-US" sz="1800" dirty="0">
              <a:latin typeface="Arial" panose="020B0604020202020204" pitchFamily="34" charset="0"/>
              <a:ea typeface="Verdana" panose="020B0604030504040204" pitchFamily="34" charset="0"/>
              <a:cs typeface="Arial" panose="020B0604020202020204" pitchFamily="34" charset="0"/>
              <a:sym typeface="+mn-ea"/>
            </a:endParaRPr>
          </a:p>
          <a:p>
            <a:r>
              <a:rPr lang="en-US" sz="1800" dirty="0">
                <a:latin typeface="Arial" panose="020B0604020202020204" pitchFamily="34" charset="0"/>
                <a:ea typeface="Verdana" panose="020B0604030504040204" pitchFamily="34" charset="0"/>
                <a:cs typeface="Arial" panose="020B0604020202020204" pitchFamily="34" charset="0"/>
                <a:sym typeface="+mn-ea"/>
              </a:rPr>
              <a:t>Natural Language Processing or NLP refers to the branch of Artificial Intelligence that gives the machines the ability to read, understand and derive meaning from human languages.</a:t>
            </a:r>
            <a:endParaRPr lang="en-US" sz="1800" dirty="0">
              <a:latin typeface="Arial" panose="020B0604020202020204" pitchFamily="34" charset="0"/>
              <a:ea typeface="Verdana" panose="020B0604030504040204" pitchFamily="34" charset="0"/>
              <a:cs typeface="Arial" panose="020B0604020202020204" pitchFamily="34" charset="0"/>
              <a:sym typeface="+mn-ea"/>
            </a:endParaRPr>
          </a:p>
        </p:txBody>
      </p:sp>
      <p:pic>
        <p:nvPicPr>
          <p:cNvPr id="4" name="Picture 3"/>
          <p:cNvPicPr>
            <a:picLocks noChangeAspect="1"/>
          </p:cNvPicPr>
          <p:nvPr/>
        </p:nvPicPr>
        <p:blipFill>
          <a:blip r:embed="rId1"/>
          <a:stretch>
            <a:fillRect/>
          </a:stretch>
        </p:blipFill>
        <p:spPr>
          <a:xfrm>
            <a:off x="2519680" y="3454400"/>
            <a:ext cx="6013450" cy="2750820"/>
          </a:xfrm>
          <a:prstGeom prst="rect">
            <a:avLst/>
          </a:prstGeom>
          <a:noFill/>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Why is NLP important?</a:t>
            </a:r>
            <a:endParaRPr lang="en-US" dirty="0">
              <a:solidFill>
                <a:schemeClr val="accent6"/>
              </a:solidFill>
              <a:sym typeface="+mn-ea"/>
            </a:endParaRPr>
          </a:p>
        </p:txBody>
      </p:sp>
      <p:graphicFrame>
        <p:nvGraphicFramePr>
          <p:cNvPr id="4" name="Diagram 3"/>
          <p:cNvGraphicFramePr/>
          <p:nvPr/>
        </p:nvGraphicFramePr>
        <p:xfrm>
          <a:off x="609776" y="1118409"/>
          <a:ext cx="8141149" cy="4780659"/>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ltLang="en-US">
                <a:ln>
                  <a:noFill/>
                </a:ln>
                <a:solidFill>
                  <a:schemeClr val="accent1"/>
                </a:solidFill>
                <a:effectLst/>
                <a:sym typeface="+mn-ea"/>
              </a:rPr>
              <a:t>Why do computers have difficulty with NLP? </a:t>
            </a:r>
            <a:endParaRPr lang="en-US"/>
          </a:p>
        </p:txBody>
      </p:sp>
      <p:sp>
        <p:nvSpPr>
          <p:cNvPr id="9" name="Text Box 8"/>
          <p:cNvSpPr txBox="1"/>
          <p:nvPr/>
        </p:nvSpPr>
        <p:spPr>
          <a:xfrm>
            <a:off x="609600" y="2294255"/>
            <a:ext cx="1518920" cy="3138170"/>
          </a:xfrm>
          <a:prstGeom prst="rect">
            <a:avLst/>
          </a:prstGeom>
          <a:noFill/>
        </p:spPr>
        <p:txBody>
          <a:bodyPr wrap="square" rtlCol="0" anchor="t">
            <a:spAutoFit/>
          </a:bodyPr>
          <a:p>
            <a:r>
              <a:rPr lang="en-US"/>
              <a:t>Computers have mostly been dealing with structured data. But Importantly, 80% of enterprise data is unstructured.</a:t>
            </a:r>
            <a:endParaRPr lang="en-US"/>
          </a:p>
        </p:txBody>
      </p:sp>
      <p:sp>
        <p:nvSpPr>
          <p:cNvPr id="10" name="Text Box 9"/>
          <p:cNvSpPr txBox="1"/>
          <p:nvPr/>
        </p:nvSpPr>
        <p:spPr>
          <a:xfrm>
            <a:off x="4826000" y="3244850"/>
            <a:ext cx="2540000" cy="368300"/>
          </a:xfrm>
          <a:prstGeom prst="rect">
            <a:avLst/>
          </a:prstGeom>
          <a:noFill/>
        </p:spPr>
        <p:txBody>
          <a:bodyPr wrap="square" rtlCol="0" anchor="t">
            <a:spAutoFit/>
          </a:bodyPr>
          <a:p>
            <a:r>
              <a:rPr lang="en-US"/>
              <a:t>   </a:t>
            </a:r>
            <a:endParaRPr lang="en-US"/>
          </a:p>
        </p:txBody>
      </p:sp>
      <p:sp>
        <p:nvSpPr>
          <p:cNvPr id="13" name="Text Box 12"/>
          <p:cNvSpPr txBox="1"/>
          <p:nvPr/>
        </p:nvSpPr>
        <p:spPr>
          <a:xfrm>
            <a:off x="2128520" y="2294255"/>
            <a:ext cx="1584960" cy="2584450"/>
          </a:xfrm>
          <a:prstGeom prst="rect">
            <a:avLst/>
          </a:prstGeom>
          <a:noFill/>
        </p:spPr>
        <p:txBody>
          <a:bodyPr wrap="square" rtlCol="0" anchor="t">
            <a:spAutoFit/>
          </a:bodyPr>
          <a:p>
            <a:r>
              <a:rPr lang="en-US"/>
              <a:t>Human languages are quite unlike the precise and unambiguous nature of computer languages.</a:t>
            </a:r>
            <a:endParaRPr lang="en-US"/>
          </a:p>
        </p:txBody>
      </p:sp>
      <p:sp>
        <p:nvSpPr>
          <p:cNvPr id="14" name="Text Box 13"/>
          <p:cNvSpPr txBox="1"/>
          <p:nvPr/>
        </p:nvSpPr>
        <p:spPr>
          <a:xfrm>
            <a:off x="3713480" y="2294255"/>
            <a:ext cx="1644015" cy="3138170"/>
          </a:xfrm>
          <a:prstGeom prst="rect">
            <a:avLst/>
          </a:prstGeom>
          <a:noFill/>
        </p:spPr>
        <p:txBody>
          <a:bodyPr wrap="square" rtlCol="0" anchor="t">
            <a:spAutoFit/>
          </a:bodyPr>
          <a:p>
            <a:r>
              <a:rPr lang="en-US"/>
              <a:t>Human languages have plenty of complexities such as ambiguous phrases, colloquialisms, metaphors, puns, or sarcasms.</a:t>
            </a:r>
            <a:endParaRPr lang="en-US"/>
          </a:p>
        </p:txBody>
      </p:sp>
      <p:sp>
        <p:nvSpPr>
          <p:cNvPr id="15" name="Text Box 14"/>
          <p:cNvSpPr txBox="1"/>
          <p:nvPr/>
        </p:nvSpPr>
        <p:spPr>
          <a:xfrm>
            <a:off x="5347970" y="2294255"/>
            <a:ext cx="1378585" cy="2306955"/>
          </a:xfrm>
          <a:prstGeom prst="rect">
            <a:avLst/>
          </a:prstGeom>
          <a:noFill/>
        </p:spPr>
        <p:txBody>
          <a:bodyPr wrap="square" rtlCol="0" anchor="t">
            <a:spAutoFit/>
          </a:bodyPr>
          <a:p>
            <a:r>
              <a:rPr lang="en-US"/>
              <a:t>The same word or text can have multiple meanings depending on the context.</a:t>
            </a:r>
            <a:endParaRPr lang="en-US"/>
          </a:p>
        </p:txBody>
      </p:sp>
      <p:sp>
        <p:nvSpPr>
          <p:cNvPr id="16" name="Text Box 15"/>
          <p:cNvSpPr txBox="1"/>
          <p:nvPr/>
        </p:nvSpPr>
        <p:spPr>
          <a:xfrm>
            <a:off x="6726555" y="2294255"/>
            <a:ext cx="1614170" cy="3692525"/>
          </a:xfrm>
          <a:prstGeom prst="rect">
            <a:avLst/>
          </a:prstGeom>
          <a:noFill/>
        </p:spPr>
        <p:txBody>
          <a:bodyPr wrap="square" rtlCol="0" anchor="t">
            <a:spAutoFit/>
          </a:bodyPr>
          <a:p>
            <a:r>
              <a:rPr lang="en-US"/>
              <a:t>Language evolves with time. Worse still, we communicate imperfectly (spelling, grammar or punctuation errors) but still manage to be understood.</a:t>
            </a:r>
            <a:endParaRPr lang="en-US"/>
          </a:p>
        </p:txBody>
      </p:sp>
      <p:sp>
        <p:nvSpPr>
          <p:cNvPr id="17" name="Text Box 16"/>
          <p:cNvSpPr txBox="1"/>
          <p:nvPr/>
        </p:nvSpPr>
        <p:spPr>
          <a:xfrm>
            <a:off x="8251190" y="2294255"/>
            <a:ext cx="1450340" cy="2306955"/>
          </a:xfrm>
          <a:prstGeom prst="rect">
            <a:avLst/>
          </a:prstGeom>
          <a:noFill/>
        </p:spPr>
        <p:txBody>
          <a:bodyPr wrap="square" rtlCol="0" anchor="t">
            <a:spAutoFit/>
          </a:bodyPr>
          <a:p>
            <a:r>
              <a:rPr lang="en-US"/>
              <a:t>Ambiguities in natural languages can be classified as lexical, syntactic or referential.</a:t>
            </a:r>
            <a:endParaRPr lang="en-US"/>
          </a:p>
        </p:txBody>
      </p:sp>
      <p:sp>
        <p:nvSpPr>
          <p:cNvPr id="18" name="Text Box 17"/>
          <p:cNvSpPr txBox="1"/>
          <p:nvPr/>
        </p:nvSpPr>
        <p:spPr>
          <a:xfrm>
            <a:off x="9709785" y="2294255"/>
            <a:ext cx="1826895" cy="3692525"/>
          </a:xfrm>
          <a:prstGeom prst="rect">
            <a:avLst/>
          </a:prstGeom>
          <a:noFill/>
        </p:spPr>
        <p:txBody>
          <a:bodyPr wrap="square" rtlCol="0" anchor="t">
            <a:spAutoFit/>
          </a:bodyPr>
          <a:p>
            <a:r>
              <a:rPr lang="en-US"/>
              <a:t>When the source of information is speech, more challenges arise: accent, tone, loudness, background noise or context, pronunciation, emotional content, pauses, and so on​.</a:t>
            </a:r>
            <a:endParaRPr lang="en-US"/>
          </a:p>
        </p:txBody>
      </p:sp>
      <p:sp>
        <p:nvSpPr>
          <p:cNvPr id="19" name="Oval 18"/>
          <p:cNvSpPr/>
          <p:nvPr/>
        </p:nvSpPr>
        <p:spPr>
          <a:xfrm>
            <a:off x="733425" y="1133475"/>
            <a:ext cx="1027430"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0" name="Oval 19"/>
          <p:cNvSpPr/>
          <p:nvPr/>
        </p:nvSpPr>
        <p:spPr>
          <a:xfrm>
            <a:off x="2297430" y="1130300"/>
            <a:ext cx="985520"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1" name="Oval 20"/>
          <p:cNvSpPr/>
          <p:nvPr/>
        </p:nvSpPr>
        <p:spPr>
          <a:xfrm>
            <a:off x="3819525" y="1133475"/>
            <a:ext cx="942340"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2" name="Oval 21"/>
          <p:cNvSpPr/>
          <p:nvPr/>
        </p:nvSpPr>
        <p:spPr>
          <a:xfrm>
            <a:off x="5415915" y="1133475"/>
            <a:ext cx="970280"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3" name="Oval 22"/>
          <p:cNvSpPr/>
          <p:nvPr/>
        </p:nvSpPr>
        <p:spPr>
          <a:xfrm>
            <a:off x="6851650" y="1133475"/>
            <a:ext cx="976630"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4" name="Oval 23"/>
          <p:cNvSpPr/>
          <p:nvPr/>
        </p:nvSpPr>
        <p:spPr>
          <a:xfrm>
            <a:off x="8424545" y="1133475"/>
            <a:ext cx="977265"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
        <p:nvSpPr>
          <p:cNvPr id="25" name="Oval 24"/>
          <p:cNvSpPr/>
          <p:nvPr/>
        </p:nvSpPr>
        <p:spPr>
          <a:xfrm>
            <a:off x="9857740" y="1133475"/>
            <a:ext cx="1006475" cy="939800"/>
          </a:xfrm>
          <a:prstGeom prst="ellipse">
            <a:avLst/>
          </a:prstGeom>
          <a:solidFill>
            <a:schemeClr val="bg1"/>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pic>
        <p:nvPicPr>
          <p:cNvPr id="26" name="Picture 25" descr="chip"/>
          <p:cNvPicPr>
            <a:picLocks noChangeAspect="1"/>
          </p:cNvPicPr>
          <p:nvPr/>
        </p:nvPicPr>
        <p:blipFill>
          <a:blip r:embed="rId1"/>
          <a:stretch>
            <a:fillRect/>
          </a:stretch>
        </p:blipFill>
        <p:spPr>
          <a:xfrm>
            <a:off x="911225" y="1298575"/>
            <a:ext cx="672465" cy="672465"/>
          </a:xfrm>
          <a:prstGeom prst="rect">
            <a:avLst/>
          </a:prstGeom>
        </p:spPr>
      </p:pic>
      <p:pic>
        <p:nvPicPr>
          <p:cNvPr id="27" name="Picture 26" descr="book"/>
          <p:cNvPicPr>
            <a:picLocks noChangeAspect="1"/>
          </p:cNvPicPr>
          <p:nvPr/>
        </p:nvPicPr>
        <p:blipFill>
          <a:blip r:embed="rId2"/>
          <a:stretch>
            <a:fillRect/>
          </a:stretch>
        </p:blipFill>
        <p:spPr>
          <a:xfrm>
            <a:off x="2470785" y="1295400"/>
            <a:ext cx="680720" cy="584835"/>
          </a:xfrm>
          <a:prstGeom prst="rect">
            <a:avLst/>
          </a:prstGeom>
        </p:spPr>
      </p:pic>
      <p:pic>
        <p:nvPicPr>
          <p:cNvPr id="28" name="Content Placeholder 27" descr="pencil"/>
          <p:cNvPicPr>
            <a:picLocks noChangeAspect="1"/>
          </p:cNvPicPr>
          <p:nvPr>
            <p:ph sz="half" idx="1"/>
          </p:nvPr>
        </p:nvPicPr>
        <p:blipFill>
          <a:blip r:embed="rId3"/>
          <a:stretch>
            <a:fillRect/>
          </a:stretch>
        </p:blipFill>
        <p:spPr>
          <a:xfrm>
            <a:off x="6841490" y="1097915"/>
            <a:ext cx="1010920" cy="1010920"/>
          </a:xfrm>
          <a:prstGeom prst="rect">
            <a:avLst/>
          </a:prstGeom>
        </p:spPr>
      </p:pic>
      <p:pic>
        <p:nvPicPr>
          <p:cNvPr id="29" name="Picture 28" descr="ear"/>
          <p:cNvPicPr>
            <a:picLocks noChangeAspect="1"/>
          </p:cNvPicPr>
          <p:nvPr/>
        </p:nvPicPr>
        <p:blipFill>
          <a:blip r:embed="rId4"/>
          <a:stretch>
            <a:fillRect/>
          </a:stretch>
        </p:blipFill>
        <p:spPr>
          <a:xfrm>
            <a:off x="10024745" y="1255395"/>
            <a:ext cx="671830" cy="671830"/>
          </a:xfrm>
          <a:prstGeom prst="rect">
            <a:avLst/>
          </a:prstGeom>
        </p:spPr>
      </p:pic>
      <p:pic>
        <p:nvPicPr>
          <p:cNvPr id="30" name="Content Placeholder 29" descr="comment"/>
          <p:cNvPicPr>
            <a:picLocks noChangeAspect="1"/>
          </p:cNvPicPr>
          <p:nvPr>
            <p:ph sz="half" idx="2"/>
          </p:nvPr>
        </p:nvPicPr>
        <p:blipFill>
          <a:blip r:embed="rId5"/>
          <a:stretch>
            <a:fillRect/>
          </a:stretch>
        </p:blipFill>
        <p:spPr>
          <a:xfrm>
            <a:off x="8566150" y="1313815"/>
            <a:ext cx="694690" cy="579120"/>
          </a:xfrm>
          <a:prstGeom prst="rect">
            <a:avLst/>
          </a:prstGeom>
        </p:spPr>
      </p:pic>
      <p:pic>
        <p:nvPicPr>
          <p:cNvPr id="31" name="Picture 30" descr="quotes"/>
          <p:cNvPicPr>
            <a:picLocks noChangeAspect="1"/>
          </p:cNvPicPr>
          <p:nvPr/>
        </p:nvPicPr>
        <p:blipFill>
          <a:blip r:embed="rId6"/>
          <a:stretch>
            <a:fillRect/>
          </a:stretch>
        </p:blipFill>
        <p:spPr>
          <a:xfrm>
            <a:off x="5519420" y="1376045"/>
            <a:ext cx="756285" cy="429260"/>
          </a:xfrm>
          <a:prstGeom prst="rect">
            <a:avLst/>
          </a:prstGeom>
        </p:spPr>
      </p:pic>
      <p:sp>
        <p:nvSpPr>
          <p:cNvPr id="32" name="Smiley Face 31"/>
          <p:cNvSpPr/>
          <p:nvPr/>
        </p:nvSpPr>
        <p:spPr>
          <a:xfrm>
            <a:off x="3990340" y="1308100"/>
            <a:ext cx="572135" cy="584835"/>
          </a:xfrm>
          <a:prstGeom prst="smileyFace">
            <a:avLst/>
          </a:prstGeom>
          <a:solidFill>
            <a:schemeClr val="accent2">
              <a:lumMod val="40000"/>
              <a:lumOff val="60000"/>
            </a:schemeClr>
          </a:solidFill>
          <a:ln w="9525" cap="flat" cmpd="sng" algn="ctr">
            <a:solidFill>
              <a:schemeClr val="accent1"/>
            </a:solidFill>
            <a:prstDash val="solid"/>
            <a:round/>
            <a:headEnd type="none" w="med" len="med"/>
            <a:tailEnd type="none" w="med" len="med"/>
          </a:ln>
        </p:spPr>
        <p:txBody>
          <a:bodyPr vert="horz" wrap="none" lIns="91440" tIns="45720" rIns="91440" bIns="45720" numCol="1" anchor="ctr" anchorCtr="0" compatLnSpc="1"/>
          <a:p>
            <a:pPr marL="0" marR="0" indent="0" algn="l" defTabSz="914400" rtl="0" eaLnBrk="1" fontAlgn="base" latinLnBrk="0" hangingPunct="1">
              <a:lnSpc>
                <a:spcPct val="100000"/>
              </a:lnSpc>
              <a:spcBef>
                <a:spcPct val="0"/>
              </a:spcBef>
              <a:spcAft>
                <a:spcPct val="0"/>
              </a:spcAft>
              <a:buClrTx/>
              <a:buSzTx/>
              <a:buFontTx/>
              <a:buNone/>
            </a:pPr>
            <a:endPara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Examples of the complexities of English?</a:t>
            </a:r>
            <a:endParaRPr lang="en-US"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Contextual words and phrases and homonyms :</a:t>
            </a:r>
            <a:endParaRPr lang="en-US" sz="1800" dirty="0">
              <a:latin typeface="Arial" panose="020B0604020202020204" pitchFamily="34" charset="0"/>
              <a:cs typeface="Arial" panose="020B0604020202020204" pitchFamily="34" charset="0"/>
            </a:endParaRPr>
          </a:p>
          <a:p>
            <a:pPr marL="0" indent="0">
              <a:buNone/>
            </a:pPr>
            <a:r>
              <a:rPr lang="en-US" sz="1800" dirty="0">
                <a:latin typeface="Arial" panose="020B0604020202020204" pitchFamily="34" charset="0"/>
                <a:cs typeface="Arial" panose="020B0604020202020204" pitchFamily="34" charset="0"/>
                <a:sym typeface="+mn-ea"/>
              </a:rPr>
              <a:t>	For example:</a:t>
            </a:r>
            <a:endParaRPr lang="en-US" sz="1800" dirty="0">
              <a:latin typeface="Arial" panose="020B0604020202020204" pitchFamily="34" charset="0"/>
              <a:cs typeface="Arial" panose="020B0604020202020204" pitchFamily="34" charset="0"/>
            </a:endParaRPr>
          </a:p>
          <a:p>
            <a:pPr marL="0" indent="0">
              <a:buNone/>
            </a:pPr>
            <a:r>
              <a:rPr lang="en-US" sz="1800" i="1" dirty="0">
                <a:latin typeface="Arial" panose="020B0604020202020204" pitchFamily="34" charset="0"/>
                <a:cs typeface="Arial" panose="020B0604020202020204" pitchFamily="34" charset="0"/>
                <a:sym typeface="+mn-ea"/>
              </a:rPr>
              <a:t>	I </a:t>
            </a:r>
            <a:r>
              <a:rPr lang="en-US" sz="1800" b="1" i="1" dirty="0">
                <a:latin typeface="Arial" panose="020B0604020202020204" pitchFamily="34" charset="0"/>
                <a:cs typeface="Arial" panose="020B0604020202020204" pitchFamily="34" charset="0"/>
                <a:sym typeface="+mn-ea"/>
              </a:rPr>
              <a:t>ran</a:t>
            </a:r>
            <a:r>
              <a:rPr lang="en-US" sz="1800" i="1" dirty="0">
                <a:latin typeface="Arial" panose="020B0604020202020204" pitchFamily="34" charset="0"/>
                <a:cs typeface="Arial" panose="020B0604020202020204" pitchFamily="34" charset="0"/>
                <a:sym typeface="+mn-ea"/>
              </a:rPr>
              <a:t> to the store because we </a:t>
            </a:r>
            <a:r>
              <a:rPr lang="en-US" sz="1800" b="1" i="1" dirty="0">
                <a:latin typeface="Arial" panose="020B0604020202020204" pitchFamily="34" charset="0"/>
                <a:cs typeface="Arial" panose="020B0604020202020204" pitchFamily="34" charset="0"/>
                <a:sym typeface="+mn-ea"/>
              </a:rPr>
              <a:t>ran</a:t>
            </a:r>
            <a:r>
              <a:rPr lang="en-US" sz="1800" i="1" dirty="0">
                <a:latin typeface="Arial" panose="020B0604020202020204" pitchFamily="34" charset="0"/>
                <a:cs typeface="Arial" panose="020B0604020202020204" pitchFamily="34" charset="0"/>
                <a:sym typeface="+mn-ea"/>
              </a:rPr>
              <a:t> out of milk.</a:t>
            </a:r>
            <a:endParaRPr lang="en-US" sz="1800" dirty="0">
              <a:latin typeface="Arial" panose="020B0604020202020204" pitchFamily="34" charset="0"/>
              <a:cs typeface="Arial" panose="020B0604020202020204" pitchFamily="34" charset="0"/>
            </a:endParaRPr>
          </a:p>
          <a:p>
            <a:pPr marL="0" indent="0">
              <a:buNone/>
            </a:pPr>
            <a:r>
              <a:rPr lang="en-US" sz="1800" i="1" dirty="0">
                <a:latin typeface="Arial" panose="020B0604020202020204" pitchFamily="34" charset="0"/>
                <a:cs typeface="Arial" panose="020B0604020202020204" pitchFamily="34" charset="0"/>
                <a:sym typeface="+mn-ea"/>
              </a:rPr>
              <a:t>	The house is looking really </a:t>
            </a:r>
            <a:r>
              <a:rPr lang="en-US" sz="1800" b="1" i="1" dirty="0">
                <a:latin typeface="Arial" panose="020B0604020202020204" pitchFamily="34" charset="0"/>
                <a:cs typeface="Arial" panose="020B0604020202020204" pitchFamily="34" charset="0"/>
                <a:sym typeface="+mn-ea"/>
              </a:rPr>
              <a:t>run</a:t>
            </a:r>
            <a:r>
              <a:rPr lang="en-US" sz="1800" i="1" dirty="0">
                <a:latin typeface="Arial" panose="020B0604020202020204" pitchFamily="34" charset="0"/>
                <a:cs typeface="Arial" panose="020B0604020202020204" pitchFamily="34" charset="0"/>
                <a:sym typeface="+mn-ea"/>
              </a:rPr>
              <a:t> down.</a:t>
            </a:r>
            <a:endParaRPr lang="en-US" sz="1800" i="1" dirty="0">
              <a:latin typeface="Arial" panose="020B0604020202020204" pitchFamily="34" charset="0"/>
              <a:cs typeface="Arial" panose="020B0604020202020204" pitchFamily="34" charset="0"/>
              <a:sym typeface="+mn-ea"/>
            </a:endParaRPr>
          </a:p>
          <a:p>
            <a:pPr marL="0" indent="0">
              <a:buNone/>
            </a:pPr>
            <a:endParaRPr lang="en-US" sz="1800" i="1"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Irony and sarcasm:</a:t>
            </a:r>
            <a:endParaRPr lang="en-US" sz="1800" dirty="0">
              <a:latin typeface="Arial" panose="020B0604020202020204" pitchFamily="34" charset="0"/>
              <a:cs typeface="Arial" panose="020B0604020202020204" pitchFamily="34" charset="0"/>
            </a:endParaRPr>
          </a:p>
          <a:p>
            <a:pPr lvl="1" indent="0">
              <a:buNone/>
            </a:pPr>
            <a:r>
              <a:rPr lang="en-US" sz="1800" dirty="0">
                <a:latin typeface="Arial" panose="020B0604020202020204" pitchFamily="34" charset="0"/>
                <a:cs typeface="Arial" panose="020B0604020202020204" pitchFamily="34" charset="0"/>
                <a:sym typeface="+mn-ea"/>
              </a:rPr>
              <a:t>	For example:</a:t>
            </a:r>
            <a:endParaRPr lang="en-US" sz="1800" dirty="0">
              <a:latin typeface="Arial" panose="020B0604020202020204" pitchFamily="34" charset="0"/>
              <a:cs typeface="Arial" panose="020B0604020202020204" pitchFamily="34" charset="0"/>
            </a:endParaRPr>
          </a:p>
          <a:p>
            <a:pPr lvl="1" indent="0">
              <a:buNone/>
            </a:pPr>
            <a:r>
              <a:rPr lang="en-US" sz="1800" dirty="0">
                <a:latin typeface="Arial" panose="020B0604020202020204" pitchFamily="34" charset="0"/>
                <a:cs typeface="Arial" panose="020B0604020202020204" pitchFamily="34" charset="0"/>
                <a:sym typeface="+mn-ea"/>
              </a:rPr>
              <a:t>	sarcastic phrases, like “yeah right,” “whatever,” etc.</a:t>
            </a:r>
            <a:endParaRPr lang="en-US" sz="1800" dirty="0">
              <a:latin typeface="Arial" panose="020B060402020202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Common NLP Tasks &amp; Techniques</a:t>
            </a:r>
            <a:endParaRPr lang="en-US" dirty="0">
              <a:solidFill>
                <a:schemeClr val="accent6"/>
              </a:solidFill>
              <a:sym typeface="+mn-ea"/>
            </a:endParaRPr>
          </a:p>
        </p:txBody>
      </p:sp>
      <p:sp>
        <p:nvSpPr>
          <p:cNvPr id="3" name="Content Placeholder 2"/>
          <p:cNvSpPr>
            <a:spLocks noGrp="1"/>
          </p:cNvSpPr>
          <p:nvPr>
            <p:ph idx="1"/>
          </p:nvPr>
        </p:nvSpPr>
        <p:spPr>
          <a:xfrm>
            <a:off x="609600" y="858520"/>
            <a:ext cx="10972800" cy="5305425"/>
          </a:xfrm>
        </p:spPr>
        <p:txBody>
          <a:bodyPr/>
          <a:p>
            <a:pPr marL="285750" indent="-285750">
              <a:buFont typeface="Arial" panose="020B0604020202020204" pitchFamily="34" charset="0"/>
              <a:buChar char="•"/>
            </a:pPr>
            <a:r>
              <a:rPr lang="en-US" sz="1800" b="1" dirty="0">
                <a:sym typeface="+mn-ea"/>
              </a:rPr>
              <a:t>Syntactic analysis</a:t>
            </a:r>
            <a:r>
              <a:rPr lang="en-US" sz="1800" dirty="0">
                <a:sym typeface="+mn-ea"/>
              </a:rPr>
              <a:t>, also known as parsing or syntax analysis, identifies the syntactic structure of a text and the dependency relationships between words, represented on a diagram called a parse tree.</a:t>
            </a:r>
            <a:endParaRPr lang="en-US" sz="1800" dirty="0"/>
          </a:p>
          <a:p>
            <a:pPr marL="285750" indent="-285750">
              <a:buFont typeface="Arial" panose="020B0604020202020204" pitchFamily="34" charset="0"/>
              <a:buChar char="•"/>
            </a:pPr>
            <a:r>
              <a:rPr lang="en-US" sz="1800" b="1" dirty="0">
                <a:sym typeface="+mn-ea"/>
              </a:rPr>
              <a:t>Semantic analysis</a:t>
            </a:r>
            <a:r>
              <a:rPr lang="en-US" sz="1800" dirty="0">
                <a:sym typeface="+mn-ea"/>
              </a:rPr>
              <a:t> focuses on identifying the meaning of language. Semantic tasks analyze the structure of sentences, word interactions, and related concepts, in an attempt to discover the meaning of words, as well as understand the topic of a text.</a:t>
            </a:r>
            <a:endParaRPr lang="en-US" sz="1800" dirty="0"/>
          </a:p>
          <a:p>
            <a:pPr marL="285750" indent="-285750">
              <a:buFont typeface="Arial" panose="020B0604020202020204" pitchFamily="34" charset="0"/>
              <a:buChar char="•"/>
            </a:pPr>
            <a:r>
              <a:rPr lang="en-US" sz="1800" b="1" dirty="0">
                <a:sym typeface="+mn-ea"/>
              </a:rPr>
              <a:t>Tokenization </a:t>
            </a:r>
            <a:r>
              <a:rPr lang="en-US" sz="1800" dirty="0">
                <a:sym typeface="+mn-ea"/>
              </a:rPr>
              <a:t>is an essential task in natural language processing used to break up a string of words into semantically useful units called tokens.</a:t>
            </a:r>
            <a:endParaRPr lang="en-US" sz="1800" dirty="0">
              <a:sym typeface="+mn-ea"/>
            </a:endParaRPr>
          </a:p>
          <a:p>
            <a:pPr marL="457200" lvl="1" indent="0">
              <a:buNone/>
            </a:pPr>
            <a:r>
              <a:rPr lang="en-US" sz="1800" b="1" dirty="0">
                <a:sym typeface="+mn-ea"/>
              </a:rPr>
              <a:t>Example</a:t>
            </a:r>
            <a:r>
              <a:rPr lang="en-US" sz="1800" dirty="0">
                <a:sym typeface="+mn-ea"/>
              </a:rPr>
              <a:t>: Customer service couldn’t be better! = “customer service” “could” “not” “be” “better”.</a:t>
            </a:r>
            <a:endParaRPr lang="en-US" sz="1570" dirty="0"/>
          </a:p>
          <a:p>
            <a:pPr marL="285750" indent="-285750">
              <a:buFont typeface="Arial" panose="020B0604020202020204" pitchFamily="34" charset="0"/>
              <a:buChar char="•"/>
            </a:pPr>
            <a:r>
              <a:rPr lang="en-US" sz="1800" b="1" dirty="0">
                <a:sym typeface="+mn-ea"/>
              </a:rPr>
              <a:t>Part-of-speech tagging </a:t>
            </a:r>
            <a:r>
              <a:rPr lang="en-US" sz="1800" dirty="0">
                <a:sym typeface="+mn-ea"/>
              </a:rPr>
              <a:t>(abbreviated as </a:t>
            </a:r>
            <a:r>
              <a:rPr lang="en-US" sz="1800" dirty="0" err="1">
                <a:sym typeface="+mn-ea"/>
              </a:rPr>
              <a:t>PoS</a:t>
            </a:r>
            <a:r>
              <a:rPr lang="en-US" sz="1800" dirty="0">
                <a:sym typeface="+mn-ea"/>
              </a:rPr>
              <a:t> tagging) involves adding a part of speech category to each token within a text. Some common </a:t>
            </a:r>
            <a:r>
              <a:rPr lang="en-US" sz="1800" dirty="0" err="1">
                <a:sym typeface="+mn-ea"/>
              </a:rPr>
              <a:t>PoS</a:t>
            </a:r>
            <a:r>
              <a:rPr lang="en-US" sz="1800" dirty="0">
                <a:sym typeface="+mn-ea"/>
              </a:rPr>
              <a:t> are verb, </a:t>
            </a:r>
            <a:r>
              <a:rPr lang="en-US" sz="1800" dirty="0">
                <a:sym typeface="+mn-ea"/>
              </a:rPr>
              <a:t>adjective, tags, noun, </a:t>
            </a:r>
            <a:r>
              <a:rPr lang="en-US" sz="1800" dirty="0" err="1">
                <a:sym typeface="+mn-ea"/>
              </a:rPr>
              <a:t>pronoun,conjunction</a:t>
            </a:r>
            <a:r>
              <a:rPr lang="en-US" sz="1800" dirty="0">
                <a:sym typeface="+mn-ea"/>
              </a:rPr>
              <a:t>, preposition, intersection, among others.</a:t>
            </a:r>
            <a:endParaRPr lang="en-US" sz="1800" dirty="0"/>
          </a:p>
          <a:p>
            <a:pPr marL="358775" lvl="1" indent="0">
              <a:buNone/>
            </a:pPr>
            <a:r>
              <a:rPr lang="en-US" sz="1800" b="1" dirty="0">
                <a:sym typeface="+mn-ea"/>
              </a:rPr>
              <a:t>Example:</a:t>
            </a:r>
            <a:r>
              <a:rPr lang="en-US" sz="1800" dirty="0">
                <a:sym typeface="+mn-ea"/>
              </a:rPr>
              <a:t> In above </a:t>
            </a:r>
            <a:r>
              <a:rPr lang="en-US" sz="1800" dirty="0" err="1">
                <a:sym typeface="+mn-ea"/>
              </a:rPr>
              <a:t>eg</a:t>
            </a:r>
            <a:r>
              <a:rPr lang="en-US" sz="1800" dirty="0">
                <a:sym typeface="+mn-ea"/>
              </a:rPr>
              <a:t> “Customer service”: NOUN, “could”: VERB, “not”: ADVERB, be”: VERB, “better”: ADJECTIVE, “!”: PUNCTUATION</a:t>
            </a:r>
            <a:endParaRPr lang="en-US" sz="1800" dirty="0"/>
          </a:p>
          <a:p>
            <a:pPr marL="285750" indent="-285750">
              <a:buFont typeface="Arial" panose="020B0604020202020204" pitchFamily="34" charset="0"/>
              <a:buChar char="•"/>
            </a:pPr>
            <a:r>
              <a:rPr lang="en-US" sz="1800" b="1" dirty="0">
                <a:sym typeface="+mn-ea"/>
              </a:rPr>
              <a:t>Word Sense Disambiguation</a:t>
            </a:r>
            <a:endParaRPr lang="en-US" sz="1800" b="1" dirty="0"/>
          </a:p>
          <a:p>
            <a:pPr marL="358775" lvl="1" indent="0">
              <a:buNone/>
            </a:pPr>
            <a:r>
              <a:rPr lang="en-US" sz="1800" dirty="0">
                <a:sym typeface="+mn-ea"/>
              </a:rPr>
              <a:t>You should read this </a:t>
            </a:r>
            <a:r>
              <a:rPr lang="en-US" sz="1800" b="1" dirty="0">
                <a:sym typeface="+mn-ea"/>
              </a:rPr>
              <a:t>book | </a:t>
            </a:r>
            <a:r>
              <a:rPr lang="en-US" sz="1800" dirty="0">
                <a:sym typeface="+mn-ea"/>
              </a:rPr>
              <a:t>You should </a:t>
            </a:r>
            <a:r>
              <a:rPr lang="en-US" sz="1800" b="1" dirty="0">
                <a:sym typeface="+mn-ea"/>
              </a:rPr>
              <a:t>book</a:t>
            </a:r>
            <a:r>
              <a:rPr lang="en-US" sz="1800" dirty="0">
                <a:sym typeface="+mn-ea"/>
              </a:rPr>
              <a:t> the flights</a:t>
            </a:r>
            <a:r>
              <a:rPr lang="en-US" sz="1800" b="1" dirty="0">
                <a:sym typeface="+mn-ea"/>
              </a:rPr>
              <a:t> |</a:t>
            </a:r>
            <a:r>
              <a:rPr lang="en-IN" altLang="en-US" sz="1800" b="1" dirty="0">
                <a:sym typeface="+mn-ea"/>
              </a:rPr>
              <a:t> </a:t>
            </a:r>
            <a:r>
              <a:rPr lang="en-US" sz="1800" dirty="0">
                <a:sym typeface="+mn-ea"/>
              </a:rPr>
              <a:t>You should close the </a:t>
            </a:r>
            <a:r>
              <a:rPr lang="en-US" sz="1800" b="1" dirty="0">
                <a:sym typeface="+mn-ea"/>
              </a:rPr>
              <a:t>books</a:t>
            </a:r>
            <a:r>
              <a:rPr lang="en-US" sz="1800" dirty="0">
                <a:sym typeface="+mn-ea"/>
              </a:rPr>
              <a:t> by the end of the year</a:t>
            </a:r>
            <a:r>
              <a:rPr lang="en-IN" altLang="en-US" sz="1800" dirty="0">
                <a:sym typeface="+mn-ea"/>
              </a:rPr>
              <a:t>.</a:t>
            </a:r>
            <a:endParaRPr lang="en-US" sz="1800" dirty="0"/>
          </a:p>
          <a:p>
            <a:pPr marL="358775" lvl="1" indent="0">
              <a:buNone/>
            </a:pPr>
            <a:r>
              <a:rPr lang="en-US" sz="1800" dirty="0">
                <a:sym typeface="+mn-ea"/>
              </a:rPr>
              <a:t>Techniques used - (WSD): knowledge-based (or dictionary approach) or supervised approach.</a:t>
            </a:r>
            <a:endParaRPr lang="en-US" sz="18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Common NLP Tasks &amp; Techniques</a:t>
            </a:r>
            <a:endParaRPr lang="en-US"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b="1" dirty="0">
                <a:sym typeface="+mn-ea"/>
              </a:rPr>
              <a:t>Lemmatization &amp; Stemming </a:t>
            </a:r>
            <a:r>
              <a:rPr lang="en-US" sz="1800" dirty="0">
                <a:sym typeface="+mn-ea"/>
              </a:rPr>
              <a:t>transform words back to their root form.</a:t>
            </a:r>
            <a:endParaRPr lang="en-US" sz="1800" dirty="0"/>
          </a:p>
          <a:p>
            <a:pPr marL="644525" lvl="1" indent="-285750">
              <a:buFont typeface="Arial" panose="020B0604020202020204" pitchFamily="34" charset="0"/>
              <a:buChar char="•"/>
            </a:pPr>
            <a:r>
              <a:rPr lang="en-US" sz="1800" dirty="0">
                <a:sym typeface="+mn-ea"/>
              </a:rPr>
              <a:t>The word as it appears in the dictionary – its root form – is called a lemma.</a:t>
            </a:r>
            <a:endParaRPr lang="en-US" sz="1800" dirty="0"/>
          </a:p>
          <a:p>
            <a:pPr marL="644525" lvl="1" indent="-285750">
              <a:buFont typeface="Arial" panose="020B0604020202020204" pitchFamily="34" charset="0"/>
              <a:buChar char="•"/>
            </a:pPr>
            <a:r>
              <a:rPr lang="en-US" sz="1800" b="1" dirty="0">
                <a:sym typeface="+mn-ea"/>
              </a:rPr>
              <a:t>E.g. of Lemmatization  </a:t>
            </a:r>
            <a:r>
              <a:rPr lang="en-US" sz="1800" dirty="0">
                <a:sym typeface="+mn-ea"/>
              </a:rPr>
              <a:t>African elephants have four nails on their front feet = “African,” “elephant,” “have,” “4”, “nail,” “on,” “their,” “foot”]</a:t>
            </a:r>
            <a:endParaRPr lang="en-US" sz="1800" dirty="0"/>
          </a:p>
          <a:p>
            <a:pPr marL="644525" lvl="1" indent="-285750">
              <a:buFont typeface="Arial" panose="020B0604020202020204" pitchFamily="34" charset="0"/>
              <a:buChar char="•"/>
            </a:pPr>
            <a:r>
              <a:rPr lang="en-US" sz="1800" b="1" dirty="0" err="1">
                <a:sym typeface="+mn-ea"/>
              </a:rPr>
              <a:t>E.g</a:t>
            </a:r>
            <a:r>
              <a:rPr lang="en-US" sz="1800" b="1" dirty="0">
                <a:sym typeface="+mn-ea"/>
              </a:rPr>
              <a:t> of Stemming </a:t>
            </a:r>
            <a:r>
              <a:rPr lang="en-US" sz="1800" dirty="0">
                <a:sym typeface="+mn-ea"/>
              </a:rPr>
              <a:t>the words “consult,” “consultant,” “consulting,” and “consultants” would result in the root form “consult.”</a:t>
            </a:r>
            <a:endParaRPr lang="en-US" sz="1800" b="1" dirty="0"/>
          </a:p>
          <a:p>
            <a:pPr marL="644525" lvl="1" indent="-285750">
              <a:buFont typeface="Arial" panose="020B0604020202020204" pitchFamily="34" charset="0"/>
              <a:buChar char="•"/>
            </a:pPr>
            <a:r>
              <a:rPr lang="en-US" sz="1800" dirty="0">
                <a:sym typeface="+mn-ea"/>
              </a:rPr>
              <a:t>While lemmatization is dictionary-based and chooses the appropriate lemma based on context, stemming operates on single words without considering the context.</a:t>
            </a:r>
            <a:endParaRPr lang="en-US" sz="1800" dirty="0">
              <a:sym typeface="+mn-ea"/>
            </a:endParaRPr>
          </a:p>
          <a:p>
            <a:pPr marL="644525" lvl="1" indent="-285750">
              <a:buFont typeface="Arial" panose="020B0604020202020204" pitchFamily="34" charset="0"/>
              <a:buChar char="•"/>
            </a:pPr>
            <a:endParaRPr lang="en-US" sz="1800" dirty="0"/>
          </a:p>
          <a:p>
            <a:pPr marL="285750" indent="-285750">
              <a:buFont typeface="Arial" panose="020B0604020202020204" pitchFamily="34" charset="0"/>
              <a:buChar char="•"/>
            </a:pPr>
            <a:r>
              <a:rPr lang="en-US" sz="1800" b="1" dirty="0" err="1">
                <a:sym typeface="+mn-ea"/>
              </a:rPr>
              <a:t>Stopword</a:t>
            </a:r>
            <a:r>
              <a:rPr lang="en-IN" altLang="en-US" sz="1800" b="1" dirty="0" err="1">
                <a:sym typeface="+mn-ea"/>
              </a:rPr>
              <a:t>: </a:t>
            </a:r>
            <a:r>
              <a:rPr lang="en-IN" altLang="en-US" sz="1800" dirty="0" err="1">
                <a:sym typeface="+mn-ea"/>
              </a:rPr>
              <a:t>Stop words are those words that do not contribute to the deeper meaning of the phrase. They are the most common words such as: the, a, &amp; is.</a:t>
            </a:r>
            <a:endParaRPr lang="en-IN" altLang="en-US" sz="1800" b="1" dirty="0" err="1">
              <a:sym typeface="+mn-ea"/>
            </a:endParaRPr>
          </a:p>
          <a:p>
            <a:pPr marL="285750" indent="-285750">
              <a:buFont typeface="Arial" panose="020B0604020202020204" pitchFamily="34" charset="0"/>
              <a:buChar char="•"/>
            </a:pPr>
            <a:endParaRPr lang="en-US" sz="1800" b="1" dirty="0"/>
          </a:p>
          <a:p>
            <a:pPr marL="285750" indent="-285750">
              <a:buFont typeface="Arial" panose="020B0604020202020204" pitchFamily="34" charset="0"/>
              <a:buChar char="•"/>
            </a:pPr>
            <a:r>
              <a:rPr lang="en-US" sz="1800" b="1" dirty="0">
                <a:sym typeface="+mn-ea"/>
              </a:rPr>
              <a:t>Named Entity Recognition (NER), </a:t>
            </a:r>
            <a:r>
              <a:rPr lang="en-US" sz="1800" dirty="0">
                <a:sym typeface="+mn-ea"/>
              </a:rPr>
              <a:t>involves extracting entities from within a text. Entities can be names, places, organizations, email addresses, and more.</a:t>
            </a:r>
            <a:endParaRPr lang="en-US" sz="1800" dirty="0"/>
          </a:p>
          <a:p>
            <a:pPr marL="644525" lvl="1" indent="-285750">
              <a:buFont typeface="Arial" panose="020B0604020202020204" pitchFamily="34" charset="0"/>
              <a:buChar char="•"/>
            </a:pPr>
            <a:r>
              <a:rPr lang="en-US" sz="1800" dirty="0">
                <a:sym typeface="+mn-ea"/>
              </a:rPr>
              <a:t>Relationship extraction, another sub-task of NLP, goes one step further and finds relationships between two nouns.</a:t>
            </a:r>
            <a:endParaRPr lang="en-US" sz="1800" b="1" dirty="0"/>
          </a:p>
          <a:p>
            <a:pPr marL="0" indent="0">
              <a:buNone/>
            </a:pPr>
            <a:r>
              <a:rPr lang="en-US" sz="1800" dirty="0">
                <a:sym typeface="+mn-ea"/>
              </a:rPr>
              <a:t> </a:t>
            </a:r>
            <a:endParaRPr lang="en-US" sz="1800" dirty="0"/>
          </a:p>
          <a:p>
            <a:pPr marL="0" indent="0">
              <a:buNone/>
            </a:pPr>
            <a:endParaRPr lang="en-US" sz="18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Applications of NLP</a:t>
            </a:r>
            <a:endParaRPr lang="en-US" dirty="0">
              <a:solidFill>
                <a:schemeClr val="accent6"/>
              </a:solidFill>
              <a:sym typeface="+mn-ea"/>
            </a:endParaRPr>
          </a:p>
        </p:txBody>
      </p:sp>
      <p:sp>
        <p:nvSpPr>
          <p:cNvPr id="4" name="Rectangle: Rounded Corners 3"/>
          <p:cNvSpPr/>
          <p:nvPr/>
        </p:nvSpPr>
        <p:spPr>
          <a:xfrm>
            <a:off x="609785" y="1216171"/>
            <a:ext cx="3728236" cy="743773"/>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Email filters</a:t>
            </a:r>
            <a:endParaRPr lang="en-US" dirty="0"/>
          </a:p>
        </p:txBody>
      </p:sp>
      <p:sp>
        <p:nvSpPr>
          <p:cNvPr id="5" name="Rectangle: Rounded Corners 4"/>
          <p:cNvSpPr/>
          <p:nvPr/>
        </p:nvSpPr>
        <p:spPr>
          <a:xfrm>
            <a:off x="5824051" y="3105785"/>
            <a:ext cx="4876800"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Quickly sorting customer feedback</a:t>
            </a:r>
            <a:endParaRPr lang="en-US" dirty="0"/>
          </a:p>
        </p:txBody>
      </p:sp>
      <p:sp>
        <p:nvSpPr>
          <p:cNvPr id="6" name="Rectangle: Rounded Corners 5"/>
          <p:cNvSpPr/>
          <p:nvPr/>
        </p:nvSpPr>
        <p:spPr>
          <a:xfrm>
            <a:off x="5850888" y="2115185"/>
            <a:ext cx="4849961"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Predictive text and autocorrect</a:t>
            </a:r>
            <a:endParaRPr lang="en-US" dirty="0"/>
          </a:p>
        </p:txBody>
      </p:sp>
      <p:sp>
        <p:nvSpPr>
          <p:cNvPr id="7" name="Rectangle: Rounded Corners 6"/>
          <p:cNvSpPr/>
          <p:nvPr/>
        </p:nvSpPr>
        <p:spPr>
          <a:xfrm>
            <a:off x="5850889" y="1204801"/>
            <a:ext cx="4849959"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Natural language generation</a:t>
            </a:r>
            <a:endParaRPr lang="en-US" dirty="0"/>
          </a:p>
        </p:txBody>
      </p:sp>
      <p:sp>
        <p:nvSpPr>
          <p:cNvPr id="8" name="Rectangle: Rounded Corners 7"/>
          <p:cNvSpPr/>
          <p:nvPr/>
        </p:nvSpPr>
        <p:spPr>
          <a:xfrm>
            <a:off x="5824051" y="4035680"/>
            <a:ext cx="4876800"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Monitor brand sentiment on social media</a:t>
            </a:r>
            <a:endParaRPr lang="en-US" dirty="0"/>
          </a:p>
        </p:txBody>
      </p:sp>
      <p:sp>
        <p:nvSpPr>
          <p:cNvPr id="9" name="Rectangle: Rounded Corners 8"/>
          <p:cNvSpPr/>
          <p:nvPr/>
        </p:nvSpPr>
        <p:spPr>
          <a:xfrm>
            <a:off x="602935" y="4188080"/>
            <a:ext cx="3773184"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Online search engines</a:t>
            </a:r>
            <a:endParaRPr lang="en-US" dirty="0"/>
          </a:p>
        </p:txBody>
      </p:sp>
      <p:sp>
        <p:nvSpPr>
          <p:cNvPr id="10" name="Rectangle: Rounded Corners 9"/>
          <p:cNvSpPr/>
          <p:nvPr/>
        </p:nvSpPr>
        <p:spPr>
          <a:xfrm>
            <a:off x="5850889" y="5034008"/>
            <a:ext cx="4849961" cy="967377"/>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Virtual assistants, voice assistants, or smart speakers</a:t>
            </a:r>
            <a:endParaRPr lang="en-US" dirty="0"/>
          </a:p>
        </p:txBody>
      </p:sp>
      <p:sp>
        <p:nvSpPr>
          <p:cNvPr id="11" name="Rectangle: Rounded Corners 10"/>
          <p:cNvSpPr/>
          <p:nvPr/>
        </p:nvSpPr>
        <p:spPr>
          <a:xfrm>
            <a:off x="609784" y="3197480"/>
            <a:ext cx="3766335"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Machine translation</a:t>
            </a:r>
            <a:endParaRPr lang="en-US" dirty="0"/>
          </a:p>
        </p:txBody>
      </p:sp>
      <p:sp>
        <p:nvSpPr>
          <p:cNvPr id="12" name="Rectangle: Rounded Corners 11"/>
          <p:cNvSpPr/>
          <p:nvPr/>
        </p:nvSpPr>
        <p:spPr>
          <a:xfrm>
            <a:off x="609784" y="2206880"/>
            <a:ext cx="3766335"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Chatbots</a:t>
            </a:r>
            <a:endParaRPr lang="en-US" dirty="0"/>
          </a:p>
        </p:txBody>
      </p:sp>
      <p:sp>
        <p:nvSpPr>
          <p:cNvPr id="13" name="Rectangle: Rounded Corners 12"/>
          <p:cNvSpPr/>
          <p:nvPr/>
        </p:nvSpPr>
        <p:spPr>
          <a:xfrm>
            <a:off x="599510" y="5178680"/>
            <a:ext cx="3841241" cy="746505"/>
          </a:xfrm>
          <a:prstGeom prst="roundRect">
            <a:avLst/>
          </a:prstGeom>
          <a:solidFill>
            <a:srgbClr val="005A99"/>
          </a:solidFill>
          <a:ln>
            <a:solidFill>
              <a:srgbClr val="005A99"/>
            </a:solidFill>
          </a:ln>
          <a:effectLst/>
        </p:spPr>
        <p:style>
          <a:lnRef idx="1">
            <a:schemeClr val="accent1"/>
          </a:lnRef>
          <a:fillRef idx="3">
            <a:schemeClr val="accent1"/>
          </a:fillRef>
          <a:effectRef idx="2">
            <a:schemeClr val="accent1"/>
          </a:effectRef>
          <a:fontRef idx="minor">
            <a:schemeClr val="lt1"/>
          </a:fontRef>
        </p:style>
        <p:txBody>
          <a:bodyPr rtlCol="0" anchor="ctr"/>
          <a:p>
            <a:r>
              <a:rPr lang="en-US" dirty="0"/>
              <a:t>Automatic summarization</a:t>
            </a:r>
            <a:endParaRPr 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IN" altLang="en-US">
                <a:solidFill>
                  <a:schemeClr val="accent6"/>
                </a:solidFill>
              </a:rPr>
              <a:t>Overview</a:t>
            </a:r>
            <a:endParaRPr lang="en-IN" altLang="en-US">
              <a:solidFill>
                <a:schemeClr val="accent6"/>
              </a:solidFill>
            </a:endParaRPr>
          </a:p>
        </p:txBody>
      </p:sp>
      <p:graphicFrame>
        <p:nvGraphicFramePr>
          <p:cNvPr id="8" name="Diagram 7"/>
          <p:cNvGraphicFramePr/>
          <p:nvPr/>
        </p:nvGraphicFramePr>
        <p:xfrm>
          <a:off x="421640" y="957580"/>
          <a:ext cx="10800715" cy="4942840"/>
        </p:xfrm>
        <a:graphic>
          <a:graphicData uri="http://schemas.openxmlformats.org/drawingml/2006/diagram">
            <dgm:relIds xmlns:dgm="http://schemas.openxmlformats.org/drawingml/2006/diagram" xmlns:r="http://schemas.openxmlformats.org/officeDocument/2006/relationships" r:dm="rId1" r:lo="rId2" r:qs="rId3" r:cs="rId4"/>
          </a:graphicData>
        </a:graphic>
      </p:graphicFrame>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Creating Features from Text</a:t>
            </a:r>
            <a:endParaRPr lang="en-US" dirty="0">
              <a:solidFill>
                <a:schemeClr val="accent6"/>
              </a:solidFill>
              <a:sym typeface="+mn-ea"/>
            </a:endParaRPr>
          </a:p>
        </p:txBody>
      </p:sp>
      <p:sp>
        <p:nvSpPr>
          <p:cNvPr id="3" name="Content Placeholder 2"/>
          <p:cNvSpPr>
            <a:spLocks noGrp="1"/>
          </p:cNvSpPr>
          <p:nvPr>
            <p:ph idx="1"/>
          </p:nvPr>
        </p:nvSpPr>
        <p:spPr>
          <a:xfrm>
            <a:off x="609600" y="895350"/>
            <a:ext cx="10972800" cy="5334635"/>
          </a:xfrm>
        </p:spPr>
        <p:txBody>
          <a:bodyPr/>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The concepts of Bag-of-Words (</a:t>
            </a:r>
            <a:r>
              <a:rPr lang="en-US" sz="1800" dirty="0" err="1">
                <a:latin typeface="Arial" panose="020B0604020202020204" pitchFamily="34" charset="0"/>
                <a:cs typeface="Arial" panose="020B0604020202020204" pitchFamily="34" charset="0"/>
                <a:sym typeface="+mn-ea"/>
              </a:rPr>
              <a:t>BoW</a:t>
            </a:r>
            <a:r>
              <a:rPr lang="en-US" sz="1800" dirty="0">
                <a:latin typeface="Arial" panose="020B0604020202020204" pitchFamily="34" charset="0"/>
                <a:cs typeface="Arial" panose="020B0604020202020204" pitchFamily="34" charset="0"/>
                <a:sym typeface="+mn-ea"/>
              </a:rPr>
              <a:t>) and TF-IDF are techniques that help us convert text sentences into numeric vectors.</a:t>
            </a:r>
            <a:endParaRPr lang="en-US" sz="1800" dirty="0">
              <a:latin typeface="Arial" panose="020B0604020202020204" pitchFamily="34" charset="0"/>
              <a:cs typeface="Arial" panose="020B0604020202020204" pitchFamily="34" charset="0"/>
              <a:sym typeface="+mn-ea"/>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Taking an Example:</a:t>
            </a:r>
            <a:endParaRPr lang="en-US" sz="1800" dirty="0">
              <a:latin typeface="Arial" panose="020B0604020202020204" pitchFamily="34" charset="0"/>
              <a:cs typeface="Arial" panose="020B0604020202020204" pitchFamily="34" charset="0"/>
            </a:endParaRPr>
          </a:p>
          <a:p>
            <a:pPr marL="457200" lvl="1" indent="0">
              <a:buNone/>
            </a:pPr>
            <a:r>
              <a:rPr lang="en-US" sz="1800" dirty="0">
                <a:latin typeface="Arial" panose="020B0604020202020204" pitchFamily="34" charset="0"/>
                <a:cs typeface="Arial" panose="020B0604020202020204" pitchFamily="34" charset="0"/>
                <a:sym typeface="+mn-ea"/>
              </a:rPr>
              <a:t>Sample reviews of a horror movie</a:t>
            </a:r>
            <a:endParaRPr lang="en-US" sz="1800" dirty="0">
              <a:latin typeface="Arial" panose="020B0604020202020204" pitchFamily="34" charset="0"/>
              <a:cs typeface="Arial" panose="020B0604020202020204" pitchFamily="34" charset="0"/>
            </a:endParaRPr>
          </a:p>
          <a:p>
            <a:pPr marL="1066800" lvl="2" indent="0">
              <a:buNone/>
            </a:pPr>
            <a:r>
              <a:rPr lang="en-US" sz="1800" dirty="0">
                <a:latin typeface="Arial" panose="020B0604020202020204" pitchFamily="34" charset="0"/>
                <a:cs typeface="Arial" panose="020B0604020202020204" pitchFamily="34" charset="0"/>
                <a:sym typeface="+mn-ea"/>
              </a:rPr>
              <a:t>Review 1: This movie is very scary and long</a:t>
            </a:r>
            <a:endParaRPr lang="en-US" sz="1800" dirty="0">
              <a:latin typeface="Arial" panose="020B0604020202020204" pitchFamily="34" charset="0"/>
              <a:cs typeface="Arial" panose="020B0604020202020204" pitchFamily="34" charset="0"/>
            </a:endParaRPr>
          </a:p>
          <a:p>
            <a:pPr marL="1066800" lvl="2" indent="0">
              <a:buNone/>
            </a:pPr>
            <a:r>
              <a:rPr lang="en-US" sz="1800" dirty="0">
                <a:latin typeface="Arial" panose="020B0604020202020204" pitchFamily="34" charset="0"/>
                <a:cs typeface="Arial" panose="020B0604020202020204" pitchFamily="34" charset="0"/>
                <a:sym typeface="+mn-ea"/>
              </a:rPr>
              <a:t>Review 2: This movie is not scary and is slow</a:t>
            </a:r>
            <a:endParaRPr lang="en-US" sz="1800" dirty="0">
              <a:latin typeface="Arial" panose="020B0604020202020204" pitchFamily="34" charset="0"/>
              <a:cs typeface="Arial" panose="020B0604020202020204" pitchFamily="34" charset="0"/>
            </a:endParaRPr>
          </a:p>
          <a:p>
            <a:pPr marL="1066800" lvl="2" indent="0">
              <a:buNone/>
            </a:pPr>
            <a:r>
              <a:rPr lang="en-US" sz="1800" dirty="0">
                <a:latin typeface="Arial" panose="020B0604020202020204" pitchFamily="34" charset="0"/>
                <a:cs typeface="Arial" panose="020B0604020202020204" pitchFamily="34" charset="0"/>
                <a:sym typeface="+mn-ea"/>
              </a:rPr>
              <a:t>Review 3: This movie is spooky and good</a:t>
            </a:r>
            <a:endParaRPr lang="en-US" sz="1800" dirty="0">
              <a:latin typeface="Arial" panose="020B0604020202020204" pitchFamily="34" charset="0"/>
              <a:cs typeface="Arial" panose="020B0604020202020204" pitchFamily="34" charset="0"/>
              <a:sym typeface="+mn-ea"/>
            </a:endParaRPr>
          </a:p>
          <a:p>
            <a:pPr marL="1066800" lvl="2" indent="0">
              <a:buNone/>
            </a:pPr>
            <a:endParaRPr lang="en-US" sz="1800" dirty="0">
              <a:latin typeface="Arial" panose="020B0604020202020204" pitchFamily="34" charset="0"/>
              <a:cs typeface="Arial" panose="020B0604020202020204" pitchFamily="34" charset="0"/>
            </a:endParaRPr>
          </a:p>
          <a:p>
            <a:pPr/>
            <a:r>
              <a:rPr lang="en-US" sz="1800" dirty="0">
                <a:latin typeface="Arial" panose="020B0604020202020204" pitchFamily="34" charset="0"/>
                <a:cs typeface="Arial" panose="020B0604020202020204" pitchFamily="34" charset="0"/>
                <a:sym typeface="+mn-ea"/>
              </a:rPr>
              <a:t>We cannot simply give these sentences to a machine learning model and ask it to tell us whether a review was positive or negative . Solution to it is </a:t>
            </a:r>
            <a:r>
              <a:rPr lang="en-US" sz="1800" b="1" dirty="0">
                <a:latin typeface="Arial" panose="020B0604020202020204" pitchFamily="34" charset="0"/>
                <a:cs typeface="Arial" panose="020B0604020202020204" pitchFamily="34" charset="0"/>
                <a:sym typeface="+mn-ea"/>
              </a:rPr>
              <a:t>creating vectors from text</a:t>
            </a:r>
            <a:r>
              <a:rPr lang="en-US" sz="1800" dirty="0">
                <a:latin typeface="Arial" panose="020B0604020202020204" pitchFamily="34" charset="0"/>
                <a:cs typeface="Arial" panose="020B0604020202020204" pitchFamily="34" charset="0"/>
                <a:sym typeface="+mn-ea"/>
              </a:rPr>
              <a:t>.</a:t>
            </a:r>
            <a:endParaRPr lang="en-US" sz="1800" dirty="0">
              <a:latin typeface="Arial" panose="020B0604020202020204" pitchFamily="34" charset="0"/>
              <a:cs typeface="Arial" panose="020B0604020202020204" pitchFamily="34" charset="0"/>
              <a:sym typeface="+mn-ea"/>
            </a:endParaRPr>
          </a:p>
          <a:p>
            <a:pPr marL="0" indent="0">
              <a:buNone/>
            </a:pPr>
            <a:endParaRPr lang="en-US" sz="1800" i="1" dirty="0">
              <a:latin typeface="Arial" panose="020B0604020202020204" pitchFamily="34" charset="0"/>
              <a:cs typeface="Arial" panose="020B0604020202020204" pitchFamily="34" charset="0"/>
              <a:hlinkClick r:id="rId1"/>
            </a:endParaRPr>
          </a:p>
          <a:p>
            <a:pPr/>
            <a:r>
              <a:rPr lang="en-IN" altLang="en-US" sz="1800" dirty="0">
                <a:latin typeface="Arial" panose="020B0604020202020204" pitchFamily="34" charset="0"/>
                <a:cs typeface="Arial" panose="020B0604020202020204" pitchFamily="34" charset="0"/>
                <a:sym typeface="+mn-ea"/>
              </a:rPr>
              <a:t>Word Embedding</a:t>
            </a:r>
            <a:r>
              <a:rPr lang="en-US" sz="1800" dirty="0">
                <a:latin typeface="Arial" panose="020B0604020202020204" pitchFamily="34" charset="0"/>
                <a:cs typeface="Arial" panose="020B0604020202020204" pitchFamily="34" charset="0"/>
                <a:sym typeface="+mn-ea"/>
              </a:rPr>
              <a:t> is one such technique where we can represent the text using vectors. The more popular forms of word embeddings are:</a:t>
            </a:r>
            <a:endParaRPr lang="en-US" sz="1800" dirty="0">
              <a:latin typeface="Arial" panose="020B0604020202020204" pitchFamily="34" charset="0"/>
              <a:cs typeface="Arial" panose="020B0604020202020204" pitchFamily="34" charset="0"/>
            </a:endParaRPr>
          </a:p>
          <a:p>
            <a:pPr marL="895350" lvl="1" indent="-285750">
              <a:buFont typeface="Arial" panose="020B0604020202020204" pitchFamily="34" charset="0"/>
              <a:buChar char="•"/>
            </a:pPr>
            <a:r>
              <a:rPr lang="en-US" sz="1800" dirty="0" err="1">
                <a:latin typeface="Arial" panose="020B0604020202020204" pitchFamily="34" charset="0"/>
                <a:cs typeface="Arial" panose="020B0604020202020204" pitchFamily="34" charset="0"/>
                <a:sym typeface="+mn-ea"/>
              </a:rPr>
              <a:t>BoW</a:t>
            </a:r>
            <a:r>
              <a:rPr lang="en-US" sz="1800" dirty="0">
                <a:latin typeface="Arial" panose="020B0604020202020204" pitchFamily="34" charset="0"/>
                <a:cs typeface="Arial" panose="020B0604020202020204" pitchFamily="34" charset="0"/>
                <a:sym typeface="+mn-ea"/>
              </a:rPr>
              <a:t>, which stands for Bag of Words</a:t>
            </a:r>
            <a:endParaRPr lang="en-US" sz="1800" dirty="0">
              <a:latin typeface="Arial" panose="020B0604020202020204" pitchFamily="34" charset="0"/>
              <a:cs typeface="Arial" panose="020B0604020202020204" pitchFamily="34" charset="0"/>
            </a:endParaRPr>
          </a:p>
          <a:p>
            <a:pPr marL="8953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TF-IDF, which stands for Term Frequency-Inverse Document Frequency</a:t>
            </a:r>
            <a:endParaRPr lang="en-US" sz="1800" dirty="0">
              <a:latin typeface="Arial" panose="020B0604020202020204" pitchFamily="34" charset="0"/>
              <a:cs typeface="Arial" panose="020B0604020202020204" pitchFamily="34" charset="0"/>
            </a:endParaRPr>
          </a:p>
          <a:p>
            <a:pPr marL="895350" lvl="1"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Word2vec</a:t>
            </a:r>
            <a:endParaRPr lang="en-US" sz="1800" dirty="0">
              <a:latin typeface="Arial" panose="020B0604020202020204" pitchFamily="34" charset="0"/>
              <a:ea typeface="Verdana" panose="020B0604030504040204" pitchFamily="34" charset="0"/>
              <a:cs typeface="Arial" panose="020B0604020202020204" pitchFamily="34" charset="0"/>
            </a:endParaRPr>
          </a:p>
          <a:p>
            <a:pPr marL="342900" indent="-342900">
              <a:buFont typeface="Arial" panose="020B0604020202020204" pitchFamily="34" charset="0"/>
              <a:buChar char="•"/>
            </a:pPr>
            <a:endParaRPr lang="en-US" sz="1800" dirty="0">
              <a:latin typeface="Arial" panose="020B0604020202020204" pitchFamily="34" charset="0"/>
              <a:ea typeface="Verdana" panose="020B060403050404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rPr>
              <a:t>Bag of Word (BoW) Model</a:t>
            </a:r>
            <a:endPar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endParaRPr>
          </a:p>
        </p:txBody>
      </p:sp>
      <p:sp>
        <p:nvSpPr>
          <p:cNvPr id="3" name="Content Placeholder 2"/>
          <p:cNvSpPr>
            <a:spLocks noGrp="1"/>
          </p:cNvSpPr>
          <p:nvPr>
            <p:ph sz="half" idx="1"/>
          </p:nvPr>
        </p:nvSpPr>
        <p:spPr>
          <a:xfrm>
            <a:off x="609600" y="1050290"/>
            <a:ext cx="5384800" cy="5041265"/>
          </a:xfrm>
        </p:spPr>
        <p:txBody>
          <a:bodyPr/>
          <a:p>
            <a:pPr marL="285750" indent="-285750">
              <a:lnSpc>
                <a:spcPct val="90000"/>
              </a:lnSpc>
              <a:spcAft>
                <a:spcPts val="600"/>
              </a:spcAft>
              <a:buFont typeface="Arial" panose="020B0604020202020204" pitchFamily="34" charset="0"/>
              <a:buChar char="•"/>
            </a:pPr>
            <a:r>
              <a:rPr lang="en-US" sz="1800" dirty="0">
                <a:latin typeface="Arial" panose="020B0604020202020204" pitchFamily="34" charset="0"/>
                <a:ea typeface="Verdana" panose="020B0604030504040204" pitchFamily="34" charset="0"/>
                <a:cs typeface="Arial" panose="020B0604020202020204" pitchFamily="34" charset="0"/>
                <a:sym typeface="+mn-ea"/>
              </a:rPr>
              <a:t>Simplest form of text representation in numbers</a:t>
            </a:r>
            <a:endParaRPr lang="en-US" sz="1800" dirty="0">
              <a:latin typeface="Arial" panose="020B0604020202020204" pitchFamily="34" charset="0"/>
              <a:ea typeface="Verdana" panose="020B0604030504040204" pitchFamily="34" charset="0"/>
              <a:cs typeface="Arial" panose="020B0604020202020204" pitchFamily="34" charset="0"/>
            </a:endParaRPr>
          </a:p>
          <a:p>
            <a:pPr marL="285750" indent="-285750">
              <a:lnSpc>
                <a:spcPct val="90000"/>
              </a:lnSpc>
              <a:spcAft>
                <a:spcPts val="600"/>
              </a:spcAft>
              <a:buFont typeface="Arial" panose="020B0604020202020204" pitchFamily="34" charset="0"/>
              <a:buChar char="•"/>
            </a:pPr>
            <a:r>
              <a:rPr lang="en-US" sz="1800" dirty="0">
                <a:latin typeface="Arial" panose="020B0604020202020204" pitchFamily="34" charset="0"/>
                <a:ea typeface="Verdana" panose="020B0604030504040204" pitchFamily="34" charset="0"/>
                <a:cs typeface="Arial" panose="020B0604020202020204" pitchFamily="34" charset="0"/>
                <a:sym typeface="+mn-ea"/>
              </a:rPr>
              <a:t>Represent a sentence as a bag of words vector (a string of numbers)</a:t>
            </a:r>
            <a:endParaRPr lang="en-US" sz="1800" dirty="0">
              <a:latin typeface="Arial" panose="020B0604020202020204" pitchFamily="34" charset="0"/>
              <a:ea typeface="Verdana" panose="020B0604030504040204" pitchFamily="34" charset="0"/>
              <a:cs typeface="Arial" panose="020B0604020202020204" pitchFamily="34" charset="0"/>
            </a:endParaRPr>
          </a:p>
          <a:p>
            <a:pPr>
              <a:lnSpc>
                <a:spcPct val="90000"/>
              </a:lnSpc>
              <a:spcAft>
                <a:spcPts val="600"/>
              </a:spcAft>
            </a:pPr>
            <a:r>
              <a:rPr lang="en-US" sz="1800" b="1" dirty="0">
                <a:latin typeface="Arial" panose="020B0604020202020204" pitchFamily="34" charset="0"/>
                <a:ea typeface="Verdana" panose="020B0604030504040204" pitchFamily="34" charset="0"/>
                <a:cs typeface="Arial" panose="020B0604020202020204" pitchFamily="34" charset="0"/>
                <a:sym typeface="+mn-ea"/>
              </a:rPr>
              <a:t>E</a:t>
            </a:r>
            <a:r>
              <a:rPr lang="en-IN" altLang="en-US" sz="1800" b="1" dirty="0">
                <a:latin typeface="Arial" panose="020B0604020202020204" pitchFamily="34" charset="0"/>
                <a:ea typeface="Verdana" panose="020B0604030504040204" pitchFamily="34" charset="0"/>
                <a:cs typeface="Arial" panose="020B0604020202020204" pitchFamily="34" charset="0"/>
                <a:sym typeface="+mn-ea"/>
              </a:rPr>
              <a:t>xample:</a:t>
            </a:r>
            <a:endParaRPr lang="en-US" sz="1800" dirty="0">
              <a:latin typeface="Arial" panose="020B0604020202020204" pitchFamily="34" charset="0"/>
              <a:ea typeface="Verdana" panose="020B0604030504040204" pitchFamily="34" charset="0"/>
              <a:cs typeface="Arial" panose="020B0604020202020204" pitchFamily="34" charset="0"/>
            </a:endParaRPr>
          </a:p>
          <a:p>
            <a:pPr marL="457200" lvl="1" indent="0">
              <a:lnSpc>
                <a:spcPct val="90000"/>
              </a:lnSpc>
              <a:spcAft>
                <a:spcPts val="600"/>
              </a:spcAft>
              <a:buNone/>
            </a:pPr>
            <a:r>
              <a:rPr lang="en-US" sz="1800" dirty="0">
                <a:latin typeface="Arial" panose="020B0604020202020204" pitchFamily="34" charset="0"/>
                <a:ea typeface="Verdana" panose="020B0604030504040204" pitchFamily="34" charset="0"/>
                <a:cs typeface="Arial" panose="020B0604020202020204" pitchFamily="34" charset="0"/>
                <a:sym typeface="+mn-ea"/>
              </a:rPr>
              <a:t>Review 1: This movie is very scary and long</a:t>
            </a:r>
            <a:endParaRPr lang="en-US" sz="1800" dirty="0">
              <a:latin typeface="Arial" panose="020B0604020202020204" pitchFamily="34" charset="0"/>
              <a:ea typeface="Verdana" panose="020B0604030504040204" pitchFamily="34" charset="0"/>
              <a:cs typeface="Arial" panose="020B0604020202020204" pitchFamily="34" charset="0"/>
            </a:endParaRPr>
          </a:p>
          <a:p>
            <a:pPr marL="457200" lvl="1" indent="0">
              <a:lnSpc>
                <a:spcPct val="90000"/>
              </a:lnSpc>
              <a:spcAft>
                <a:spcPts val="600"/>
              </a:spcAft>
              <a:buNone/>
            </a:pPr>
            <a:r>
              <a:rPr lang="en-US" sz="1800" dirty="0">
                <a:latin typeface="Arial" panose="020B0604020202020204" pitchFamily="34" charset="0"/>
                <a:ea typeface="Verdana" panose="020B0604030504040204" pitchFamily="34" charset="0"/>
                <a:cs typeface="Arial" panose="020B0604020202020204" pitchFamily="34" charset="0"/>
                <a:sym typeface="+mn-ea"/>
              </a:rPr>
              <a:t>Review 2: This movie is not scary and is slow</a:t>
            </a:r>
            <a:endParaRPr lang="en-US" sz="1800" dirty="0">
              <a:latin typeface="Arial" panose="020B0604020202020204" pitchFamily="34" charset="0"/>
              <a:ea typeface="Verdana" panose="020B0604030504040204" pitchFamily="34" charset="0"/>
              <a:cs typeface="Arial" panose="020B0604020202020204" pitchFamily="34" charset="0"/>
            </a:endParaRPr>
          </a:p>
          <a:p>
            <a:pPr marL="457200" lvl="1" indent="0">
              <a:lnSpc>
                <a:spcPct val="90000"/>
              </a:lnSpc>
              <a:spcAft>
                <a:spcPts val="600"/>
              </a:spcAft>
              <a:buNone/>
            </a:pPr>
            <a:r>
              <a:rPr lang="en-US" sz="1800" dirty="0">
                <a:latin typeface="Arial" panose="020B0604020202020204" pitchFamily="34" charset="0"/>
                <a:ea typeface="Verdana" panose="020B0604030504040204" pitchFamily="34" charset="0"/>
                <a:cs typeface="Arial" panose="020B0604020202020204" pitchFamily="34" charset="0"/>
                <a:sym typeface="+mn-ea"/>
              </a:rPr>
              <a:t>Review 3: This movie is spooky and good</a:t>
            </a:r>
            <a:endParaRPr lang="en-US" sz="1575" dirty="0">
              <a:latin typeface="Arial" panose="020B0604020202020204" pitchFamily="34" charset="0"/>
              <a:ea typeface="Verdana" panose="020B0604030504040204" pitchFamily="34" charset="0"/>
              <a:cs typeface="Arial" panose="020B0604020202020204" pitchFamily="34" charset="0"/>
            </a:endParaRPr>
          </a:p>
          <a:p>
            <a:pPr>
              <a:lnSpc>
                <a:spcPct val="90000"/>
              </a:lnSpc>
              <a:spcAft>
                <a:spcPts val="600"/>
              </a:spcAft>
              <a:buChar char="•"/>
            </a:pPr>
            <a:r>
              <a:rPr lang="en-US" sz="1800" dirty="0">
                <a:latin typeface="Arial" panose="020B0604020202020204" pitchFamily="34" charset="0"/>
                <a:ea typeface="Verdana" panose="020B0604030504040204" pitchFamily="34" charset="0"/>
                <a:cs typeface="Arial" panose="020B0604020202020204" pitchFamily="34" charset="0"/>
                <a:sym typeface="+mn-ea"/>
              </a:rPr>
              <a:t>Build a vocabulary from all the unique words in the above three reviews. The vocabulary consists of these 11 words: ‘This’, ‘movie’, ‘is’, ‘very’, ‘scary’, ‘and’, ‘long’, ‘not’,  ‘slow’, ‘spooky’,  ‘good’.</a:t>
            </a:r>
            <a:endParaRPr lang="en-US" sz="1800" dirty="0">
              <a:latin typeface="Arial" panose="020B0604020202020204" pitchFamily="34" charset="0"/>
              <a:ea typeface="Verdana" panose="020B0604030504040204" pitchFamily="34" charset="0"/>
              <a:cs typeface="Arial" panose="020B0604020202020204" pitchFamily="34" charset="0"/>
            </a:endParaRPr>
          </a:p>
          <a:p>
            <a:pPr>
              <a:lnSpc>
                <a:spcPct val="90000"/>
              </a:lnSpc>
              <a:spcAft>
                <a:spcPts val="600"/>
              </a:spcAft>
              <a:buChar char="•"/>
            </a:pPr>
            <a:r>
              <a:rPr lang="en-US" sz="1800" dirty="0">
                <a:latin typeface="Arial" panose="020B0604020202020204" pitchFamily="34" charset="0"/>
                <a:ea typeface="Verdana" panose="020B0604030504040204" pitchFamily="34" charset="0"/>
                <a:cs typeface="Arial" panose="020B0604020202020204" pitchFamily="34" charset="0"/>
                <a:sym typeface="+mn-ea"/>
              </a:rPr>
              <a:t>We can now take each of these words and mark their occurrence in the three movie reviews above with 1s and 0s. This will give us 3 vectors for 3 reviews:</a:t>
            </a:r>
            <a:endParaRPr lang="en-US" sz="1800" dirty="0">
              <a:latin typeface="Arial" panose="020B0604020202020204" pitchFamily="34" charset="0"/>
              <a:ea typeface="Verdana" panose="020B060403050404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pic>
        <p:nvPicPr>
          <p:cNvPr id="6" name="Content Placeholder 5"/>
          <p:cNvPicPr>
            <a:picLocks noChangeAspect="1"/>
          </p:cNvPicPr>
          <p:nvPr>
            <p:ph sz="half" idx="2"/>
          </p:nvPr>
        </p:nvPicPr>
        <p:blipFill>
          <a:blip r:embed="rId1"/>
          <a:stretch>
            <a:fillRect/>
          </a:stretch>
        </p:blipFill>
        <p:spPr>
          <a:xfrm>
            <a:off x="5855335" y="1923415"/>
            <a:ext cx="5835015" cy="2195195"/>
          </a:xfrm>
          <a:prstGeom prst="rect">
            <a:avLst/>
          </a:prstGeom>
          <a:noFill/>
        </p:spPr>
      </p:pic>
      <p:sp>
        <p:nvSpPr>
          <p:cNvPr id="7" name="TextBox 6"/>
          <p:cNvSpPr txBox="1"/>
          <p:nvPr/>
        </p:nvSpPr>
        <p:spPr>
          <a:xfrm>
            <a:off x="5899825" y="4206443"/>
            <a:ext cx="5638800" cy="922020"/>
          </a:xfrm>
          <a:prstGeom prst="rect">
            <a:avLst/>
          </a:prstGeom>
          <a:noFill/>
        </p:spPr>
        <p:txBody>
          <a:bodyPr wrap="square" rtlCol="0">
            <a:spAutoFit/>
          </a:bodyPr>
          <a:p>
            <a:r>
              <a:rPr lang="en-US" dirty="0"/>
              <a:t>Vector of Review 1: [1 1 1 1 1 1 1 0 0 0 0]</a:t>
            </a:r>
            <a:endParaRPr lang="en-US" dirty="0"/>
          </a:p>
          <a:p>
            <a:r>
              <a:rPr lang="en-US" dirty="0"/>
              <a:t>Vector of Review 2: [1 1 2 0 0 1 1 0 1 0 0]</a:t>
            </a:r>
            <a:endParaRPr lang="en-US" dirty="0"/>
          </a:p>
          <a:p>
            <a:r>
              <a:rPr lang="en-US" dirty="0"/>
              <a:t>Vector of Review 3: [1 1 1 0 0 0 1 0 0 1 1]</a:t>
            </a:r>
            <a:endParaRPr lang="en-US"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Drawbacks of using a Bag-of-Words (</a:t>
            </a:r>
            <a:r>
              <a:rPr lang="en-US" dirty="0" err="1">
                <a:solidFill>
                  <a:schemeClr val="accent6"/>
                </a:solidFill>
                <a:sym typeface="+mn-ea"/>
              </a:rPr>
              <a:t>BoW</a:t>
            </a:r>
            <a:r>
              <a:rPr lang="en-US" dirty="0">
                <a:solidFill>
                  <a:schemeClr val="accent6"/>
                </a:solidFill>
                <a:sym typeface="+mn-ea"/>
              </a:rPr>
              <a:t>) Model</a:t>
            </a:r>
            <a:endParaRPr lang="en-US" dirty="0">
              <a:solidFill>
                <a:schemeClr val="accent6"/>
              </a:solidFill>
              <a:sym typeface="+mn-ea"/>
            </a:endParaRPr>
          </a:p>
        </p:txBody>
      </p:sp>
      <p:sp>
        <p:nvSpPr>
          <p:cNvPr id="3" name="Content Placeholder 2"/>
          <p:cNvSpPr>
            <a:spLocks noGrp="1"/>
          </p:cNvSpPr>
          <p:nvPr>
            <p:ph idx="1"/>
          </p:nvPr>
        </p:nvSpPr>
        <p:spPr/>
        <p:txBody>
          <a:bodyPr/>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If the new sentences contain new words, then our vocabulary size would increase and thereby, the length of the vectors would increase too.</a:t>
            </a:r>
            <a:endParaRPr lang="en-US" sz="1800" dirty="0">
              <a:latin typeface="Arial" panose="020B0604020202020204" pitchFamily="34" charset="0"/>
              <a:cs typeface="Arial" panose="020B0604020202020204" pitchFamily="34" charset="0"/>
              <a:sym typeface="+mn-ea"/>
            </a:endParaRPr>
          </a:p>
          <a:p>
            <a:pPr marL="342900" indent="-34290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Additionally, the vectors would also contain many 0s, thereby resulting in a sparse matrix (which is what we would like to avoid)</a:t>
            </a:r>
            <a:endParaRPr lang="en-US" sz="1800" dirty="0">
              <a:latin typeface="Arial" panose="020B0604020202020204" pitchFamily="34" charset="0"/>
              <a:cs typeface="Arial" panose="020B0604020202020204" pitchFamily="34" charset="0"/>
              <a:sym typeface="+mn-ea"/>
            </a:endParaRPr>
          </a:p>
          <a:p>
            <a:pPr marL="342900" indent="-342900">
              <a:buFont typeface="Arial" panose="020B0604020202020204" pitchFamily="34" charset="0"/>
              <a:buChar char="•"/>
            </a:pPr>
            <a:endParaRPr lang="en-US" sz="1800"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We are retaining no information on the grammar of the sentences nor on the ordering of the words in the text.</a:t>
            </a:r>
            <a:endParaRPr lang="en-US" sz="1800" dirty="0">
              <a:latin typeface="Arial" panose="020B0604020202020204" pitchFamily="34" charset="0"/>
              <a:cs typeface="Arial" panose="020B0604020202020204" pitchFamily="34" charset="0"/>
            </a:endParaRPr>
          </a:p>
          <a:p>
            <a:endParaRPr lang="en-US" sz="1800" dirty="0">
              <a:latin typeface="Arial" panose="020B0604020202020204" pitchFamily="34" charset="0"/>
              <a:ea typeface="Verdana" panose="020B0604030504040204" pitchFamily="34" charset="0"/>
              <a:cs typeface="Arial" panose="020B0604020202020204" pitchFamily="34" charset="0"/>
            </a:endParaRPr>
          </a:p>
          <a:p>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609600" y="190500"/>
            <a:ext cx="11170920" cy="582930"/>
          </a:xfrm>
        </p:spPr>
        <p:txBody>
          <a:bodyPr/>
          <a:p>
            <a:r>
              <a:rPr lang="en-US" sz="3400" dirty="0">
                <a:solidFill>
                  <a:schemeClr val="accent6"/>
                </a:solidFill>
                <a:sym typeface="+mn-ea"/>
              </a:rPr>
              <a:t>Term Frequency-Inverse Document Frequency (TF-IDF)</a:t>
            </a:r>
            <a:endParaRPr lang="en-US" sz="3400" dirty="0">
              <a:solidFill>
                <a:schemeClr val="accent6"/>
              </a:solidFill>
              <a:sym typeface="+mn-ea"/>
            </a:endParaRPr>
          </a:p>
        </p:txBody>
      </p:sp>
      <p:sp>
        <p:nvSpPr>
          <p:cNvPr id="4" name="TextBox 2"/>
          <p:cNvSpPr txBox="1"/>
          <p:nvPr/>
        </p:nvSpPr>
        <p:spPr>
          <a:xfrm>
            <a:off x="609353" y="854075"/>
            <a:ext cx="10744200" cy="645160"/>
          </a:xfrm>
          <a:prstGeom prst="rect">
            <a:avLst/>
          </a:prstGeom>
          <a:noFill/>
        </p:spPr>
        <p:txBody>
          <a:bodyPr wrap="square" rtlCol="0">
            <a:spAutoFit/>
          </a:bodyPr>
          <a:p>
            <a:r>
              <a:rPr lang="en-US" dirty="0">
                <a:latin typeface="Arial" panose="020B0604020202020204" pitchFamily="34" charset="0"/>
                <a:cs typeface="Arial" panose="020B0604020202020204" pitchFamily="34" charset="0"/>
              </a:rPr>
              <a:t>“Term frequency–inverse document frequency, is a numerical statistic that is intended to reflect how important a word is to a document in a collection or corpus.”</a:t>
            </a:r>
            <a:endParaRPr lang="en-US" dirty="0">
              <a:latin typeface="Arial" panose="020B0604020202020204" pitchFamily="34" charset="0"/>
              <a:ea typeface="Verdana" panose="020B0604030504040204" pitchFamily="34" charset="0"/>
              <a:cs typeface="Arial" panose="020B0604020202020204" pitchFamily="34" charset="0"/>
            </a:endParaRPr>
          </a:p>
        </p:txBody>
      </p:sp>
      <p:sp>
        <p:nvSpPr>
          <p:cNvPr id="7" name="TextBox 6"/>
          <p:cNvSpPr txBox="1"/>
          <p:nvPr/>
        </p:nvSpPr>
        <p:spPr>
          <a:xfrm>
            <a:off x="635331" y="1589643"/>
            <a:ext cx="10744200" cy="2030095"/>
          </a:xfrm>
          <a:prstGeom prst="rect">
            <a:avLst/>
          </a:prstGeom>
          <a:noFill/>
          <a:ln>
            <a:solidFill>
              <a:schemeClr val="accent1"/>
            </a:solidFill>
          </a:ln>
        </p:spPr>
        <p:txBody>
          <a:bodyPr wrap="square" rtlCol="0">
            <a:spAutoFit/>
          </a:bodyPr>
          <a:p>
            <a:r>
              <a:rPr lang="en-US" b="1" dirty="0"/>
              <a:t>Term Frequency (TF)</a:t>
            </a:r>
            <a:endParaRPr lang="en-US" b="1" dirty="0"/>
          </a:p>
          <a:p>
            <a:r>
              <a:rPr lang="en-US" dirty="0"/>
              <a:t>It is a measure of how frequently a term, t, appears in a document, d:</a:t>
            </a:r>
            <a:endParaRPr lang="en-US" dirty="0"/>
          </a:p>
          <a:p>
            <a:endParaRPr lang="en-US" dirty="0"/>
          </a:p>
          <a:p>
            <a:endParaRPr lang="en-US" dirty="0"/>
          </a:p>
          <a:p>
            <a:endParaRPr lang="en-US" dirty="0"/>
          </a:p>
          <a:p>
            <a:r>
              <a:rPr lang="en-US" dirty="0"/>
              <a:t>Here, in the numerator, n is the number of times the term “t” appears in the document “d”. Thus, each document and term would have its own TF value.</a:t>
            </a:r>
            <a:endParaRPr lang="en-US" dirty="0"/>
          </a:p>
        </p:txBody>
      </p:sp>
      <p:pic>
        <p:nvPicPr>
          <p:cNvPr id="8" name="Picture 7"/>
          <p:cNvPicPr>
            <a:picLocks noChangeAspect="1"/>
          </p:cNvPicPr>
          <p:nvPr/>
        </p:nvPicPr>
        <p:blipFill>
          <a:blip r:embed="rId1"/>
          <a:stretch>
            <a:fillRect/>
          </a:stretch>
        </p:blipFill>
        <p:spPr>
          <a:xfrm>
            <a:off x="2598420" y="2296160"/>
            <a:ext cx="4023360" cy="570230"/>
          </a:xfrm>
          <a:prstGeom prst="rect">
            <a:avLst/>
          </a:prstGeom>
        </p:spPr>
      </p:pic>
      <p:pic>
        <p:nvPicPr>
          <p:cNvPr id="9" name="Picture 8"/>
          <p:cNvPicPr>
            <a:picLocks noChangeAspect="1"/>
          </p:cNvPicPr>
          <p:nvPr/>
        </p:nvPicPr>
        <p:blipFill>
          <a:blip r:embed="rId2"/>
          <a:stretch>
            <a:fillRect/>
          </a:stretch>
        </p:blipFill>
        <p:spPr>
          <a:xfrm>
            <a:off x="6621780" y="3663950"/>
            <a:ext cx="4758690" cy="2700020"/>
          </a:xfrm>
          <a:prstGeom prst="rect">
            <a:avLst/>
          </a:prstGeom>
        </p:spPr>
      </p:pic>
      <p:sp>
        <p:nvSpPr>
          <p:cNvPr id="10" name="TextBox 9"/>
          <p:cNvSpPr txBox="1"/>
          <p:nvPr/>
        </p:nvSpPr>
        <p:spPr>
          <a:xfrm>
            <a:off x="609601" y="3783469"/>
            <a:ext cx="5638800" cy="2861310"/>
          </a:xfrm>
          <a:prstGeom prst="rect">
            <a:avLst/>
          </a:prstGeom>
          <a:noFill/>
        </p:spPr>
        <p:txBody>
          <a:bodyPr wrap="square" rtlCol="0">
            <a:spAutoFit/>
          </a:bodyPr>
          <a:p>
            <a:r>
              <a:rPr lang="en-US" dirty="0">
                <a:latin typeface="Arial" panose="020B0604020202020204" pitchFamily="34" charset="0"/>
                <a:ea typeface="Verdana" panose="020B0604030504040204" pitchFamily="34" charset="0"/>
                <a:cs typeface="Arial" panose="020B0604020202020204" pitchFamily="34" charset="0"/>
              </a:rPr>
              <a:t>E.g. </a:t>
            </a:r>
            <a:r>
              <a:rPr lang="en-US" dirty="0">
                <a:latin typeface="Arial" panose="020B0604020202020204" pitchFamily="34" charset="0"/>
                <a:cs typeface="Arial" panose="020B0604020202020204" pitchFamily="34" charset="0"/>
              </a:rPr>
              <a:t>Review 2: This movie is not scary and is slow</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Here,</a:t>
            </a:r>
            <a:endParaRPr lang="en-US"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Vocabulary</a:t>
            </a:r>
            <a:r>
              <a:rPr lang="en-US" b="1" dirty="0">
                <a:latin typeface="Arial" panose="020B0604020202020204" pitchFamily="34" charset="0"/>
                <a:cs typeface="Arial" panose="020B0604020202020204" pitchFamily="34" charset="0"/>
              </a:rPr>
              <a:t>:</a:t>
            </a:r>
            <a:r>
              <a:rPr lang="en-US" dirty="0">
                <a:latin typeface="Arial" panose="020B0604020202020204" pitchFamily="34" charset="0"/>
                <a:cs typeface="Arial" panose="020B0604020202020204" pitchFamily="34" charset="0"/>
              </a:rPr>
              <a:t> ‘This’, ‘movie’, ‘is’, ‘very’, ‘scary’, ‘and’, ‘long’, ‘not’,  ‘slow’, ‘spooky’,  ‘good’</a:t>
            </a:r>
            <a:endParaRPr lang="en-US"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Number of words in Review 2 = 8</a:t>
            </a:r>
            <a:endParaRPr lang="en-US" dirty="0">
              <a:latin typeface="Arial" panose="020B0604020202020204" pitchFamily="34" charset="0"/>
              <a:cs typeface="Arial" panose="020B0604020202020204" pitchFamily="34" charset="0"/>
            </a:endParaRPr>
          </a:p>
          <a:p>
            <a:pPr marL="171450" indent="-171450">
              <a:buFont typeface="Arial" panose="020B0604020202020204" pitchFamily="34" charset="0"/>
              <a:buChar char="•"/>
            </a:pPr>
            <a:r>
              <a:rPr lang="en-US" dirty="0">
                <a:latin typeface="Arial" panose="020B0604020202020204" pitchFamily="34" charset="0"/>
                <a:cs typeface="Arial" panose="020B0604020202020204" pitchFamily="34" charset="0"/>
              </a:rPr>
              <a:t>TF for the word ‘this’ = (number of times ‘this’ appears in review 2)/(number of terms in review 2) = 1/8</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ea typeface="Verdana" panose="020B0604030504040204" pitchFamily="34" charset="0"/>
              <a:cs typeface="Arial" panose="020B0604020202020204" pitchFamily="34"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400" dirty="0">
                <a:solidFill>
                  <a:schemeClr val="accent6"/>
                </a:solidFill>
                <a:sym typeface="+mn-ea"/>
              </a:rPr>
              <a:t>Term Frequency-Inverse Document Frequency (TF-IDF)</a:t>
            </a:r>
            <a:endParaRPr lang="en-US" sz="3400"/>
          </a:p>
        </p:txBody>
      </p:sp>
      <p:sp>
        <p:nvSpPr>
          <p:cNvPr id="4" name="TextBox 2"/>
          <p:cNvSpPr txBox="1"/>
          <p:nvPr/>
        </p:nvSpPr>
        <p:spPr>
          <a:xfrm>
            <a:off x="598170" y="1350645"/>
            <a:ext cx="10934065" cy="1674495"/>
          </a:xfrm>
          <a:prstGeom prst="rect">
            <a:avLst/>
          </a:prstGeom>
          <a:ln>
            <a:solidFill>
              <a:schemeClr val="accent1"/>
            </a:solidFill>
          </a:ln>
        </p:spPr>
        <p:txBody>
          <a:bodyPr vert="horz" lIns="90000" tIns="0" rIns="0" bIns="0" rtlCol="0">
            <a:normAutofit/>
          </a:bodyPr>
          <a:p>
            <a:pPr>
              <a:spcAft>
                <a:spcPts val="600"/>
              </a:spcAft>
            </a:pPr>
            <a:r>
              <a:rPr lang="en-US" b="1" dirty="0">
                <a:latin typeface="Arial" panose="020B0604020202020204" pitchFamily="34" charset="0"/>
                <a:ea typeface="Verdana" panose="020B0604030504040204" pitchFamily="34" charset="0"/>
                <a:cs typeface="Arial" panose="020B0604020202020204" pitchFamily="34" charset="0"/>
              </a:rPr>
              <a:t>Inverse Document Frequency (IDF)</a:t>
            </a:r>
            <a:endParaRPr lang="en-US" b="1" dirty="0">
              <a:latin typeface="Arial" panose="020B0604020202020204" pitchFamily="34" charset="0"/>
              <a:ea typeface="Verdana" panose="020B0604030504040204" pitchFamily="34" charset="0"/>
              <a:cs typeface="Arial" panose="020B0604020202020204" pitchFamily="34" charset="0"/>
            </a:endParaRPr>
          </a:p>
          <a:p>
            <a:pPr>
              <a:spcAft>
                <a:spcPts val="600"/>
              </a:spcAft>
            </a:pPr>
            <a:r>
              <a:rPr lang="en-US" dirty="0">
                <a:latin typeface="Arial" panose="020B0604020202020204" pitchFamily="34" charset="0"/>
                <a:ea typeface="Verdana" panose="020B0604030504040204" pitchFamily="34" charset="0"/>
                <a:cs typeface="Arial" panose="020B0604020202020204" pitchFamily="34" charset="0"/>
              </a:rPr>
              <a:t>IDF is a measure of how important a term is. We need the IDF value because computing just the TF alone is not sufficient to understand the importance of words:</a:t>
            </a:r>
            <a:endParaRPr lang="en-US" dirty="0">
              <a:latin typeface="Arial" panose="020B0604020202020204" pitchFamily="34" charset="0"/>
              <a:ea typeface="Verdana" panose="020B0604030504040204" pitchFamily="34" charset="0"/>
              <a:cs typeface="Arial" panose="020B0604020202020204" pitchFamily="34" charset="0"/>
            </a:endParaRPr>
          </a:p>
        </p:txBody>
      </p:sp>
      <p:pic>
        <p:nvPicPr>
          <p:cNvPr id="5" name="Picture 4"/>
          <p:cNvPicPr>
            <a:picLocks noChangeAspect="1"/>
          </p:cNvPicPr>
          <p:nvPr/>
        </p:nvPicPr>
        <p:blipFill>
          <a:blip r:embed="rId1"/>
          <a:stretch>
            <a:fillRect/>
          </a:stretch>
        </p:blipFill>
        <p:spPr>
          <a:xfrm>
            <a:off x="3625215" y="2275490"/>
            <a:ext cx="4065439" cy="680092"/>
          </a:xfrm>
          <a:prstGeom prst="rect">
            <a:avLst/>
          </a:prstGeom>
        </p:spPr>
      </p:pic>
      <p:sp>
        <p:nvSpPr>
          <p:cNvPr id="6" name="TextBox 5"/>
          <p:cNvSpPr txBox="1"/>
          <p:nvPr/>
        </p:nvSpPr>
        <p:spPr>
          <a:xfrm>
            <a:off x="598348" y="3154786"/>
            <a:ext cx="6183452" cy="3415030"/>
          </a:xfrm>
          <a:prstGeom prst="rect">
            <a:avLst/>
          </a:prstGeom>
          <a:noFill/>
        </p:spPr>
        <p:txBody>
          <a:bodyPr wrap="square" rtlCol="0">
            <a:spAutoFit/>
          </a:bodyPr>
          <a:p>
            <a:r>
              <a:rPr lang="en-US" dirty="0">
                <a:latin typeface="Arial" panose="020B0604020202020204" pitchFamily="34" charset="0"/>
                <a:cs typeface="Arial" panose="020B0604020202020204" pitchFamily="34" charset="0"/>
              </a:rPr>
              <a:t>E.g.</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We can calculate the IDF values for the all the words in Review 2:</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IDF(‘this’) =  log(number of documents/number of documents containing the 	word ‘this’) </a:t>
            </a:r>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                = log(3/3) = log(1) = 0</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r>
              <a:rPr lang="en-US" dirty="0">
                <a:latin typeface="Arial" panose="020B0604020202020204" pitchFamily="34" charset="0"/>
                <a:cs typeface="Arial" panose="020B0604020202020204" pitchFamily="34" charset="0"/>
              </a:rPr>
              <a:t>Hence, we see that words like “is”, “this”, “and”, etc., are reduced to 0 and have little importance; while words like “scary”, “long”, “good”, etc. are words with more importance and thus have a higher value.</a:t>
            </a:r>
            <a:endParaRPr lang="en-US" dirty="0">
              <a:latin typeface="Arial" panose="020B0604020202020204" pitchFamily="34" charset="0"/>
              <a:cs typeface="Arial" panose="020B0604020202020204" pitchFamily="34" charset="0"/>
            </a:endParaRPr>
          </a:p>
        </p:txBody>
      </p:sp>
      <p:pic>
        <p:nvPicPr>
          <p:cNvPr id="7" name="Picture 6"/>
          <p:cNvPicPr>
            <a:picLocks noChangeAspect="1"/>
          </p:cNvPicPr>
          <p:nvPr/>
        </p:nvPicPr>
        <p:blipFill>
          <a:blip r:embed="rId2"/>
          <a:stretch>
            <a:fillRect/>
          </a:stretch>
        </p:blipFill>
        <p:spPr>
          <a:xfrm>
            <a:off x="7138670" y="3087370"/>
            <a:ext cx="4231005" cy="33655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sz="3400" dirty="0">
                <a:solidFill>
                  <a:schemeClr val="accent6"/>
                </a:solidFill>
                <a:sym typeface="+mn-ea"/>
              </a:rPr>
              <a:t>Term Frequency-Inverse Document Frequency (TF-IDF)</a:t>
            </a:r>
            <a:endParaRPr lang="en-US" sz="3400"/>
          </a:p>
        </p:txBody>
      </p:sp>
      <p:sp>
        <p:nvSpPr>
          <p:cNvPr id="4" name="TextBox 2"/>
          <p:cNvSpPr txBox="1"/>
          <p:nvPr/>
        </p:nvSpPr>
        <p:spPr>
          <a:xfrm>
            <a:off x="609600" y="773430"/>
            <a:ext cx="10934065" cy="1133475"/>
          </a:xfrm>
          <a:prstGeom prst="rect">
            <a:avLst/>
          </a:prstGeom>
          <a:ln>
            <a:solidFill>
              <a:schemeClr val="accent1"/>
            </a:solidFill>
          </a:ln>
        </p:spPr>
        <p:txBody>
          <a:bodyPr vert="horz" lIns="90000" tIns="0" rIns="0" bIns="0" rtlCol="0">
            <a:normAutofit/>
          </a:bodyPr>
          <a:p>
            <a:pPr>
              <a:spcAft>
                <a:spcPts val="600"/>
              </a:spcAft>
            </a:pPr>
            <a:r>
              <a:rPr lang="en-US" dirty="0"/>
              <a:t>We can now compute the </a:t>
            </a:r>
            <a:r>
              <a:rPr lang="en-US" b="1" dirty="0"/>
              <a:t>TF-IDF score </a:t>
            </a:r>
            <a:r>
              <a:rPr lang="en-US" dirty="0"/>
              <a:t>for each word in the corpus. Words with a higher score are more important, and those with a lower score are less important:</a:t>
            </a:r>
            <a:endParaRPr lang="en-US" i="1" dirty="0">
              <a:latin typeface="Verdana" panose="020B0604030504040204" pitchFamily="34" charset="0"/>
              <a:ea typeface="Verdana" panose="020B0604030504040204" pitchFamily="34" charset="0"/>
            </a:endParaRPr>
          </a:p>
        </p:txBody>
      </p:sp>
      <p:sp>
        <p:nvSpPr>
          <p:cNvPr id="6" name="TextBox 5"/>
          <p:cNvSpPr txBox="1"/>
          <p:nvPr/>
        </p:nvSpPr>
        <p:spPr>
          <a:xfrm>
            <a:off x="609778" y="2021562"/>
            <a:ext cx="4964252" cy="3138170"/>
          </a:xfrm>
          <a:prstGeom prst="rect">
            <a:avLst/>
          </a:prstGeom>
          <a:noFill/>
        </p:spPr>
        <p:txBody>
          <a:bodyPr wrap="square" rtlCol="0">
            <a:spAutoFit/>
          </a:bodyPr>
          <a:p>
            <a:r>
              <a:rPr lang="en-US" b="1" dirty="0"/>
              <a:t>E</a:t>
            </a:r>
            <a:r>
              <a:rPr lang="en-IN" altLang="en-US" b="1" dirty="0"/>
              <a:t>xample:</a:t>
            </a:r>
            <a:endParaRPr lang="en-US" dirty="0"/>
          </a:p>
          <a:p>
            <a:r>
              <a:rPr lang="en-US" dirty="0"/>
              <a:t>We can now calculate the </a:t>
            </a:r>
            <a:endParaRPr lang="en-US" dirty="0"/>
          </a:p>
          <a:p>
            <a:r>
              <a:rPr lang="en-US" dirty="0"/>
              <a:t>TF-IDF score for every word in Review 2:</a:t>
            </a:r>
            <a:endParaRPr lang="en-US" dirty="0"/>
          </a:p>
          <a:p>
            <a:r>
              <a:rPr lang="en-US" dirty="0"/>
              <a:t>TF-IDF(‘this’, Review 2) = TF(‘this’, Review 2) * IDF(‘this’) = 1/8 * 0 = 0</a:t>
            </a:r>
            <a:endParaRPr lang="en-US" dirty="0"/>
          </a:p>
          <a:p>
            <a:endParaRPr lang="en-US" dirty="0"/>
          </a:p>
          <a:p>
            <a:r>
              <a:rPr lang="en-US" dirty="0"/>
              <a:t>TF-IDF also gives larger values for less frequent words and is high when both IDF and TF values are high </a:t>
            </a:r>
            <a:r>
              <a:rPr lang="en-US" dirty="0" err="1"/>
              <a:t>i.e</a:t>
            </a:r>
            <a:r>
              <a:rPr lang="en-US" dirty="0"/>
              <a:t> the word is rare in all the documents combined but frequent in a single document.</a:t>
            </a:r>
            <a:endParaRPr lang="en-US" dirty="0"/>
          </a:p>
        </p:txBody>
      </p:sp>
      <p:pic>
        <p:nvPicPr>
          <p:cNvPr id="5" name="Picture 4"/>
          <p:cNvPicPr>
            <a:picLocks noChangeAspect="1"/>
          </p:cNvPicPr>
          <p:nvPr/>
        </p:nvPicPr>
        <p:blipFill>
          <a:blip r:embed="rId1"/>
          <a:stretch>
            <a:fillRect/>
          </a:stretch>
        </p:blipFill>
        <p:spPr>
          <a:xfrm>
            <a:off x="4284981" y="1382836"/>
            <a:ext cx="2714625" cy="454120"/>
          </a:xfrm>
          <a:prstGeom prst="rect">
            <a:avLst/>
          </a:prstGeom>
        </p:spPr>
      </p:pic>
      <p:pic>
        <p:nvPicPr>
          <p:cNvPr id="8" name="Picture 7"/>
          <p:cNvPicPr>
            <a:picLocks noChangeAspect="1"/>
          </p:cNvPicPr>
          <p:nvPr/>
        </p:nvPicPr>
        <p:blipFill>
          <a:blip r:embed="rId2"/>
          <a:stretch>
            <a:fillRect/>
          </a:stretch>
        </p:blipFill>
        <p:spPr>
          <a:xfrm>
            <a:off x="5771515" y="2021840"/>
            <a:ext cx="5933440" cy="3138170"/>
          </a:xfrm>
          <a:prstGeom prst="rect">
            <a:avLst/>
          </a:prstGeom>
        </p:spPr>
      </p:pic>
      <p:sp>
        <p:nvSpPr>
          <p:cNvPr id="9" name="Rectangle 8"/>
          <p:cNvSpPr/>
          <p:nvPr/>
        </p:nvSpPr>
        <p:spPr>
          <a:xfrm>
            <a:off x="609600" y="5344795"/>
            <a:ext cx="10419080" cy="938530"/>
          </a:xfrm>
          <a:prstGeom prst="rect">
            <a:avLst/>
          </a:prstGeom>
        </p:spPr>
        <p:style>
          <a:lnRef idx="1">
            <a:schemeClr val="accent1"/>
          </a:lnRef>
          <a:fillRef idx="2">
            <a:schemeClr val="accent1"/>
          </a:fillRef>
          <a:effectRef idx="1">
            <a:schemeClr val="accent1"/>
          </a:effectRef>
          <a:fontRef idx="minor">
            <a:schemeClr val="dk1"/>
          </a:fontRef>
        </p:style>
        <p:txBody>
          <a:bodyPr rtlCol="0" anchor="ctr"/>
          <a:p>
            <a:pPr algn="just"/>
            <a:r>
              <a:rPr lang="en-US" sz="1400" dirty="0"/>
              <a:t>While both Bag-of-Words and TF-IDF have been popular in their own regard, there still remained a void where understanding the context of words was concerned. Detecting the similarity between the words ‘spooky’ and ‘scary’, or translating our given documents into another language, requires a lot more information on the documents.</a:t>
            </a:r>
            <a:endParaRPr lang="en-US" sz="14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Word2Vec</a:t>
            </a:r>
            <a:endParaRPr lang="en-US" dirty="0">
              <a:solidFill>
                <a:schemeClr val="accent6"/>
              </a:solidFill>
              <a:sym typeface="+mn-ea"/>
            </a:endParaRPr>
          </a:p>
        </p:txBody>
      </p:sp>
      <p:sp>
        <p:nvSpPr>
          <p:cNvPr id="4" name="TextBox 2"/>
          <p:cNvSpPr txBox="1"/>
          <p:nvPr/>
        </p:nvSpPr>
        <p:spPr>
          <a:xfrm>
            <a:off x="654765" y="1089660"/>
            <a:ext cx="10723800" cy="645160"/>
          </a:xfrm>
          <a:prstGeom prst="rect">
            <a:avLst/>
          </a:prstGeom>
          <a:noFill/>
          <a:ln>
            <a:solidFill>
              <a:schemeClr val="accent1"/>
            </a:solidFill>
          </a:ln>
        </p:spPr>
        <p:txBody>
          <a:bodyPr wrap="square" rtlCol="0">
            <a:spAutoFit/>
          </a:bodyPr>
          <a:p>
            <a:pPr algn="just"/>
            <a:r>
              <a:rPr lang="en-US" dirty="0"/>
              <a:t>Word2vec is a two-layer neural net that processes text by “vectorizing” words. Its input is a text corpus and its output is a set of vectors: feature vectors that represent words in that corpus.</a:t>
            </a:r>
            <a:endParaRPr lang="en-US" dirty="0">
              <a:latin typeface="Verdana" panose="020B0604030504040204" pitchFamily="34" charset="0"/>
              <a:ea typeface="Verdana" panose="020B0604030504040204" pitchFamily="34" charset="0"/>
              <a:cs typeface="Verdana" panose="020B0604030504040204" pitchFamily="34" charset="0"/>
            </a:endParaRPr>
          </a:p>
        </p:txBody>
      </p:sp>
      <p:sp>
        <p:nvSpPr>
          <p:cNvPr id="5" name="TextBox 3"/>
          <p:cNvSpPr txBox="1"/>
          <p:nvPr/>
        </p:nvSpPr>
        <p:spPr>
          <a:xfrm>
            <a:off x="654687" y="2038338"/>
            <a:ext cx="6844028" cy="1476375"/>
          </a:xfrm>
          <a:prstGeom prst="rect">
            <a:avLst/>
          </a:prstGeom>
          <a:noFill/>
          <a:ln>
            <a:noFill/>
          </a:ln>
        </p:spPr>
        <p:txBody>
          <a:bodyPr wrap="square" rtlCol="0">
            <a:spAutoFit/>
          </a:bodyPr>
          <a:p>
            <a:pPr marL="285750" indent="-285750" algn="just">
              <a:buFont typeface="Arial" panose="020B0604020202020204" pitchFamily="34" charset="0"/>
              <a:buChar char="•"/>
            </a:pPr>
            <a:r>
              <a:rPr lang="en-US" dirty="0"/>
              <a:t>The Word2Vec objective function causes the words that have a similar context to have similar embeddings. Thus in this vector space, these words are really close. </a:t>
            </a:r>
            <a:endParaRPr lang="en-US" dirty="0"/>
          </a:p>
          <a:p>
            <a:pPr marL="285750" indent="-285750" algn="just">
              <a:buFont typeface="Arial" panose="020B0604020202020204" pitchFamily="34" charset="0"/>
              <a:buChar char="•"/>
            </a:pPr>
            <a:r>
              <a:rPr lang="en-US" dirty="0"/>
              <a:t>Mathematically, the cosine of the angle (Q) between such vectors should be close to 1, i.e. angle close to 0.</a:t>
            </a:r>
            <a:endParaRPr lang="en-US" dirty="0">
              <a:latin typeface="Verdana" panose="020B0604030504040204" pitchFamily="34" charset="0"/>
              <a:ea typeface="Verdana" panose="020B0604030504040204" pitchFamily="34" charset="0"/>
              <a:cs typeface="Verdana" panose="020B0604030504040204" pitchFamily="34" charset="0"/>
            </a:endParaRPr>
          </a:p>
        </p:txBody>
      </p:sp>
      <p:pic>
        <p:nvPicPr>
          <p:cNvPr id="6" name="Picture 5"/>
          <p:cNvPicPr>
            <a:picLocks noChangeAspect="1"/>
          </p:cNvPicPr>
          <p:nvPr/>
        </p:nvPicPr>
        <p:blipFill>
          <a:blip r:embed="rId1"/>
          <a:stretch>
            <a:fillRect/>
          </a:stretch>
        </p:blipFill>
        <p:spPr>
          <a:xfrm>
            <a:off x="7795486" y="1936115"/>
            <a:ext cx="3245510" cy="2514600"/>
          </a:xfrm>
          <a:prstGeom prst="rect">
            <a:avLst/>
          </a:prstGeom>
        </p:spPr>
      </p:pic>
      <p:pic>
        <p:nvPicPr>
          <p:cNvPr id="7" name="Picture 6"/>
          <p:cNvPicPr>
            <a:picLocks noChangeAspect="1"/>
          </p:cNvPicPr>
          <p:nvPr/>
        </p:nvPicPr>
        <p:blipFill>
          <a:blip r:embed="rId2"/>
          <a:stretch>
            <a:fillRect/>
          </a:stretch>
        </p:blipFill>
        <p:spPr>
          <a:xfrm>
            <a:off x="490220" y="3818387"/>
            <a:ext cx="2963603" cy="2359184"/>
          </a:xfrm>
          <a:prstGeom prst="rect">
            <a:avLst/>
          </a:prstGeom>
        </p:spPr>
      </p:pic>
      <p:sp>
        <p:nvSpPr>
          <p:cNvPr id="8" name="TextBox 7"/>
          <p:cNvSpPr txBox="1"/>
          <p:nvPr/>
        </p:nvSpPr>
        <p:spPr>
          <a:xfrm>
            <a:off x="3453765" y="5092710"/>
            <a:ext cx="7315200" cy="922020"/>
          </a:xfrm>
          <a:prstGeom prst="rect">
            <a:avLst/>
          </a:prstGeom>
          <a:noFill/>
          <a:ln>
            <a:noFill/>
          </a:ln>
        </p:spPr>
        <p:txBody>
          <a:bodyPr wrap="square" rtlCol="0">
            <a:spAutoFit/>
          </a:bodyPr>
          <a:p>
            <a:pPr algn="just"/>
            <a:r>
              <a:rPr lang="en-US" dirty="0"/>
              <a:t>As seen in the image below where word embeddings are plotted, similar meaning words are closer in space, indicating their semantic similarity.</a:t>
            </a:r>
            <a:endParaRPr lang="en-US" dirty="0">
              <a:latin typeface="Verdana" panose="020B0604030504040204" pitchFamily="34" charset="0"/>
              <a:ea typeface="Verdana" panose="020B0604030504040204" pitchFamily="34" charset="0"/>
              <a:cs typeface="Verdana" panose="020B0604030504040204" pitchFamily="34"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rPr>
              <a:t>Word2Vec</a:t>
            </a:r>
            <a:endParaRPr lang="en-US">
              <a:solidFill>
                <a:schemeClr val="accent6"/>
              </a:solidFill>
              <a:effectLst/>
              <a:latin typeface="Verdana" panose="020B0604030504040204" pitchFamily="34" charset="0"/>
              <a:ea typeface="Verdana" panose="020B0604030504040204" pitchFamily="34" charset="0"/>
              <a:cs typeface="Verdana" panose="020B0604030504040204" pitchFamily="34" charset="0"/>
              <a:sym typeface="+mn-ea"/>
            </a:endParaRPr>
          </a:p>
        </p:txBody>
      </p:sp>
      <p:pic>
        <p:nvPicPr>
          <p:cNvPr id="4" name="Picture 3"/>
          <p:cNvPicPr>
            <a:picLocks noChangeAspect="1"/>
          </p:cNvPicPr>
          <p:nvPr/>
        </p:nvPicPr>
        <p:blipFill>
          <a:blip r:embed="rId1"/>
          <a:stretch>
            <a:fillRect/>
          </a:stretch>
        </p:blipFill>
        <p:spPr>
          <a:xfrm>
            <a:off x="371475" y="1989282"/>
            <a:ext cx="6477000" cy="4150288"/>
          </a:xfrm>
          <a:prstGeom prst="rect">
            <a:avLst/>
          </a:prstGeom>
          <a:noFill/>
          <a:ln>
            <a:solidFill>
              <a:schemeClr val="accent1"/>
            </a:solidFill>
          </a:ln>
        </p:spPr>
      </p:pic>
      <p:sp>
        <p:nvSpPr>
          <p:cNvPr id="5" name="TextBox 4"/>
          <p:cNvSpPr txBox="1"/>
          <p:nvPr/>
        </p:nvSpPr>
        <p:spPr>
          <a:xfrm>
            <a:off x="609669" y="1023622"/>
            <a:ext cx="10929338" cy="527048"/>
          </a:xfrm>
          <a:prstGeom prst="rect">
            <a:avLst/>
          </a:prstGeom>
        </p:spPr>
        <p:txBody>
          <a:bodyPr vert="horz" lIns="90000" tIns="0" rIns="0" bIns="0" rtlCol="0">
            <a:noAutofit/>
          </a:bodyPr>
          <a:p>
            <a:pPr marL="285750" indent="-285750" algn="just">
              <a:spcAft>
                <a:spcPts val="600"/>
              </a:spcAft>
              <a:buFont typeface="Arial" panose="020B0604020202020204" pitchFamily="34" charset="0"/>
              <a:buChar char="•"/>
            </a:pPr>
            <a:r>
              <a:rPr lang="en-US" dirty="0">
                <a:latin typeface="Arial" panose="020B0604020202020204" pitchFamily="34" charset="0"/>
                <a:ea typeface="Verdana" panose="020B0604030504040204" pitchFamily="34" charset="0"/>
                <a:cs typeface="Arial" panose="020B0604020202020204" pitchFamily="34" charset="0"/>
              </a:rPr>
              <a:t>Two different model architectures that can be used by Word2Vec to create the word embeddings are the Continuous Bag of Words (CBOW) model &amp; the Skip-Gram model.</a:t>
            </a:r>
            <a:endParaRPr lang="en-US" dirty="0">
              <a:latin typeface="Arial" panose="020B0604020202020204" pitchFamily="34" charset="0"/>
              <a:ea typeface="Verdana" panose="020B0604030504040204" pitchFamily="34" charset="0"/>
              <a:cs typeface="Arial" panose="020B0604020202020204" pitchFamily="34" charset="0"/>
            </a:endParaRPr>
          </a:p>
        </p:txBody>
      </p:sp>
      <p:sp>
        <p:nvSpPr>
          <p:cNvPr id="6" name="TextBox 5"/>
          <p:cNvSpPr txBox="1"/>
          <p:nvPr/>
        </p:nvSpPr>
        <p:spPr>
          <a:xfrm>
            <a:off x="7035800" y="1989159"/>
            <a:ext cx="4267200" cy="2584450"/>
          </a:xfrm>
          <a:prstGeom prst="rect">
            <a:avLst/>
          </a:prstGeom>
          <a:noFill/>
        </p:spPr>
        <p:txBody>
          <a:bodyPr wrap="square" rtlCol="0">
            <a:spAutoFit/>
          </a:bodyPr>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The CBOW architecture comprises a deep learning classification model in which we take in context words as input, X, and try to predict our target word, Y.</a:t>
            </a:r>
            <a:endParaRPr lang="en-US" dirty="0">
              <a:latin typeface="Arial" panose="020B0604020202020204" pitchFamily="34" charset="0"/>
              <a:cs typeface="Arial" panose="020B0604020202020204" pitchFamily="34" charset="0"/>
            </a:endParaRPr>
          </a:p>
          <a:p>
            <a:endParaRPr lang="en-US" dirty="0">
              <a:latin typeface="Arial" panose="020B0604020202020204" pitchFamily="34" charset="0"/>
              <a:cs typeface="Arial" panose="020B0604020202020204" pitchFamily="34" charset="0"/>
            </a:endParaRPr>
          </a:p>
          <a:p>
            <a:pPr marL="342900" indent="-342900">
              <a:buFont typeface="Arial" panose="020B0604020202020204" pitchFamily="34" charset="0"/>
              <a:buChar char="•"/>
            </a:pPr>
            <a:r>
              <a:rPr lang="en-US" dirty="0">
                <a:latin typeface="Arial" panose="020B0604020202020204" pitchFamily="34" charset="0"/>
                <a:cs typeface="Arial" panose="020B0604020202020204" pitchFamily="34" charset="0"/>
              </a:rPr>
              <a:t>In the skip-gram model, given a target (Centre) word, the context words are predicted. </a:t>
            </a:r>
            <a:endParaRPr lang="en-US" dirty="0">
              <a:latin typeface="Arial" panose="020B0604020202020204" pitchFamily="34" charset="0"/>
              <a:cs typeface="Arial" panose="020B0604020202020204" pitchFamily="34"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Intro to Language Modelling</a:t>
            </a:r>
            <a:endParaRPr lang="en-US" dirty="0">
              <a:solidFill>
                <a:schemeClr val="accent6"/>
              </a:solidFill>
              <a:sym typeface="+mn-ea"/>
            </a:endParaRPr>
          </a:p>
        </p:txBody>
      </p:sp>
      <p:sp>
        <p:nvSpPr>
          <p:cNvPr id="3" name="Content Placeholder 2"/>
          <p:cNvSpPr>
            <a:spLocks noGrp="1"/>
          </p:cNvSpPr>
          <p:nvPr>
            <p:ph idx="1"/>
          </p:nvPr>
        </p:nvSpPr>
        <p:spPr>
          <a:xfrm>
            <a:off x="609600" y="773430"/>
            <a:ext cx="10972800" cy="5260340"/>
          </a:xfrm>
        </p:spPr>
        <p:txBody>
          <a:bodyPr/>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What is L</a:t>
            </a:r>
            <a:r>
              <a:rPr lang="en-IN" altLang="en-US" sz="1800" dirty="0">
                <a:latin typeface="Arial" panose="020B0604020202020204" pitchFamily="34" charset="0"/>
                <a:cs typeface="Arial" panose="020B0604020202020204" pitchFamily="34" charset="0"/>
                <a:sym typeface="+mn-ea"/>
              </a:rPr>
              <a:t>anguage </a:t>
            </a:r>
            <a:r>
              <a:rPr lang="en-US" sz="1800" dirty="0">
                <a:latin typeface="Arial" panose="020B0604020202020204" pitchFamily="34" charset="0"/>
                <a:cs typeface="Arial" panose="020B0604020202020204" pitchFamily="34" charset="0"/>
                <a:sym typeface="+mn-ea"/>
              </a:rPr>
              <a:t>M</a:t>
            </a:r>
            <a:r>
              <a:rPr lang="en-IN" altLang="en-US" sz="1800" dirty="0">
                <a:latin typeface="Arial" panose="020B0604020202020204" pitchFamily="34" charset="0"/>
                <a:cs typeface="Arial" panose="020B0604020202020204" pitchFamily="34" charset="0"/>
                <a:sym typeface="+mn-ea"/>
              </a:rPr>
              <a:t>odelling</a:t>
            </a:r>
            <a:r>
              <a:rPr lang="en-US" sz="1800" dirty="0">
                <a:latin typeface="Arial" panose="020B0604020202020204" pitchFamily="34" charset="0"/>
                <a:cs typeface="Arial" panose="020B0604020202020204" pitchFamily="34" charset="0"/>
                <a:sym typeface="+mn-ea"/>
              </a:rPr>
              <a:t>?</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Language model in NLP is a model that computes probability of a sentence( sequence of words) or the probability of a next word in a sequence.</a:t>
            </a:r>
            <a:endParaRPr lang="en-US" sz="1800" dirty="0">
              <a:latin typeface="Arial" panose="020B0604020202020204" pitchFamily="34" charset="0"/>
              <a:cs typeface="Arial" panose="020B0604020202020204" pitchFamily="34" charset="0"/>
              <a:sym typeface="+mn-ea"/>
            </a:endParaRPr>
          </a:p>
          <a:p>
            <a:pPr marL="644525" lvl="1"/>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Language Model v/s Word Embedding</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Language models, word order matters because it tries to capture the context between words</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Words embeddings, only </a:t>
            </a:r>
            <a:r>
              <a:rPr lang="en-IN" altLang="en-US" sz="1800" dirty="0">
                <a:latin typeface="Arial" panose="020B0604020202020204" pitchFamily="34" charset="0"/>
                <a:cs typeface="Arial" panose="020B0604020202020204" pitchFamily="34" charset="0"/>
                <a:sym typeface="+mn-ea"/>
              </a:rPr>
              <a:t>semantic similarity</a:t>
            </a:r>
            <a:r>
              <a:rPr lang="en-US" sz="1800" dirty="0">
                <a:latin typeface="Arial" panose="020B0604020202020204" pitchFamily="34" charset="0"/>
                <a:cs typeface="Arial" panose="020B0604020202020204" pitchFamily="34" charset="0"/>
                <a:sym typeface="+mn-ea"/>
              </a:rPr>
              <a:t> is captured because it is trained by predicting words in a window regardless of the order.</a:t>
            </a:r>
            <a:endParaRPr lang="en-US" sz="1800" dirty="0">
              <a:latin typeface="Arial" panose="020B0604020202020204" pitchFamily="34" charset="0"/>
              <a:cs typeface="Arial" panose="020B0604020202020204" pitchFamily="34" charset="0"/>
              <a:sym typeface="+mn-ea"/>
            </a:endParaRPr>
          </a:p>
          <a:p>
            <a:pPr marL="644525" lvl="1"/>
            <a:endParaRPr lang="en-US" sz="1800" dirty="0">
              <a:latin typeface="Arial" panose="020B0604020202020204" pitchFamily="34" charset="0"/>
              <a:cs typeface="Arial" panose="020B0604020202020204" pitchFamily="34" charset="0"/>
            </a:endParaRPr>
          </a:p>
          <a:p>
            <a:pPr marL="285750" indent="-285750">
              <a:buFont typeface="Arial" panose="020B0604020202020204" pitchFamily="34" charset="0"/>
              <a:buChar char="•"/>
            </a:pPr>
            <a:r>
              <a:rPr lang="en-US" sz="1800" dirty="0">
                <a:latin typeface="Arial" panose="020B0604020202020204" pitchFamily="34" charset="0"/>
                <a:cs typeface="Arial" panose="020B0604020202020204" pitchFamily="34" charset="0"/>
                <a:sym typeface="+mn-ea"/>
              </a:rPr>
              <a:t>Application of Language models</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Sentimental Analysis</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Question-Answering</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Summarization</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Machine Translation</a:t>
            </a:r>
            <a:endParaRPr lang="en-US" sz="1800" dirty="0">
              <a:latin typeface="Arial" panose="020B0604020202020204" pitchFamily="34" charset="0"/>
              <a:cs typeface="Arial" panose="020B0604020202020204" pitchFamily="34" charset="0"/>
            </a:endParaRPr>
          </a:p>
          <a:p>
            <a:pPr marL="644525" lvl="1"/>
            <a:r>
              <a:rPr lang="en-US" sz="1800" dirty="0">
                <a:latin typeface="Arial" panose="020B0604020202020204" pitchFamily="34" charset="0"/>
                <a:cs typeface="Arial" panose="020B0604020202020204" pitchFamily="34" charset="0"/>
                <a:sym typeface="+mn-ea"/>
              </a:rPr>
              <a:t>Speech recognition</a:t>
            </a:r>
            <a:endParaRPr lang="en-US" sz="1800">
              <a:latin typeface="Arial" panose="020B0604020202020204" pitchFamily="34" charset="0"/>
              <a:cs typeface="Arial" panose="020B0604020202020204" pitchFamily="34"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dirty="0">
                <a:solidFill>
                  <a:schemeClr val="accent6"/>
                </a:solidFill>
                <a:sym typeface="+mn-ea"/>
              </a:rPr>
              <a:t>Language Modelling</a:t>
            </a:r>
            <a:endParaRPr lang="en-US" dirty="0">
              <a:solidFill>
                <a:schemeClr val="accent6"/>
              </a:solidFill>
              <a:sym typeface="+mn-ea"/>
            </a:endParaRPr>
          </a:p>
        </p:txBody>
      </p:sp>
      <p:sp>
        <p:nvSpPr>
          <p:cNvPr id="3" name="Content Placeholder 2"/>
          <p:cNvSpPr>
            <a:spLocks noGrp="1"/>
          </p:cNvSpPr>
          <p:nvPr>
            <p:ph idx="1"/>
          </p:nvPr>
        </p:nvSpPr>
        <p:spPr/>
        <p:txBody>
          <a:bodyPr/>
          <a:p>
            <a:pPr marL="285750" indent="-285750">
              <a:buFont typeface="Arial" panose="020B0604020202020204" pitchFamily="34" charset="0"/>
              <a:buChar char="•"/>
            </a:pPr>
            <a:r>
              <a:rPr lang="en-US" sz="1800" dirty="0">
                <a:sym typeface="+mn-ea"/>
              </a:rPr>
              <a:t>Making a Language model</a:t>
            </a:r>
            <a:endParaRPr lang="en-US" sz="1800" dirty="0"/>
          </a:p>
          <a:p>
            <a:pPr marL="644525" lvl="1"/>
            <a:r>
              <a:rPr lang="en-US" sz="1800" dirty="0">
                <a:sym typeface="+mn-ea"/>
              </a:rPr>
              <a:t>Using N-grams</a:t>
            </a:r>
            <a:endParaRPr lang="en-US" sz="1800" dirty="0"/>
          </a:p>
          <a:p>
            <a:pPr marL="644525" lvl="1"/>
            <a:r>
              <a:rPr lang="en-US" sz="1800" dirty="0">
                <a:sym typeface="+mn-ea"/>
              </a:rPr>
              <a:t>Using Neural Networks</a:t>
            </a:r>
            <a:endParaRPr lang="en-US" sz="1800" dirty="0"/>
          </a:p>
          <a:p>
            <a:pPr marL="644525" lvl="1"/>
            <a:r>
              <a:rPr lang="en-US" sz="1800" dirty="0">
                <a:sym typeface="+mn-ea"/>
              </a:rPr>
              <a:t>Using Long Short Term Memory Networks (LSTM)</a:t>
            </a:r>
            <a:endParaRPr lang="en-US" sz="1800" dirty="0"/>
          </a:p>
          <a:p>
            <a:pPr marL="644525" lvl="1">
              <a:buNone/>
            </a:pPr>
            <a:endParaRPr lang="en-US" sz="1800" dirty="0"/>
          </a:p>
          <a:p>
            <a:pPr marL="285750" indent="-285750">
              <a:buFont typeface="Arial" panose="020B0604020202020204" pitchFamily="34" charset="0"/>
              <a:buChar char="•"/>
            </a:pPr>
            <a:r>
              <a:rPr lang="en-US" sz="1800" dirty="0">
                <a:sym typeface="+mn-ea"/>
              </a:rPr>
              <a:t>Evaluation of a Language model</a:t>
            </a:r>
            <a:endParaRPr lang="en-US" sz="1800" dirty="0"/>
          </a:p>
          <a:p>
            <a:pPr marL="644525" lvl="1"/>
            <a:r>
              <a:rPr lang="en-US" sz="1800" dirty="0">
                <a:sym typeface="+mn-ea"/>
              </a:rPr>
              <a:t>Perplexity is used to evaluate Language models. It is a measurement of how well a probability model predicts test data.</a:t>
            </a:r>
            <a:endParaRPr lang="en-US" sz="1800" dirty="0"/>
          </a:p>
          <a:p>
            <a:pPr marL="644525" lvl="1"/>
            <a:r>
              <a:rPr lang="en-US" sz="1800" dirty="0">
                <a:sym typeface="+mn-ea"/>
              </a:rPr>
              <a:t>Like the word ‘perplexed’, which means puzzled or confused, we measure how confused our model is, low perplexity means coherent/well-made sentences are generated by the model, whereas, high perplexity denotes incoherent and jumbled sentences. Therefore, low perplexity is good and high perplexity is bad.</a:t>
            </a:r>
            <a:endParaRPr lang="en-US" sz="1800" dirty="0"/>
          </a:p>
          <a:p>
            <a:pPr>
              <a:buNone/>
            </a:pPr>
            <a:endParaRPr lang="en-US" sz="18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Title 3"/>
          <p:cNvSpPr>
            <a:spLocks noGrp="1" noChangeArrowheads="1"/>
          </p:cNvSpPr>
          <p:nvPr>
            <p:ph type="ctrTitle"/>
          </p:nvPr>
        </p:nvSpPr>
        <p:spPr>
          <a:xfrm>
            <a:off x="806450" y="1265555"/>
            <a:ext cx="10942955" cy="2353945"/>
          </a:xfrm>
        </p:spPr>
        <p:txBody>
          <a:bodyPr/>
          <a:p>
            <a:pPr algn="ctr">
              <a:lnSpc>
                <a:spcPct val="90000"/>
              </a:lnSpc>
            </a:pPr>
            <a:r>
              <a:rPr lang="en-IN" altLang="en-US" sz="5000" b="1">
                <a:solidFill>
                  <a:srgbClr val="FF0000"/>
                </a:solidFill>
              </a:rPr>
              <a:t>THANK YOU FOR YOUR</a:t>
            </a:r>
            <a:br>
              <a:rPr lang="en-IN" altLang="en-US" sz="5000" b="1">
                <a:solidFill>
                  <a:srgbClr val="FF0000"/>
                </a:solidFill>
              </a:rPr>
            </a:br>
            <a:r>
              <a:rPr lang="en-IN" altLang="en-US" sz="5000" b="1">
                <a:solidFill>
                  <a:srgbClr val="FF0000"/>
                </a:solidFill>
              </a:rPr>
              <a:t>ATTENTATION</a:t>
            </a:r>
            <a:endParaRPr lang="en-IN" altLang="en-US" sz="5000" b="1">
              <a:solidFill>
                <a:srgbClr val="FF0000"/>
              </a:solidFill>
            </a:endParaRPr>
          </a:p>
        </p:txBody>
      </p:sp>
    </p:spTree>
  </p:cSld>
  <p:clrMapOvr>
    <a:masterClrMapping/>
  </p:clrMapOvr>
</p:sld>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6DEA2B996A095145A431990D8746F65D" ma:contentTypeVersion="12" ma:contentTypeDescription="Create a new document." ma:contentTypeScope="" ma:versionID="b52efeacc52cdb0921dd3ecf044e49d6">
  <xsd:schema xmlns:xsd="http://www.w3.org/2001/XMLSchema" xmlns:xs="http://www.w3.org/2001/XMLSchema" xmlns:p="http://schemas.microsoft.com/office/2006/metadata/properties" xmlns:ns2="0ae31940-ca4a-45c5-b162-138273e95632" xmlns:ns3="931ab5c8-92b0-45e1-8bc3-523e2cbedd9f" targetNamespace="http://schemas.microsoft.com/office/2006/metadata/properties" ma:root="true" ma:fieldsID="f46cc9a8ff8ed0d34fdacf23a8b0da3b" ns2:_="" ns3:_="">
    <xsd:import namespace="0ae31940-ca4a-45c5-b162-138273e95632"/>
    <xsd:import namespace="931ab5c8-92b0-45e1-8bc3-523e2cbedd9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0ae31940-ca4a-45c5-b162-138273e9563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10b75c2f-733a-428e-8724-a6f3929c24d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931ab5c8-92b0-45e1-8bc3-523e2cbedd9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3981f5be-6e3e-4d6c-a653-15253177344c}" ma:internalName="TaxCatchAll" ma:showField="CatchAllData" ma:web="931ab5c8-92b0-45e1-8bc3-523e2cbedd9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0ae31940-ca4a-45c5-b162-138273e95632">
      <Terms xmlns="http://schemas.microsoft.com/office/infopath/2007/PartnerControls"/>
    </lcf76f155ced4ddcb4097134ff3c332f>
    <TaxCatchAll xmlns="931ab5c8-92b0-45e1-8bc3-523e2cbedd9f" xsi:nil="true"/>
  </documentManagement>
</p:properties>
</file>

<file path=customXml/itemProps1.xml><?xml version="1.0" encoding="utf-8"?>
<ds:datastoreItem xmlns:ds="http://schemas.openxmlformats.org/officeDocument/2006/customXml" ds:itemID="{134E915F-3358-41EC-9F79-DD923E68968A}"/>
</file>

<file path=customXml/itemProps2.xml><?xml version="1.0" encoding="utf-8"?>
<ds:datastoreItem xmlns:ds="http://schemas.openxmlformats.org/officeDocument/2006/customXml" ds:itemID="{EF6B392F-9BCD-43AE-A54B-5F214293B9DC}"/>
</file>

<file path=customXml/itemProps3.xml><?xml version="1.0" encoding="utf-8"?>
<ds:datastoreItem xmlns:ds="http://schemas.openxmlformats.org/officeDocument/2006/customXml" ds:itemID="{83C30665-7FB0-4238-AD9B-B1167A5CFA73}"/>
</file>

<file path=docProps/app.xml><?xml version="1.0" encoding="utf-8"?>
<Properties xmlns="http://schemas.openxmlformats.org/officeDocument/2006/extended-properties" xmlns:vt="http://schemas.openxmlformats.org/officeDocument/2006/docPropsVTypes">
  <TotalTime>0</TotalTime>
  <Words>10855</Words>
  <Application>WPS Presentation</Application>
  <PresentationFormat>Widescreen</PresentationFormat>
  <Paragraphs>227</Paragraphs>
  <Slides>20</Slides>
  <Notes>0</Notes>
  <HiddenSlides>0</HiddenSlides>
  <MMClips>0</MMClips>
  <ScaleCrop>false</ScaleCrop>
  <HeadingPairs>
    <vt:vector size="6" baseType="variant">
      <vt:variant>
        <vt:lpstr>已用的字体</vt:lpstr>
      </vt:variant>
      <vt:variant>
        <vt:i4>9</vt:i4>
      </vt:variant>
      <vt:variant>
        <vt:lpstr>主题</vt:lpstr>
      </vt:variant>
      <vt:variant>
        <vt:i4>1</vt:i4>
      </vt:variant>
      <vt:variant>
        <vt:lpstr>幻灯片标题</vt:lpstr>
      </vt:variant>
      <vt:variant>
        <vt:i4>20</vt:i4>
      </vt:variant>
    </vt:vector>
  </HeadingPairs>
  <TitlesOfParts>
    <vt:vector size="30" baseType="lpstr">
      <vt:lpstr>Arial</vt:lpstr>
      <vt:lpstr>SimSun</vt:lpstr>
      <vt:lpstr>Wingdings</vt:lpstr>
      <vt:lpstr>Calibri Light</vt:lpstr>
      <vt:lpstr>Calibri</vt:lpstr>
      <vt:lpstr>Microsoft YaHei</vt:lpstr>
      <vt:lpstr>Arial Unicode MS</vt:lpstr>
      <vt:lpstr>Verdana</vt:lpstr>
      <vt:lpstr>Sitka Text</vt:lpstr>
      <vt:lpstr>Blue Waves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 YOU FOR YOUR ATTENTATION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Natural Language Processing</dc:title>
  <dc:creator/>
  <cp:lastModifiedBy>Dell</cp:lastModifiedBy>
  <cp:revision>37</cp:revision>
  <dcterms:created xsi:type="dcterms:W3CDTF">2022-12-27T06:07:37Z</dcterms:created>
  <dcterms:modified xsi:type="dcterms:W3CDTF">2022-12-27T10:19:08Z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EC46B39D9D0B4551AB167197511616AB</vt:lpwstr>
  </property>
  <property fmtid="{D5CDD505-2E9C-101B-9397-08002B2CF9AE}" pid="3" name="KSOProductBuildVer">
    <vt:lpwstr>1033-11.2.0.11388</vt:lpwstr>
  </property>
  <property fmtid="{D5CDD505-2E9C-101B-9397-08002B2CF9AE}" pid="4" name="ContentTypeId">
    <vt:lpwstr>0x0101006DEA2B996A095145A431990D8746F65D</vt:lpwstr>
  </property>
</Properties>
</file>