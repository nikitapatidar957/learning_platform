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5" r:id="rId4"/>
    <p:sldId id="257" r:id="rId5"/>
    <p:sldId id="258" r:id="rId6"/>
    <p:sldId id="259" r:id="rId7"/>
    <p:sldId id="260" r:id="rId8"/>
    <p:sldId id="261" r:id="rId9"/>
    <p:sldId id="262" r:id="rId10"/>
    <p:sldId id="263" r:id="rId11"/>
    <p:sldId id="264" r:id="rId12"/>
    <p:sldId id="266" r:id="rId13"/>
    <p:sldId id="267" r:id="rId14"/>
    <p:sldId id="268" r:id="rId15"/>
    <p:sldId id="269" r:id="rId16"/>
    <p:sldId id="27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8" Type="http://schemas.openxmlformats.org/officeDocument/2006/relationships/presProps" Target="presProps.xml"/><Relationship Id="rId13" Type="http://schemas.openxmlformats.org/officeDocument/2006/relationships/slide" Target="slides/slide11.xml"/><Relationship Id="rId3" Type="http://schemas.openxmlformats.org/officeDocument/2006/relationships/slide" Target="slides/slide1.xml"/><Relationship Id="rId21" Type="http://schemas.openxmlformats.org/officeDocument/2006/relationships/customXml" Target="../customXml/item1.xml"/><Relationship Id="rId7" Type="http://schemas.openxmlformats.org/officeDocument/2006/relationships/slide" Target="slides/slide5.xml"/><Relationship Id="rId17" Type="http://schemas.openxmlformats.org/officeDocument/2006/relationships/slide" Target="slides/slide15.xml"/><Relationship Id="rId12" Type="http://schemas.openxmlformats.org/officeDocument/2006/relationships/slide" Target="slides/slide10.xml"/><Relationship Id="rId20" Type="http://schemas.openxmlformats.org/officeDocument/2006/relationships/tableStyles" Target="tableStyles.xml"/><Relationship Id="rId2" Type="http://schemas.openxmlformats.org/officeDocument/2006/relationships/theme" Target="theme/theme1.xml"/><Relationship Id="rId16" Type="http://schemas.openxmlformats.org/officeDocument/2006/relationships/slide" Target="slides/slide14.xml"/><Relationship Id="rId6" Type="http://schemas.openxmlformats.org/officeDocument/2006/relationships/slide" Target="slides/slide4.xml"/><Relationship Id="rId11" Type="http://schemas.openxmlformats.org/officeDocument/2006/relationships/slide" Target="slides/slide9.xml"/><Relationship Id="rId1" Type="http://schemas.openxmlformats.org/officeDocument/2006/relationships/slideMaster" Target="slideMasters/slide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3.xml"/><Relationship Id="rId19" Type="http://schemas.openxmlformats.org/officeDocument/2006/relationships/viewProps" Target="viewProps.xml"/><Relationship Id="rId10" Type="http://schemas.openxmlformats.org/officeDocument/2006/relationships/slide" Target="slides/slide8.xml"/><Relationship Id="rId9" Type="http://schemas.openxmlformats.org/officeDocument/2006/relationships/slide" Target="slides/slide7.xml"/><Relationship Id="rId4" Type="http://schemas.openxmlformats.org/officeDocument/2006/relationships/slide" Target="slides/slide2.xml"/><Relationship Id="rId14" Type="http://schemas.openxmlformats.org/officeDocument/2006/relationships/slide" Target="slides/slide12.xml"/><Relationship Id="rId22"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de-DE" sz="5000" b="1" dirty="0">
                <a:solidFill>
                  <a:srgbClr val="FF0000"/>
                </a:solidFill>
                <a:sym typeface="+mn-ea"/>
              </a:rPr>
              <a:t>Hypothesis Testing</a:t>
            </a:r>
            <a:endParaRPr lang="de-DE" sz="5000" b="1" dirty="0">
              <a:solidFill>
                <a:srgbClr val="FF000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What is Hypothesis</a:t>
            </a:r>
            <a:endParaRPr lang="en-US"/>
          </a:p>
        </p:txBody>
      </p:sp>
      <p:sp>
        <p:nvSpPr>
          <p:cNvPr id="3" name="Content Placeholder 2"/>
          <p:cNvSpPr>
            <a:spLocks noGrp="1"/>
          </p:cNvSpPr>
          <p:nvPr>
            <p:ph idx="1"/>
          </p:nvPr>
        </p:nvSpPr>
        <p:spPr/>
        <p:txBody>
          <a:bodyPr/>
          <a:p>
            <a:r>
              <a:rPr lang="en-US" sz="1800" dirty="0">
                <a:latin typeface="Arial" panose="020B0604020202020204" pitchFamily="34" charset="0"/>
                <a:cs typeface="Arial" panose="020B0604020202020204" pitchFamily="34" charset="0"/>
                <a:sym typeface="+mn-ea"/>
              </a:rPr>
              <a:t>Hypothesis is a propositional statement to assume somethings or certain occurrences without the supporting empirical evidence yet. </a:t>
            </a:r>
            <a:endParaRPr lang="en-US" sz="1800" dirty="0">
              <a:latin typeface="Arial" panose="020B0604020202020204" pitchFamily="34" charset="0"/>
              <a:cs typeface="Arial" panose="020B0604020202020204" pitchFamily="34" charset="0"/>
              <a:sym typeface="+mn-ea"/>
            </a:endParaRPr>
          </a:p>
          <a:p>
            <a:endParaRPr lang="en-US" sz="1800" dirty="0">
              <a:latin typeface="Arial" panose="020B0604020202020204" pitchFamily="34" charset="0"/>
              <a:cs typeface="Arial" panose="020B0604020202020204" pitchFamily="34" charset="0"/>
            </a:endParaRPr>
          </a:p>
          <a:p>
            <a:pPr marL="0" indent="0">
              <a:buNone/>
            </a:pPr>
            <a:r>
              <a:rPr lang="en-US" sz="1800" b="1" dirty="0">
                <a:latin typeface="Arial" panose="020B0604020202020204" pitchFamily="34" charset="0"/>
                <a:cs typeface="Arial" panose="020B0604020202020204" pitchFamily="34" charset="0"/>
                <a:sym typeface="+mn-ea"/>
              </a:rPr>
              <a:t>Example:</a:t>
            </a:r>
            <a:endParaRPr lang="en-US" sz="1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Bankers assumed high income earners are more profitable than low-income earners.</a:t>
            </a:r>
            <a:endParaRPr lang="en-US" sz="1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No changes in patient health after taking medicine</a:t>
            </a:r>
            <a:endParaRPr lang="en-US" sz="1800"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sz="1800" dirty="0">
              <a:solidFill>
                <a:srgbClr val="92D050"/>
              </a:solidFill>
              <a:latin typeface="Arial" panose="020B0604020202020204" pitchFamily="34" charset="0"/>
              <a:cs typeface="Arial" panose="020B0604020202020204" pitchFamily="34" charset="0"/>
            </a:endParaRPr>
          </a:p>
          <a:p>
            <a:pPr marL="0" indent="0">
              <a:buNone/>
            </a:pPr>
            <a:r>
              <a:rPr lang="en-US" altLang="en-US" sz="1800" b="1" dirty="0">
                <a:solidFill>
                  <a:srgbClr val="FF0000"/>
                </a:solidFill>
                <a:latin typeface="Arial" panose="020B0604020202020204" pitchFamily="34" charset="0"/>
                <a:cs typeface="Arial" panose="020B0604020202020204" pitchFamily="34" charset="0"/>
                <a:sym typeface="+mn-ea"/>
              </a:rPr>
              <a:t>Introduction of basic terms</a:t>
            </a:r>
            <a:r>
              <a:rPr lang="en-US" altLang="en-US" sz="1800" dirty="0">
                <a:solidFill>
                  <a:srgbClr val="00B050"/>
                </a:solidFill>
                <a:latin typeface="Arial" panose="020B0604020202020204" pitchFamily="34" charset="0"/>
                <a:cs typeface="Arial" panose="020B0604020202020204" pitchFamily="34" charset="0"/>
                <a:sym typeface="+mn-ea"/>
              </a:rPr>
              <a:t> </a:t>
            </a:r>
            <a:endParaRPr lang="en-US" altLang="en-US" sz="1800" dirty="0">
              <a:solidFill>
                <a:srgbClr val="92D050"/>
              </a:solidFill>
              <a:latin typeface="Arial" panose="020B0604020202020204" pitchFamily="34" charset="0"/>
              <a:cs typeface="Arial" panose="020B0604020202020204" pitchFamily="34" charset="0"/>
            </a:endParaRPr>
          </a:p>
          <a:p>
            <a:r>
              <a:rPr lang="en-US" altLang="en-US" sz="1800" b="1" dirty="0">
                <a:latin typeface="Arial" panose="020B0604020202020204" pitchFamily="34" charset="0"/>
                <a:cs typeface="Arial" panose="020B0604020202020204" pitchFamily="34" charset="0"/>
                <a:sym typeface="+mn-ea"/>
              </a:rPr>
              <a:t>Population</a:t>
            </a:r>
            <a:r>
              <a:rPr lang="en-US" altLang="en-US" sz="1800" dirty="0">
                <a:latin typeface="Arial" panose="020B0604020202020204" pitchFamily="34" charset="0"/>
                <a:cs typeface="Arial" panose="020B0604020202020204" pitchFamily="34" charset="0"/>
                <a:sym typeface="+mn-ea"/>
              </a:rPr>
              <a:t> </a:t>
            </a:r>
            <a:r>
              <a:rPr lang="en-US" altLang="en-US" sz="1800" dirty="0">
                <a:latin typeface="Arial" panose="020B0604020202020204" pitchFamily="34" charset="0"/>
                <a:cs typeface="Arial" panose="020B0604020202020204" pitchFamily="34" charset="0"/>
                <a:sym typeface="Symbol" panose="05050102010706020507" pitchFamily="18" charset="2"/>
              </a:rPr>
              <a:t>: The group of individuals under consideration.</a:t>
            </a:r>
            <a:endParaRPr lang="en-US" altLang="en-US" sz="1800" dirty="0">
              <a:latin typeface="Arial" panose="020B0604020202020204" pitchFamily="34" charset="0"/>
              <a:cs typeface="Arial" panose="020B0604020202020204" pitchFamily="34" charset="0"/>
            </a:endParaRPr>
          </a:p>
          <a:p>
            <a:r>
              <a:rPr lang="en-US" altLang="en-US" sz="1800" b="1" dirty="0">
                <a:latin typeface="Arial" panose="020B0604020202020204" pitchFamily="34" charset="0"/>
                <a:cs typeface="Arial" panose="020B0604020202020204" pitchFamily="34" charset="0"/>
                <a:sym typeface="+mn-ea"/>
              </a:rPr>
              <a:t>Sample</a:t>
            </a:r>
            <a:r>
              <a:rPr lang="en-US" altLang="en-US" sz="1800" dirty="0">
                <a:latin typeface="Arial" panose="020B0604020202020204" pitchFamily="34" charset="0"/>
                <a:cs typeface="Arial" panose="020B0604020202020204" pitchFamily="34" charset="0"/>
                <a:sym typeface="+mn-ea"/>
              </a:rPr>
              <a:t> </a:t>
            </a:r>
            <a:r>
              <a:rPr lang="en-US" altLang="en-US" sz="1800" dirty="0">
                <a:latin typeface="Arial" panose="020B0604020202020204" pitchFamily="34" charset="0"/>
                <a:cs typeface="Arial" panose="020B0604020202020204" pitchFamily="34" charset="0"/>
                <a:sym typeface="Symbol" panose="05050102010706020507" pitchFamily="18" charset="2"/>
              </a:rPr>
              <a:t>: A finite subset of population.</a:t>
            </a:r>
            <a:endParaRPr lang="en-US" altLang="en-US" sz="1800" dirty="0">
              <a:latin typeface="Arial" panose="020B0604020202020204" pitchFamily="34" charset="0"/>
              <a:cs typeface="Arial" panose="020B0604020202020204" pitchFamily="34" charset="0"/>
            </a:endParaRPr>
          </a:p>
          <a:p>
            <a:r>
              <a:rPr lang="en-US" altLang="en-US" sz="1800" b="1" dirty="0">
                <a:latin typeface="Arial" panose="020B0604020202020204" pitchFamily="34" charset="0"/>
                <a:cs typeface="Arial" panose="020B0604020202020204" pitchFamily="34" charset="0"/>
                <a:sym typeface="+mn-ea"/>
              </a:rPr>
              <a:t>Population Parameter </a:t>
            </a:r>
            <a:r>
              <a:rPr lang="en-US" altLang="en-US" sz="1800" dirty="0">
                <a:latin typeface="Arial" panose="020B0604020202020204" pitchFamily="34" charset="0"/>
                <a:cs typeface="Arial" panose="020B0604020202020204" pitchFamily="34" charset="0"/>
                <a:sym typeface="Symbol" panose="05050102010706020507" pitchFamily="18" charset="2"/>
              </a:rPr>
              <a:t>: A </a:t>
            </a:r>
            <a:r>
              <a:rPr lang="en-US" altLang="en-US" sz="1800" dirty="0">
                <a:latin typeface="Arial" panose="020B0604020202020204" pitchFamily="34" charset="0"/>
                <a:cs typeface="Arial" panose="020B0604020202020204" pitchFamily="34" charset="0"/>
                <a:sym typeface="+mn-ea"/>
              </a:rPr>
              <a:t>characteristic of population, e.g., population mean µ</a:t>
            </a:r>
            <a:endParaRPr lang="en-US" altLang="en-US" sz="1800" dirty="0">
              <a:latin typeface="Arial" panose="020B0604020202020204" pitchFamily="34" charset="0"/>
              <a:cs typeface="Arial" panose="020B0604020202020204" pitchFamily="34" charset="0"/>
            </a:endParaRPr>
          </a:p>
          <a:p>
            <a:r>
              <a:rPr lang="en-US" altLang="en-US" sz="1800" b="1" dirty="0">
                <a:latin typeface="Arial" panose="020B0604020202020204" pitchFamily="34" charset="0"/>
                <a:cs typeface="Arial" panose="020B0604020202020204" pitchFamily="34" charset="0"/>
                <a:sym typeface="+mn-ea"/>
              </a:rPr>
              <a:t>Sample Statistic </a:t>
            </a:r>
            <a:r>
              <a:rPr lang="en-US" altLang="en-US" sz="1800" b="1" dirty="0">
                <a:latin typeface="Arial" panose="020B0604020202020204" pitchFamily="34" charset="0"/>
                <a:cs typeface="Arial" panose="020B0604020202020204" pitchFamily="34" charset="0"/>
                <a:sym typeface="Symbol" panose="05050102010706020507" pitchFamily="18" charset="2"/>
              </a:rPr>
              <a:t>:</a:t>
            </a:r>
            <a:r>
              <a:rPr lang="en-US" altLang="en-US" sz="1800" dirty="0">
                <a:latin typeface="Arial" panose="020B0604020202020204" pitchFamily="34" charset="0"/>
                <a:cs typeface="Arial" panose="020B0604020202020204" pitchFamily="34" charset="0"/>
                <a:sym typeface="+mn-ea"/>
              </a:rPr>
              <a:t> A function of sample observations which is calculated from the data in the sample, e.g., sample mean ()</a:t>
            </a:r>
            <a:endParaRPr lang="en-US" altLang="en-US" sz="1800" i="1"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Null and Alternative hypothesis</a:t>
            </a:r>
            <a:endParaRPr lang="en-US"/>
          </a:p>
        </p:txBody>
      </p:sp>
      <p:sp>
        <p:nvSpPr>
          <p:cNvPr id="3" name="Content Placeholder 2"/>
          <p:cNvSpPr>
            <a:spLocks noGrp="1"/>
          </p:cNvSpPr>
          <p:nvPr>
            <p:ph idx="1"/>
          </p:nvPr>
        </p:nvSpPr>
        <p:spPr/>
        <p:txBody>
          <a:bodyPr/>
          <a:p>
            <a:pPr marL="0" indent="0">
              <a:buNone/>
            </a:pPr>
            <a:r>
              <a:rPr lang="en-US" sz="1800" b="1" dirty="0">
                <a:solidFill>
                  <a:srgbClr val="FF0000"/>
                </a:solidFill>
                <a:latin typeface="Arial" panose="020B0604020202020204" pitchFamily="34" charset="0"/>
                <a:cs typeface="Arial" panose="020B0604020202020204" pitchFamily="34" charset="0"/>
                <a:sym typeface="+mn-ea"/>
              </a:rPr>
              <a:t>Null Hypothesis:</a:t>
            </a:r>
            <a:endParaRPr lang="en-US" sz="1800" dirty="0">
              <a:solidFill>
                <a:srgbClr val="00B050"/>
              </a:solidFill>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Hypothesis to be tested which is usually a hypothesis of no difference, is called null hypothesis and is usually denoted by H0.</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pPr marL="0" indent="0">
              <a:buNone/>
            </a:pPr>
            <a:r>
              <a:rPr lang="en-US" sz="1800" b="1" dirty="0">
                <a:solidFill>
                  <a:srgbClr val="FF0000"/>
                </a:solidFill>
                <a:latin typeface="Arial" panose="020B0604020202020204" pitchFamily="34" charset="0"/>
                <a:cs typeface="Arial" panose="020B0604020202020204" pitchFamily="34" charset="0"/>
                <a:sym typeface="+mn-ea"/>
              </a:rPr>
              <a:t>Alternative Hypothesis:</a:t>
            </a:r>
            <a:r>
              <a:rPr lang="en-US" sz="1800" dirty="0">
                <a:solidFill>
                  <a:srgbClr val="92D050"/>
                </a:solidFill>
                <a:latin typeface="Arial" panose="020B0604020202020204" pitchFamily="34" charset="0"/>
                <a:cs typeface="Arial" panose="020B0604020202020204" pitchFamily="34" charset="0"/>
                <a:sym typeface="+mn-ea"/>
              </a:rPr>
              <a:t> </a:t>
            </a:r>
            <a:endParaRPr lang="en-US" sz="1800" dirty="0">
              <a:solidFill>
                <a:srgbClr val="92D050"/>
              </a:solidFill>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sym typeface="+mn-ea"/>
              </a:rPr>
              <a:t>Any hypothesis which is complementary to the null hypothesis is called an alternative hypothesis, usually denoted by H1.</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pPr marL="0" indent="0">
              <a:buNone/>
            </a:pPr>
            <a:r>
              <a:rPr lang="en-US" sz="1800" b="1" dirty="0">
                <a:solidFill>
                  <a:srgbClr val="FF0000"/>
                </a:solidFill>
                <a:latin typeface="Arial" panose="020B0604020202020204" pitchFamily="34" charset="0"/>
                <a:cs typeface="Arial" panose="020B0604020202020204" pitchFamily="34" charset="0"/>
                <a:sym typeface="+mn-ea"/>
              </a:rPr>
              <a:t>Example:</a:t>
            </a:r>
            <a:r>
              <a:rPr lang="en-US" sz="1800" dirty="0">
                <a:latin typeface="Arial" panose="020B0604020202020204" pitchFamily="34" charset="0"/>
                <a:cs typeface="Arial" panose="020B0604020202020204" pitchFamily="34" charset="0"/>
                <a:sym typeface="+mn-ea"/>
              </a:rPr>
              <a:t> </a:t>
            </a:r>
            <a:endParaRPr lang="en-US" sz="1800" dirty="0">
              <a:latin typeface="Arial" panose="020B0604020202020204" pitchFamily="34" charset="0"/>
              <a:cs typeface="Arial" panose="020B0604020202020204" pitchFamily="34" charset="0"/>
              <a:sym typeface="+mn-ea"/>
            </a:endParaRPr>
          </a:p>
          <a:p>
            <a:r>
              <a:rPr lang="en-IN" altLang="en-US" sz="1800" dirty="0">
                <a:latin typeface="Arial" panose="020B0604020202020204" pitchFamily="34" charset="0"/>
                <a:cs typeface="Arial" panose="020B0604020202020204" pitchFamily="34" charset="0"/>
                <a:sym typeface="+mn-ea"/>
              </a:rPr>
              <a:t>I</a:t>
            </a:r>
            <a:r>
              <a:rPr lang="en-US" sz="1800" dirty="0">
                <a:latin typeface="Arial" panose="020B0604020202020204" pitchFamily="34" charset="0"/>
                <a:cs typeface="Arial" panose="020B0604020202020204" pitchFamily="34" charset="0"/>
                <a:sym typeface="+mn-ea"/>
              </a:rPr>
              <a:t>f we want to test the null hypothesis that the population has a specific mean 1000. </a:t>
            </a:r>
            <a:r>
              <a:rPr lang="en-IN" altLang="en-US" sz="1800" dirty="0">
                <a:latin typeface="Arial" panose="020B0604020202020204" pitchFamily="34" charset="0"/>
                <a:cs typeface="Arial" panose="020B0604020202020204" pitchFamily="34" charset="0"/>
                <a:sym typeface="+mn-ea"/>
              </a:rPr>
              <a:t>T</a:t>
            </a:r>
            <a:r>
              <a:rPr lang="en-US" sz="1800" dirty="0">
                <a:latin typeface="Arial" panose="020B0604020202020204" pitchFamily="34" charset="0"/>
                <a:cs typeface="Arial" panose="020B0604020202020204" pitchFamily="34" charset="0"/>
                <a:sym typeface="+mn-ea"/>
              </a:rPr>
              <a:t>hen the alternative hypothesis could be population mean ≠ µ0</a:t>
            </a:r>
            <a:endParaRPr lang="en-US" sz="1800" dirty="0">
              <a:latin typeface="Arial" panose="020B0604020202020204" pitchFamily="34" charset="0"/>
              <a:cs typeface="Arial" panose="020B0604020202020204" pitchFamily="34" charset="0"/>
            </a:endParaRPr>
          </a:p>
          <a:p>
            <a:pPr marL="0" indent="0">
              <a:buNone/>
            </a:pPr>
            <a:r>
              <a:rPr lang="en-IN" altLang="en-US" sz="1800"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Null hypothesis,  H0 : µ=  1000</a:t>
            </a:r>
            <a:endParaRPr lang="en-US" sz="1800" dirty="0">
              <a:latin typeface="Arial" panose="020B0604020202020204" pitchFamily="34" charset="0"/>
              <a:cs typeface="Arial" panose="020B0604020202020204" pitchFamily="34" charset="0"/>
            </a:endParaRPr>
          </a:p>
          <a:p>
            <a:pPr marL="0" indent="0">
              <a:buNone/>
            </a:pPr>
            <a:r>
              <a:rPr lang="en-IN" altLang="en-US" sz="1800"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Alternative hypothesis,  H1: µ≠  1000</a:t>
            </a:r>
            <a:endParaRPr lang="en-US" sz="1800" u="sng"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Errors in Hypothesis testing</a:t>
            </a:r>
            <a:endParaRPr lang="en-US"/>
          </a:p>
        </p:txBody>
      </p:sp>
      <p:pic>
        <p:nvPicPr>
          <p:cNvPr id="5" name="Picture 5" descr="08t01"/>
          <p:cNvPicPr>
            <a:picLocks noChangeAspect="1" noChangeArrowheads="1"/>
          </p:cNvPicPr>
          <p:nvPr>
            <p:ph idx="1"/>
          </p:nvPr>
        </p:nvPicPr>
        <p:blipFill rotWithShape="1">
          <a:blip r:embed="rId1">
            <a:extLst>
              <a:ext uri="{28A0092B-C50C-407E-A947-70E740481C1C}">
                <a14:useLocalDpi xmlns:a14="http://schemas.microsoft.com/office/drawing/2010/main" val="0"/>
              </a:ext>
            </a:extLst>
          </a:blip>
          <a:srcRect l="29575" t="25414" b="9947"/>
          <a:stretch>
            <a:fillRect/>
          </a:stretch>
        </p:blipFill>
        <p:spPr bwMode="auto">
          <a:xfrm>
            <a:off x="1082040" y="1485265"/>
            <a:ext cx="8964930" cy="257302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5"/>
          <p:cNvSpPr txBox="1"/>
          <p:nvPr/>
        </p:nvSpPr>
        <p:spPr>
          <a:xfrm>
            <a:off x="235585" y="4191000"/>
            <a:ext cx="11924030" cy="645160"/>
          </a:xfrm>
          <a:prstGeom prst="rect">
            <a:avLst/>
          </a:prstGeom>
          <a:noFill/>
        </p:spPr>
        <p:txBody>
          <a:bodyPr wrap="none" rtlCol="0" anchor="t">
            <a:spAutoFit/>
          </a:bodyPr>
          <a:p>
            <a:endParaRPr lang="en-US" dirty="0">
              <a:sym typeface="+mn-ea"/>
            </a:endParaRPr>
          </a:p>
          <a:p>
            <a:pPr marL="285750" indent="-285750">
              <a:buFont typeface="Arial" panose="020B0604020202020204" pitchFamily="34" charset="0"/>
              <a:buChar char="•"/>
            </a:pPr>
            <a:r>
              <a:rPr lang="en-US" dirty="0">
                <a:sym typeface="+mn-ea"/>
              </a:rPr>
              <a:t>In practice, type I error is amount to reject a lot when it is good and type II error is accepting the lot when it is bad.</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P-value</a:t>
            </a:r>
            <a:endParaRPr lang="en-US"/>
          </a:p>
        </p:txBody>
      </p:sp>
      <p:sp>
        <p:nvSpPr>
          <p:cNvPr id="3" name="Content Placeholder 2"/>
          <p:cNvSpPr>
            <a:spLocks noGrp="1"/>
          </p:cNvSpPr>
          <p:nvPr>
            <p:ph idx="1"/>
          </p:nvPr>
        </p:nvSpPr>
        <p:spPr/>
        <p:txBody>
          <a:bodyPr/>
          <a:p>
            <a:r>
              <a:rPr lang="en-US" sz="1800" dirty="0">
                <a:latin typeface="Arial" panose="020B0604020202020204" pitchFamily="34" charset="0"/>
                <a:cs typeface="Arial" panose="020B0604020202020204" pitchFamily="34" charset="0"/>
                <a:sym typeface="+mn-ea"/>
              </a:rPr>
              <a:t>When we perform a hypothesis test in statistics, a </a:t>
            </a:r>
            <a:r>
              <a:rPr lang="en-US" sz="1800" i="1" dirty="0">
                <a:latin typeface="Arial" panose="020B0604020202020204" pitchFamily="34" charset="0"/>
                <a:cs typeface="Arial" panose="020B0604020202020204" pitchFamily="34" charset="0"/>
                <a:sym typeface="+mn-ea"/>
              </a:rPr>
              <a:t>p</a:t>
            </a:r>
            <a:r>
              <a:rPr lang="en-US" sz="1800" dirty="0">
                <a:latin typeface="Arial" panose="020B0604020202020204" pitchFamily="34" charset="0"/>
                <a:cs typeface="Arial" panose="020B0604020202020204" pitchFamily="34" charset="0"/>
                <a:sym typeface="+mn-ea"/>
              </a:rPr>
              <a:t>-value helps us to determine the significance of our results. All hypothesis tests ultimately use a </a:t>
            </a:r>
            <a:r>
              <a:rPr lang="en-US" sz="1800" i="1" dirty="0">
                <a:latin typeface="Arial" panose="020B0604020202020204" pitchFamily="34" charset="0"/>
                <a:cs typeface="Arial" panose="020B0604020202020204" pitchFamily="34" charset="0"/>
                <a:sym typeface="+mn-ea"/>
              </a:rPr>
              <a:t>p</a:t>
            </a:r>
            <a:r>
              <a:rPr lang="en-US" sz="1800" dirty="0">
                <a:latin typeface="Arial" panose="020B0604020202020204" pitchFamily="34" charset="0"/>
                <a:cs typeface="Arial" panose="020B0604020202020204" pitchFamily="34" charset="0"/>
                <a:sym typeface="+mn-ea"/>
              </a:rPr>
              <a:t>-value to weigh the strength of the evidence (what the data are telling you about the population). The </a:t>
            </a:r>
            <a:r>
              <a:rPr lang="en-US" sz="1800" i="1" dirty="0">
                <a:latin typeface="Arial" panose="020B0604020202020204" pitchFamily="34" charset="0"/>
                <a:cs typeface="Arial" panose="020B0604020202020204" pitchFamily="34" charset="0"/>
                <a:sym typeface="+mn-ea"/>
              </a:rPr>
              <a:t>p</a:t>
            </a:r>
            <a:r>
              <a:rPr lang="en-US" sz="1800" dirty="0">
                <a:latin typeface="Arial" panose="020B0604020202020204" pitchFamily="34" charset="0"/>
                <a:cs typeface="Arial" panose="020B0604020202020204" pitchFamily="34" charset="0"/>
                <a:sym typeface="+mn-ea"/>
              </a:rPr>
              <a:t>-value is a number between 0 and 1 and interpreted in the following way:</a:t>
            </a:r>
            <a:endParaRPr lang="en-US" sz="1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A small </a:t>
            </a:r>
            <a:r>
              <a:rPr lang="en-US" sz="1800" i="1" dirty="0">
                <a:latin typeface="Arial" panose="020B0604020202020204" pitchFamily="34" charset="0"/>
                <a:cs typeface="Arial" panose="020B0604020202020204" pitchFamily="34" charset="0"/>
                <a:sym typeface="+mn-ea"/>
              </a:rPr>
              <a:t>p</a:t>
            </a:r>
            <a:r>
              <a:rPr lang="en-US" sz="1800" dirty="0">
                <a:latin typeface="Arial" panose="020B0604020202020204" pitchFamily="34" charset="0"/>
                <a:cs typeface="Arial" panose="020B0604020202020204" pitchFamily="34" charset="0"/>
                <a:sym typeface="+mn-ea"/>
              </a:rPr>
              <a:t>-value (typically ≤ 0.05) indicates strong evidence against the null hypothesis, so you reject the null hypothesis.</a:t>
            </a:r>
            <a:endParaRPr lang="en-US" sz="1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A large </a:t>
            </a:r>
            <a:r>
              <a:rPr lang="en-US" sz="1800" i="1" dirty="0">
                <a:latin typeface="Arial" panose="020B0604020202020204" pitchFamily="34" charset="0"/>
                <a:cs typeface="Arial" panose="020B0604020202020204" pitchFamily="34" charset="0"/>
                <a:sym typeface="+mn-ea"/>
              </a:rPr>
              <a:t>p</a:t>
            </a:r>
            <a:r>
              <a:rPr lang="en-US" sz="1800" dirty="0">
                <a:latin typeface="Arial" panose="020B0604020202020204" pitchFamily="34" charset="0"/>
                <a:cs typeface="Arial" panose="020B0604020202020204" pitchFamily="34" charset="0"/>
                <a:sym typeface="+mn-ea"/>
              </a:rPr>
              <a:t>-value (&gt; 0.05) indicates weak evidence against the null hypothesis, so you fail to reject the null hypothesis.</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pic>
        <p:nvPicPr>
          <p:cNvPr id="5" name="Picture 2" descr="https://andyjconnelly.files.wordpress.com/2017/02/signficant_or_not2.png"/>
          <p:cNvPicPr>
            <a:picLocks noChangeAspect="1" noChangeArrowheads="1"/>
          </p:cNvPicPr>
          <p:nvPr/>
        </p:nvPicPr>
        <p:blipFill rotWithShape="1">
          <a:blip r:embed="rId1">
            <a:extLst>
              <a:ext uri="{28A0092B-C50C-407E-A947-70E740481C1C}">
                <a14:useLocalDpi xmlns:a14="http://schemas.microsoft.com/office/drawing/2010/main" val="0"/>
              </a:ext>
            </a:extLst>
          </a:blip>
          <a:srcRect t="52680"/>
          <a:stretch>
            <a:fillRect/>
          </a:stretch>
        </p:blipFill>
        <p:spPr bwMode="auto">
          <a:xfrm>
            <a:off x="1422971" y="3774306"/>
            <a:ext cx="8573021" cy="23536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Confidence level and Confidence Interval </a:t>
            </a:r>
            <a:endParaRPr lang="en-US"/>
          </a:p>
        </p:txBody>
      </p:sp>
      <p:sp>
        <p:nvSpPr>
          <p:cNvPr id="3" name="Content Placeholder 2"/>
          <p:cNvSpPr>
            <a:spLocks noGrp="1"/>
          </p:cNvSpPr>
          <p:nvPr>
            <p:ph idx="1"/>
          </p:nvPr>
        </p:nvSpPr>
        <p:spPr>
          <a:xfrm>
            <a:off x="609600" y="1174750"/>
            <a:ext cx="10972800" cy="5180965"/>
          </a:xfrm>
        </p:spPr>
        <p:txBody>
          <a:bodyPr/>
          <a:p>
            <a:r>
              <a:rPr lang="en-US" sz="1800" dirty="0">
                <a:sym typeface="+mn-ea"/>
              </a:rPr>
              <a:t>A Confidence Interval is an interval of numbers containing the most plausible values for our Population Parameter. </a:t>
            </a:r>
            <a:endParaRPr lang="en-US" sz="1800" dirty="0"/>
          </a:p>
          <a:p>
            <a:r>
              <a:rPr lang="en-US" sz="1800" dirty="0">
                <a:sym typeface="+mn-ea"/>
              </a:rPr>
              <a:t>The probability that this procedure produces an interval that contains the actual true parameter value is known as the Confidence Level and is generally chosen to be 0.90, 0.95 or 0.99. </a:t>
            </a:r>
            <a:endParaRPr lang="en-US" sz="1800" dirty="0"/>
          </a:p>
          <a:p>
            <a:r>
              <a:rPr lang="en-US" sz="1800" dirty="0">
                <a:sym typeface="+mn-ea"/>
              </a:rPr>
              <a:t>For example, if we found that the height of college boys lies between interval (4.5 to 6) then this will be our confidence interval and if we check the particular then 95% chance that a height of boy lie between this interval.</a:t>
            </a:r>
            <a:endParaRPr lang="en-US" sz="1800" dirty="0"/>
          </a:p>
          <a:p>
            <a:endParaRPr lang="en-US" sz="1800" dirty="0"/>
          </a:p>
          <a:p>
            <a:endParaRPr lang="en-US" sz="1800"/>
          </a:p>
        </p:txBody>
      </p:sp>
      <p:pic>
        <p:nvPicPr>
          <p:cNvPr id="8" name="Picture 7"/>
          <p:cNvPicPr>
            <a:picLocks noChangeAspect="1"/>
          </p:cNvPicPr>
          <p:nvPr/>
        </p:nvPicPr>
        <p:blipFill>
          <a:blip r:embed="rId1"/>
          <a:stretch>
            <a:fillRect/>
          </a:stretch>
        </p:blipFill>
        <p:spPr>
          <a:xfrm>
            <a:off x="3308896" y="3359448"/>
            <a:ext cx="4572000" cy="1143000"/>
          </a:xfrm>
          <a:prstGeom prst="rect">
            <a:avLst/>
          </a:prstGeom>
        </p:spPr>
      </p:pic>
      <p:sp>
        <p:nvSpPr>
          <p:cNvPr id="4" name="Text Box 3"/>
          <p:cNvSpPr txBox="1"/>
          <p:nvPr/>
        </p:nvSpPr>
        <p:spPr>
          <a:xfrm>
            <a:off x="1038225" y="4696460"/>
            <a:ext cx="4966970" cy="1476375"/>
          </a:xfrm>
          <a:prstGeom prst="rect">
            <a:avLst/>
          </a:prstGeom>
          <a:noFill/>
        </p:spPr>
        <p:txBody>
          <a:bodyPr wrap="square" rtlCol="0" anchor="t">
            <a:spAutoFit/>
          </a:bodyPr>
          <a:p>
            <a:r>
              <a:rPr lang="en-US" dirty="0">
                <a:latin typeface="Arial" panose="020B0604020202020204" pitchFamily="34" charset="0"/>
                <a:cs typeface="Arial" panose="020B0604020202020204" pitchFamily="34" charset="0"/>
                <a:sym typeface="+mn-ea"/>
              </a:rPr>
              <a:t>The level of confidence determines the z critical value. </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ea typeface="Verdana" panose="020B0604030504040204" pitchFamily="34" charset="0"/>
                <a:cs typeface="Arial" panose="020B0604020202020204" pitchFamily="34" charset="0"/>
                <a:sym typeface="+mn-ea"/>
              </a:rPr>
              <a:t>99%  2.58</a:t>
            </a:r>
            <a:endParaRPr lang="en-US" dirty="0">
              <a:latin typeface="Arial" panose="020B0604020202020204" pitchFamily="34" charset="0"/>
              <a:ea typeface="Verdana" panose="020B0604030504040204" pitchFamily="34" charset="0"/>
              <a:cs typeface="Arial" panose="020B0604020202020204" pitchFamily="34" charset="0"/>
            </a:endParaRPr>
          </a:p>
          <a:p>
            <a:r>
              <a:rPr lang="en-US" dirty="0">
                <a:latin typeface="Arial" panose="020B0604020202020204" pitchFamily="34" charset="0"/>
                <a:ea typeface="Verdana" panose="020B0604030504040204" pitchFamily="34" charset="0"/>
                <a:cs typeface="Arial" panose="020B0604020202020204" pitchFamily="34" charset="0"/>
                <a:sym typeface="+mn-ea"/>
              </a:rPr>
              <a:t>95%  1.96</a:t>
            </a:r>
            <a:endParaRPr lang="en-US" dirty="0">
              <a:latin typeface="Arial" panose="020B0604020202020204" pitchFamily="34" charset="0"/>
              <a:ea typeface="Verdana" panose="020B0604030504040204" pitchFamily="34" charset="0"/>
              <a:cs typeface="Arial" panose="020B0604020202020204" pitchFamily="34" charset="0"/>
            </a:endParaRPr>
          </a:p>
          <a:p>
            <a:r>
              <a:rPr lang="en-US" dirty="0">
                <a:latin typeface="Arial" panose="020B0604020202020204" pitchFamily="34" charset="0"/>
                <a:ea typeface="Verdana" panose="020B0604030504040204" pitchFamily="34" charset="0"/>
                <a:cs typeface="Arial" panose="020B0604020202020204" pitchFamily="34" charset="0"/>
                <a:sym typeface="+mn-ea"/>
              </a:rPr>
              <a:t>90%  1.645</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Example for confidence interval</a:t>
            </a:r>
            <a:endParaRPr lang="en-US"/>
          </a:p>
        </p:txBody>
      </p:sp>
      <p:sp>
        <p:nvSpPr>
          <p:cNvPr id="3" name="Content Placeholder 2"/>
          <p:cNvSpPr>
            <a:spLocks noGrp="1"/>
          </p:cNvSpPr>
          <p:nvPr>
            <p:ph idx="1"/>
          </p:nvPr>
        </p:nvSpPr>
        <p:spPr/>
        <p:txBody>
          <a:bodyPr/>
          <a:p>
            <a:r>
              <a:rPr lang="en-US" sz="1800" dirty="0">
                <a:sym typeface="+mn-ea"/>
              </a:rPr>
              <a:t>What is the average age of robbery victims in Chicago last year?</a:t>
            </a:r>
            <a:endParaRPr lang="en-US" sz="1800" dirty="0"/>
          </a:p>
          <a:p>
            <a:r>
              <a:rPr lang="en-US" sz="1800" dirty="0">
                <a:sym typeface="+mn-ea"/>
              </a:rPr>
              <a:t>Randomly sample 100 police reports of Chicago robberies last year. So, </a:t>
            </a:r>
            <a:r>
              <a:rPr lang="en-US" sz="1800" i="1" dirty="0">
                <a:highlight>
                  <a:srgbClr val="FFFF00"/>
                </a:highlight>
                <a:sym typeface="+mn-ea"/>
              </a:rPr>
              <a:t>n</a:t>
            </a:r>
            <a:r>
              <a:rPr lang="en-US" sz="1800" dirty="0">
                <a:highlight>
                  <a:srgbClr val="FFFF00"/>
                </a:highlight>
                <a:sym typeface="+mn-ea"/>
              </a:rPr>
              <a:t> = 100</a:t>
            </a:r>
            <a:r>
              <a:rPr lang="en-US" sz="1800" dirty="0">
                <a:sym typeface="+mn-ea"/>
              </a:rPr>
              <a:t>.</a:t>
            </a:r>
            <a:br>
              <a:rPr lang="en-US" sz="1800" dirty="0">
                <a:sym typeface="+mn-ea"/>
              </a:rPr>
            </a:br>
            <a:br>
              <a:rPr lang="en-US" sz="1800" dirty="0">
                <a:sym typeface="+mn-ea"/>
              </a:rPr>
            </a:br>
            <a:r>
              <a:rPr lang="en-US" sz="1800" dirty="0">
                <a:sym typeface="+mn-ea"/>
              </a:rPr>
              <a:t>Record the ages of the victims, add them all up, and divide by 100 to get the mean. Let's say the </a:t>
            </a:r>
            <a:r>
              <a:rPr lang="en-US" sz="1800" dirty="0">
                <a:highlight>
                  <a:srgbClr val="FFFF00"/>
                </a:highlight>
                <a:sym typeface="+mn-ea"/>
              </a:rPr>
              <a:t>mean age in this case is 34.25 </a:t>
            </a:r>
            <a:r>
              <a:rPr lang="en-US" sz="1800" dirty="0">
                <a:sym typeface="+mn-ea"/>
              </a:rPr>
              <a:t>years.</a:t>
            </a:r>
            <a:br>
              <a:rPr lang="en-US" sz="1800" dirty="0">
                <a:sym typeface="+mn-ea"/>
              </a:rPr>
            </a:br>
            <a:br>
              <a:rPr lang="en-US" sz="1800" dirty="0">
                <a:sym typeface="+mn-ea"/>
              </a:rPr>
            </a:br>
            <a:r>
              <a:rPr lang="en-US" sz="1800" dirty="0">
                <a:sym typeface="+mn-ea"/>
              </a:rPr>
              <a:t>Utilizing a 95% CL, which has a standard z value of 1.96, calculate the standard deviation. With a mean of 34.25 and a </a:t>
            </a:r>
            <a:r>
              <a:rPr lang="en-US" sz="1800" dirty="0">
                <a:highlight>
                  <a:srgbClr val="FFFF00"/>
                </a:highlight>
                <a:sym typeface="+mn-ea"/>
              </a:rPr>
              <a:t>standard deviation is 15. </a:t>
            </a:r>
            <a:endParaRPr lang="en-US" sz="1800" dirty="0">
              <a:highlight>
                <a:srgbClr val="FFFF00"/>
              </a:highlight>
            </a:endParaRPr>
          </a:p>
          <a:p>
            <a:r>
              <a:rPr lang="en-US" sz="1800" dirty="0">
                <a:sym typeface="+mn-ea"/>
              </a:rPr>
              <a:t>Now we can calculate CI by using above formula.</a:t>
            </a:r>
            <a:endParaRPr lang="en-US" sz="1800" dirty="0"/>
          </a:p>
          <a:p>
            <a:r>
              <a:rPr lang="en-IN" altLang="en-US" sz="1800" dirty="0">
                <a:sym typeface="+mn-ea"/>
              </a:rPr>
              <a:t>O</a:t>
            </a:r>
            <a:r>
              <a:rPr lang="en-US" sz="1800" dirty="0">
                <a:sym typeface="+mn-ea"/>
              </a:rPr>
              <a:t>ur CI is 34.25 ± 2.94, or   31.31 to 37.19.</a:t>
            </a:r>
            <a:endParaRPr lang="en-US" sz="1800" dirty="0"/>
          </a:p>
          <a:p>
            <a:r>
              <a:rPr lang="en-IN" altLang="en-US" sz="1800" dirty="0">
                <a:sym typeface="+mn-ea"/>
              </a:rPr>
              <a:t>W</a:t>
            </a:r>
            <a:r>
              <a:rPr lang="en-US" sz="1800" dirty="0">
                <a:sym typeface="+mn-ea"/>
              </a:rPr>
              <a:t>e can now say with 95% confidence, that if the true average age of all Chicago robbery victims last year was known, it would fall between 31.31 and 37.19 years of age.</a:t>
            </a:r>
            <a:endParaRPr lang="en-US" sz="1800" dirty="0"/>
          </a:p>
          <a:p>
            <a:endParaRPr lang="en-US" sz="1800" dirty="0"/>
          </a:p>
          <a:p>
            <a:endParaRPr 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t-test for single mean</a:t>
            </a:r>
            <a:endParaRPr lang="en-US"/>
          </a:p>
        </p:txBody>
      </p:sp>
      <p:sp>
        <p:nvSpPr>
          <p:cNvPr id="3" name="Content Placeholder 2"/>
          <p:cNvSpPr>
            <a:spLocks noGrp="1"/>
          </p:cNvSpPr>
          <p:nvPr>
            <p:ph idx="1"/>
          </p:nvPr>
        </p:nvSpPr>
        <p:spPr/>
        <p:txBody>
          <a:bodyPr/>
          <a:p>
            <a:r>
              <a:rPr lang="en-US" sz="1800" dirty="0">
                <a:sym typeface="+mn-ea"/>
              </a:rPr>
              <a:t>Suppose we want to test:</a:t>
            </a:r>
            <a:endParaRPr lang="en-US" sz="1800" dirty="0"/>
          </a:p>
          <a:p>
            <a:pPr marL="285750" indent="-285750">
              <a:buFont typeface="Arial" panose="020B0604020202020204" pitchFamily="34" charset="0"/>
              <a:buChar char="•"/>
            </a:pPr>
            <a:r>
              <a:rPr lang="en-IN" altLang="en-US" sz="1800" dirty="0">
                <a:sym typeface="+mn-ea"/>
              </a:rPr>
              <a:t>I</a:t>
            </a:r>
            <a:r>
              <a:rPr lang="en-US" sz="1800" dirty="0">
                <a:sym typeface="+mn-ea"/>
              </a:rPr>
              <a:t>f a random sample xi (i = 1, 2, …, n) of size n has been drawn from a normal- population with a specified mean, say µo, or</a:t>
            </a:r>
            <a:endParaRPr lang="en-US" sz="1800" dirty="0"/>
          </a:p>
          <a:p>
            <a:pPr marL="285750" indent="-285750">
              <a:buFont typeface="Arial" panose="020B0604020202020204" pitchFamily="34" charset="0"/>
              <a:buChar char="•"/>
            </a:pPr>
            <a:r>
              <a:rPr lang="en-IN" altLang="en-US" sz="1800" dirty="0">
                <a:sym typeface="+mn-ea"/>
              </a:rPr>
              <a:t>I</a:t>
            </a:r>
            <a:r>
              <a:rPr lang="en-US" sz="1800" dirty="0">
                <a:sym typeface="+mn-ea"/>
              </a:rPr>
              <a:t>f the sample mean differs significantly from the, hypothetical µo  of the population mean.</a:t>
            </a:r>
            <a:endParaRPr lang="en-US" sz="1800" dirty="0"/>
          </a:p>
          <a:p>
            <a:r>
              <a:rPr lang="en-US" sz="1800" dirty="0">
                <a:sym typeface="+mn-ea"/>
              </a:rPr>
              <a:t> Under the null hypothesis Ho :</a:t>
            </a:r>
            <a:endParaRPr lang="en-US" sz="1800" dirty="0"/>
          </a:p>
          <a:p>
            <a:pPr marL="914400" lvl="2" indent="0">
              <a:buNone/>
            </a:pPr>
            <a:r>
              <a:rPr lang="en-US" sz="1350" dirty="0">
                <a:sym typeface="+mn-ea"/>
              </a:rPr>
              <a:t>    </a:t>
            </a:r>
            <a:r>
              <a:rPr lang="en-US" sz="1800" dirty="0">
                <a:sym typeface="+mn-ea"/>
              </a:rPr>
              <a:t>(i)The sample has been drawn from the population with mean µ</a:t>
            </a:r>
            <a:r>
              <a:rPr lang="en-US" sz="1800" baseline="-25000" dirty="0">
                <a:sym typeface="+mn-ea"/>
              </a:rPr>
              <a:t>0</a:t>
            </a:r>
            <a:r>
              <a:rPr lang="en-US" sz="1800" dirty="0">
                <a:sym typeface="+mn-ea"/>
              </a:rPr>
              <a:t> </a:t>
            </a:r>
            <a:endParaRPr lang="en-US" sz="1800" dirty="0"/>
          </a:p>
          <a:p>
            <a:pPr marL="914400" lvl="2" indent="0">
              <a:buNone/>
            </a:pPr>
            <a:r>
              <a:rPr lang="en-US" sz="1800" dirty="0">
                <a:sym typeface="+mn-ea"/>
              </a:rPr>
              <a:t>Or (ii) there is no significance difference between sample mean ͞x and the population mean µ</a:t>
            </a:r>
            <a:r>
              <a:rPr lang="en-US" sz="1800" baseline="-25000" dirty="0">
                <a:sym typeface="+mn-ea"/>
              </a:rPr>
              <a:t>0</a:t>
            </a:r>
            <a:r>
              <a:rPr lang="en-US" sz="1800" dirty="0">
                <a:sym typeface="+mn-ea"/>
              </a:rPr>
              <a:t> .</a:t>
            </a:r>
            <a:endParaRPr lang="en-US" sz="1800" dirty="0"/>
          </a:p>
          <a:p>
            <a:r>
              <a:rPr lang="en-US" sz="1800" dirty="0">
                <a:sym typeface="+mn-ea"/>
              </a:rPr>
              <a:t>The statistics  </a:t>
            </a:r>
            <a:endParaRPr lang="en-US" sz="1800" dirty="0"/>
          </a:p>
          <a:p>
            <a:endParaRPr lang="en-US" sz="1800" dirty="0"/>
          </a:p>
          <a:p>
            <a:endParaRPr lang="en-US" sz="1800" dirty="0"/>
          </a:p>
          <a:p>
            <a:pPr marL="0" indent="0">
              <a:buNone/>
            </a:pPr>
            <a:r>
              <a:rPr lang="en-US" sz="1800" dirty="0">
                <a:sym typeface="+mn-ea"/>
              </a:rPr>
              <a:t>Where</a:t>
            </a:r>
            <a:endParaRPr lang="en-US" sz="1800" dirty="0"/>
          </a:p>
          <a:p>
            <a:endParaRPr lang="en-US" sz="1800" dirty="0"/>
          </a:p>
          <a:p>
            <a:endParaRPr lang="en-US" sz="1800" dirty="0"/>
          </a:p>
          <a:p>
            <a:r>
              <a:rPr lang="en-US" sz="1800" dirty="0">
                <a:sym typeface="+mn-ea"/>
              </a:rPr>
              <a:t>Follows the student’s t-distribution with (n-1) degree of freedom.  </a:t>
            </a:r>
            <a:endParaRPr lang="en-US" sz="1800" dirty="0"/>
          </a:p>
          <a:p>
            <a:endParaRPr lang="en-US" sz="1800" dirty="0"/>
          </a:p>
          <a:p>
            <a:endParaRPr lang="en-US" sz="1800"/>
          </a:p>
        </p:txBody>
      </p:sp>
      <p:pic>
        <p:nvPicPr>
          <p:cNvPr id="5" name="Picture 4"/>
          <p:cNvPicPr>
            <a:picLocks noChangeAspect="1"/>
          </p:cNvPicPr>
          <p:nvPr/>
        </p:nvPicPr>
        <p:blipFill>
          <a:blip r:embed="rId1"/>
          <a:stretch>
            <a:fillRect/>
          </a:stretch>
        </p:blipFill>
        <p:spPr>
          <a:xfrm>
            <a:off x="2705388" y="3682861"/>
            <a:ext cx="1646312" cy="660303"/>
          </a:xfrm>
          <a:prstGeom prst="rect">
            <a:avLst/>
          </a:prstGeom>
        </p:spPr>
      </p:pic>
      <p:pic>
        <p:nvPicPr>
          <p:cNvPr id="6" name="Picture 5"/>
          <p:cNvPicPr>
            <a:picLocks noChangeAspect="1"/>
          </p:cNvPicPr>
          <p:nvPr/>
        </p:nvPicPr>
        <p:blipFill>
          <a:blip r:embed="rId2"/>
          <a:stretch>
            <a:fillRect/>
          </a:stretch>
        </p:blipFill>
        <p:spPr>
          <a:xfrm>
            <a:off x="2705145" y="4517789"/>
            <a:ext cx="3712840" cy="8008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Example</a:t>
            </a:r>
            <a:endParaRPr lang="en-US"/>
          </a:p>
        </p:txBody>
      </p:sp>
      <p:sp>
        <p:nvSpPr>
          <p:cNvPr id="3" name="Content Placeholder 2"/>
          <p:cNvSpPr>
            <a:spLocks noGrp="1"/>
          </p:cNvSpPr>
          <p:nvPr>
            <p:ph idx="1"/>
          </p:nvPr>
        </p:nvSpPr>
        <p:spPr/>
        <p:txBody>
          <a:bodyPr/>
          <a:p>
            <a:r>
              <a:rPr lang="en-US" sz="1800" dirty="0">
                <a:latin typeface="Arial" panose="020B0604020202020204" pitchFamily="34" charset="0"/>
                <a:cs typeface="Arial" panose="020B0604020202020204" pitchFamily="34" charset="0"/>
                <a:sym typeface="+mn-ea"/>
              </a:rPr>
              <a:t>A random sample of 10 boys had the following I.Q.' s : 70, 120, 110, 101, 88, 83, 95, 98, 107, 100. Do these data support the assumption of a population mean I.Q. of 100 ? Find a reasonable range in which most of the mean I.Q. values of samples of 10 boys lie.</a:t>
            </a:r>
            <a:endParaRPr lang="en-US" sz="1800" dirty="0">
              <a:latin typeface="Arial" panose="020B0604020202020204" pitchFamily="34" charset="0"/>
              <a:cs typeface="Arial" panose="020B0604020202020204" pitchFamily="34" charset="0"/>
            </a:endParaRPr>
          </a:p>
          <a:p>
            <a:pPr marL="0" indent="0">
              <a:buNone/>
            </a:pPr>
            <a:endParaRPr lang="en-US" sz="1800" b="1" dirty="0">
              <a:solidFill>
                <a:srgbClr val="FF0000"/>
              </a:solidFill>
              <a:latin typeface="Arial" panose="020B0604020202020204" pitchFamily="34" charset="0"/>
              <a:cs typeface="Arial" panose="020B0604020202020204" pitchFamily="34" charset="0"/>
              <a:sym typeface="+mn-ea"/>
            </a:endParaRPr>
          </a:p>
          <a:p>
            <a:pPr marL="0" indent="0">
              <a:buNone/>
            </a:pPr>
            <a:r>
              <a:rPr lang="en-US" sz="1800" b="1" dirty="0">
                <a:solidFill>
                  <a:srgbClr val="FF0000"/>
                </a:solidFill>
                <a:latin typeface="Arial" panose="020B0604020202020204" pitchFamily="34" charset="0"/>
                <a:cs typeface="Arial" panose="020B0604020202020204" pitchFamily="34" charset="0"/>
                <a:sym typeface="+mn-ea"/>
              </a:rPr>
              <a:t>Solution:</a:t>
            </a:r>
            <a:endParaRPr lang="en-US" sz="1800" b="1"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sym typeface="+mn-ea"/>
              </a:rPr>
              <a:t>Step(i): </a:t>
            </a:r>
            <a:r>
              <a:rPr lang="en-US" sz="1800" dirty="0">
                <a:latin typeface="Arial" panose="020B0604020202020204" pitchFamily="34" charset="0"/>
                <a:cs typeface="Arial" panose="020B0604020202020204" pitchFamily="34" charset="0"/>
                <a:sym typeface="+mn-ea"/>
              </a:rPr>
              <a:t>Set statistical hypothesis</a:t>
            </a:r>
            <a:endParaRPr lang="en-US" sz="1800" dirty="0">
              <a:latin typeface="Arial" panose="020B0604020202020204" pitchFamily="34" charset="0"/>
              <a:cs typeface="Arial" panose="020B0604020202020204" pitchFamily="34" charset="0"/>
            </a:endParaRPr>
          </a:p>
          <a:p>
            <a:pPr marL="1371600" lvl="3" indent="0">
              <a:buNone/>
            </a:pPr>
            <a:r>
              <a:rPr lang="en-US" sz="1800" dirty="0">
                <a:latin typeface="Arial" panose="020B0604020202020204" pitchFamily="34" charset="0"/>
                <a:cs typeface="Arial" panose="020B0604020202020204" pitchFamily="34" charset="0"/>
                <a:sym typeface="+mn-ea"/>
              </a:rPr>
              <a:t>Null hypothesis, H</a:t>
            </a:r>
            <a:r>
              <a:rPr lang="en-US" sz="1800" baseline="-25000" dirty="0">
                <a:latin typeface="Arial" panose="020B0604020202020204" pitchFamily="34" charset="0"/>
                <a:cs typeface="Arial" panose="020B0604020202020204" pitchFamily="34" charset="0"/>
                <a:sym typeface="+mn-ea"/>
              </a:rPr>
              <a:t>0</a:t>
            </a:r>
            <a:r>
              <a:rPr lang="en-US" sz="1800" dirty="0">
                <a:latin typeface="Arial" panose="020B0604020202020204" pitchFamily="34" charset="0"/>
                <a:cs typeface="Arial" panose="020B0604020202020204" pitchFamily="34" charset="0"/>
                <a:sym typeface="+mn-ea"/>
              </a:rPr>
              <a:t>: The mean I.Q is 100, i.e., µ=100.</a:t>
            </a:r>
            <a:endParaRPr lang="en-US" sz="1800" dirty="0">
              <a:latin typeface="Arial" panose="020B0604020202020204" pitchFamily="34" charset="0"/>
              <a:cs typeface="Arial" panose="020B0604020202020204" pitchFamily="34" charset="0"/>
            </a:endParaRPr>
          </a:p>
          <a:p>
            <a:pPr marL="1371600" lvl="3" indent="0">
              <a:buNone/>
            </a:pPr>
            <a:r>
              <a:rPr lang="en-US" sz="1800" dirty="0">
                <a:latin typeface="Arial" panose="020B0604020202020204" pitchFamily="34" charset="0"/>
                <a:cs typeface="Arial" panose="020B0604020202020204" pitchFamily="34" charset="0"/>
                <a:sym typeface="+mn-ea"/>
              </a:rPr>
              <a:t>Alternative hypothesis, H</a:t>
            </a:r>
            <a:r>
              <a:rPr lang="en-US" sz="1800" baseline="-25000" dirty="0">
                <a:latin typeface="Arial" panose="020B0604020202020204" pitchFamily="34" charset="0"/>
                <a:cs typeface="Arial" panose="020B0604020202020204" pitchFamily="34" charset="0"/>
                <a:sym typeface="+mn-ea"/>
              </a:rPr>
              <a:t>1</a:t>
            </a:r>
            <a:r>
              <a:rPr lang="en-US" sz="1800" dirty="0">
                <a:latin typeface="Arial" panose="020B0604020202020204" pitchFamily="34" charset="0"/>
                <a:cs typeface="Arial" panose="020B0604020202020204" pitchFamily="34" charset="0"/>
                <a:sym typeface="+mn-ea"/>
              </a:rPr>
              <a:t>: µ≠100.</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sym typeface="+mn-ea"/>
              </a:rPr>
              <a:t>Step(ii): </a:t>
            </a:r>
            <a:r>
              <a:rPr lang="en-US" sz="1800" dirty="0">
                <a:latin typeface="Arial" panose="020B0604020202020204" pitchFamily="34" charset="0"/>
                <a:cs typeface="Arial" panose="020B0604020202020204" pitchFamily="34" charset="0"/>
                <a:sym typeface="+mn-ea"/>
              </a:rPr>
              <a:t>use appropriate test statistics.</a:t>
            </a:r>
            <a:endParaRPr lang="en-US" sz="1800" dirty="0">
              <a:latin typeface="Arial" panose="020B0604020202020204" pitchFamily="34" charset="0"/>
              <a:cs typeface="Arial" panose="020B0604020202020204" pitchFamily="34" charset="0"/>
            </a:endParaRPr>
          </a:p>
          <a:p>
            <a:pPr marL="1371600" lvl="3" indent="0">
              <a:buNone/>
            </a:pPr>
            <a:r>
              <a:rPr lang="en-US" sz="1125" dirty="0">
                <a:latin typeface="Arial" panose="020B0604020202020204" pitchFamily="34" charset="0"/>
                <a:cs typeface="Arial" panose="020B0604020202020204" pitchFamily="34" charset="0"/>
                <a:sym typeface="+mn-ea"/>
              </a:rPr>
              <a:t> </a:t>
            </a:r>
            <a:r>
              <a:rPr lang="en-US" sz="1800" dirty="0">
                <a:latin typeface="Arial" panose="020B0604020202020204" pitchFamily="34" charset="0"/>
                <a:cs typeface="Arial" panose="020B0604020202020204" pitchFamily="34" charset="0"/>
                <a:sym typeface="+mn-ea"/>
              </a:rPr>
              <a:t>Under Ho. the test statistic is :</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1"/>
          <a:stretch>
            <a:fillRect/>
          </a:stretch>
        </p:blipFill>
        <p:spPr>
          <a:xfrm>
            <a:off x="2921804" y="4626848"/>
            <a:ext cx="3124200" cy="76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Calculation for t-statistics and confidence interval:</a:t>
            </a:r>
            <a:endParaRPr lang="en-US"/>
          </a:p>
        </p:txBody>
      </p:sp>
      <p:graphicFrame>
        <p:nvGraphicFramePr>
          <p:cNvPr id="4" name="Content Placeholder 3"/>
          <p:cNvGraphicFramePr/>
          <p:nvPr>
            <p:ph idx="1"/>
          </p:nvPr>
        </p:nvGraphicFramePr>
        <p:xfrm>
          <a:off x="609600" y="1174750"/>
          <a:ext cx="3481705" cy="4752975"/>
        </p:xfrm>
        <a:graphic>
          <a:graphicData uri="http://schemas.openxmlformats.org/drawingml/2006/table">
            <a:tbl>
              <a:tblPr firstRow="1" bandRow="1">
                <a:tableStyleId>{93296810-A885-4BE3-A3E7-6D5BEEA58F35}</a:tableStyleId>
              </a:tblPr>
              <a:tblGrid>
                <a:gridCol w="696595"/>
                <a:gridCol w="964565"/>
                <a:gridCol w="1820545"/>
              </a:tblGrid>
              <a:tr h="579120">
                <a:tc>
                  <a:txBody>
                    <a:bodyPr/>
                    <a:p>
                      <a:r>
                        <a:rPr lang="en-US" sz="1600" dirty="0"/>
                        <a:t> X</a:t>
                      </a:r>
                      <a:endParaRPr lang="en-US" sz="1600" dirty="0"/>
                    </a:p>
                  </a:txBody>
                  <a:tcPr/>
                </a:tc>
                <a:tc>
                  <a:txBody>
                    <a:bodyPr/>
                    <a:p>
                      <a:r>
                        <a:rPr lang="en-US" sz="1600" dirty="0"/>
                        <a:t>  (X-͞x)</a:t>
                      </a:r>
                      <a:endParaRPr lang="en-US" sz="1600" dirty="0"/>
                    </a:p>
                  </a:txBody>
                  <a:tcPr/>
                </a:tc>
                <a:tc>
                  <a:txBody>
                    <a:bodyPr/>
                    <a:p>
                      <a:pPr marL="0" marR="0" lvl="0" indent="0" algn="l" defTabSz="1219200" rtl="0" eaLnBrk="1" fontAlgn="auto" latinLnBrk="0" hangingPunct="1">
                        <a:lnSpc>
                          <a:spcPct val="100000"/>
                        </a:lnSpc>
                        <a:spcBef>
                          <a:spcPts val="0"/>
                        </a:spcBef>
                        <a:spcAft>
                          <a:spcPts val="0"/>
                        </a:spcAft>
                        <a:buClrTx/>
                        <a:buSzTx/>
                        <a:buFontTx/>
                        <a:buNone/>
                        <a:defRPr/>
                      </a:pPr>
                      <a:r>
                        <a:rPr lang="en-US" sz="1600" dirty="0"/>
                        <a:t>        </a:t>
                      </a:r>
                      <a:r>
                        <a:rPr lang="de-AT" sz="1600" kern="1200" dirty="0">
                          <a:effectLst/>
                        </a:rPr>
                        <a:t>(X-͞x)</a:t>
                      </a:r>
                      <a:r>
                        <a:rPr lang="de-AT" sz="1600" kern="1200" baseline="30000" dirty="0">
                          <a:effectLst/>
                        </a:rPr>
                        <a:t>2</a:t>
                      </a:r>
                      <a:endParaRPr lang="en-US" sz="1600" kern="1200" dirty="0">
                        <a:effectLst/>
                      </a:endParaRPr>
                    </a:p>
                    <a:p>
                      <a:endParaRPr lang="en-US" sz="1600" dirty="0"/>
                    </a:p>
                  </a:txBody>
                  <a:tcPr/>
                </a:tc>
              </a:tr>
              <a:tr h="335280">
                <a:tc>
                  <a:txBody>
                    <a:bodyPr/>
                    <a:p>
                      <a:r>
                        <a:rPr lang="en-US" sz="1600" dirty="0"/>
                        <a:t>70</a:t>
                      </a:r>
                      <a:endParaRPr lang="en-US" sz="1600" dirty="0"/>
                    </a:p>
                  </a:txBody>
                  <a:tcPr/>
                </a:tc>
                <a:tc>
                  <a:txBody>
                    <a:bodyPr/>
                    <a:p>
                      <a:r>
                        <a:rPr lang="en-US" sz="1600" dirty="0"/>
                        <a:t>-27.2</a:t>
                      </a:r>
                      <a:endParaRPr lang="en-US" sz="1600" dirty="0"/>
                    </a:p>
                  </a:txBody>
                  <a:tcPr/>
                </a:tc>
                <a:tc>
                  <a:txBody>
                    <a:bodyPr/>
                    <a:p>
                      <a:r>
                        <a:rPr lang="en-US" sz="1600" dirty="0"/>
                        <a:t>739.84</a:t>
                      </a:r>
                      <a:endParaRPr lang="en-US" sz="1600" dirty="0"/>
                    </a:p>
                  </a:txBody>
                  <a:tcPr/>
                </a:tc>
              </a:tr>
              <a:tr h="335280">
                <a:tc>
                  <a:txBody>
                    <a:bodyPr/>
                    <a:p>
                      <a:r>
                        <a:rPr lang="en-US" sz="1600" dirty="0"/>
                        <a:t>120</a:t>
                      </a:r>
                      <a:endParaRPr lang="en-US" sz="1600" dirty="0"/>
                    </a:p>
                  </a:txBody>
                  <a:tcPr/>
                </a:tc>
                <a:tc>
                  <a:txBody>
                    <a:bodyPr/>
                    <a:p>
                      <a:r>
                        <a:rPr lang="en-US" sz="1600" dirty="0"/>
                        <a:t>22.8</a:t>
                      </a:r>
                      <a:endParaRPr lang="en-US" sz="1600" dirty="0"/>
                    </a:p>
                  </a:txBody>
                  <a:tcPr/>
                </a:tc>
                <a:tc>
                  <a:txBody>
                    <a:bodyPr/>
                    <a:p>
                      <a:r>
                        <a:rPr lang="en-US" sz="1600" dirty="0"/>
                        <a:t>519.84</a:t>
                      </a:r>
                      <a:endParaRPr lang="en-US" sz="1600" dirty="0"/>
                    </a:p>
                  </a:txBody>
                  <a:tcPr/>
                </a:tc>
              </a:tr>
              <a:tr h="335280">
                <a:tc>
                  <a:txBody>
                    <a:bodyPr/>
                    <a:p>
                      <a:r>
                        <a:rPr lang="en-US" sz="1600" dirty="0"/>
                        <a:t>110</a:t>
                      </a:r>
                      <a:endParaRPr lang="en-US" sz="1600" dirty="0"/>
                    </a:p>
                  </a:txBody>
                  <a:tcPr/>
                </a:tc>
                <a:tc>
                  <a:txBody>
                    <a:bodyPr/>
                    <a:p>
                      <a:r>
                        <a:rPr lang="en-US" sz="1600" dirty="0"/>
                        <a:t>12.8</a:t>
                      </a:r>
                      <a:endParaRPr lang="en-US" sz="1600" dirty="0"/>
                    </a:p>
                  </a:txBody>
                  <a:tcPr/>
                </a:tc>
                <a:tc>
                  <a:txBody>
                    <a:bodyPr/>
                    <a:p>
                      <a:r>
                        <a:rPr lang="en-US" sz="1600" dirty="0"/>
                        <a:t>163.84</a:t>
                      </a:r>
                      <a:endParaRPr lang="en-US" sz="1600" dirty="0"/>
                    </a:p>
                  </a:txBody>
                  <a:tcPr/>
                </a:tc>
              </a:tr>
              <a:tr h="335280">
                <a:tc>
                  <a:txBody>
                    <a:bodyPr/>
                    <a:p>
                      <a:r>
                        <a:rPr lang="en-US" sz="1600" dirty="0"/>
                        <a:t>101</a:t>
                      </a:r>
                      <a:endParaRPr lang="en-US" sz="1600" dirty="0"/>
                    </a:p>
                  </a:txBody>
                  <a:tcPr/>
                </a:tc>
                <a:tc>
                  <a:txBody>
                    <a:bodyPr/>
                    <a:p>
                      <a:r>
                        <a:rPr lang="en-US" sz="1600" dirty="0"/>
                        <a:t>3.8</a:t>
                      </a:r>
                      <a:endParaRPr lang="en-US" sz="1600" dirty="0"/>
                    </a:p>
                  </a:txBody>
                  <a:tcPr/>
                </a:tc>
                <a:tc>
                  <a:txBody>
                    <a:bodyPr/>
                    <a:p>
                      <a:r>
                        <a:rPr lang="en-US" sz="1600" dirty="0"/>
                        <a:t>14.44</a:t>
                      </a:r>
                      <a:endParaRPr lang="en-US" sz="1600" dirty="0"/>
                    </a:p>
                  </a:txBody>
                  <a:tcPr/>
                </a:tc>
              </a:tr>
              <a:tr h="335280">
                <a:tc>
                  <a:txBody>
                    <a:bodyPr/>
                    <a:p>
                      <a:r>
                        <a:rPr lang="en-US" sz="1600" dirty="0"/>
                        <a:t>88</a:t>
                      </a:r>
                      <a:endParaRPr lang="en-US" sz="1600" dirty="0"/>
                    </a:p>
                  </a:txBody>
                  <a:tcPr/>
                </a:tc>
                <a:tc>
                  <a:txBody>
                    <a:bodyPr/>
                    <a:p>
                      <a:r>
                        <a:rPr lang="en-US" sz="1600" dirty="0"/>
                        <a:t>-9.2</a:t>
                      </a:r>
                      <a:endParaRPr lang="en-US" sz="1600" dirty="0"/>
                    </a:p>
                  </a:txBody>
                  <a:tcPr/>
                </a:tc>
                <a:tc>
                  <a:txBody>
                    <a:bodyPr/>
                    <a:p>
                      <a:r>
                        <a:rPr lang="en-US" sz="1600" dirty="0"/>
                        <a:t>84.64</a:t>
                      </a:r>
                      <a:endParaRPr lang="en-US" sz="1600" dirty="0"/>
                    </a:p>
                  </a:txBody>
                  <a:tcPr/>
                </a:tc>
              </a:tr>
              <a:tr h="335280">
                <a:tc>
                  <a:txBody>
                    <a:bodyPr/>
                    <a:p>
                      <a:r>
                        <a:rPr lang="en-US" sz="1600" dirty="0"/>
                        <a:t>83</a:t>
                      </a:r>
                      <a:endParaRPr lang="en-US" sz="1600" dirty="0"/>
                    </a:p>
                  </a:txBody>
                  <a:tcPr/>
                </a:tc>
                <a:tc>
                  <a:txBody>
                    <a:bodyPr/>
                    <a:p>
                      <a:r>
                        <a:rPr lang="en-US" sz="1600" dirty="0"/>
                        <a:t>-14.2</a:t>
                      </a:r>
                      <a:endParaRPr lang="en-US" sz="1600" dirty="0"/>
                    </a:p>
                  </a:txBody>
                  <a:tcPr/>
                </a:tc>
                <a:tc>
                  <a:txBody>
                    <a:bodyPr/>
                    <a:p>
                      <a:r>
                        <a:rPr lang="en-US" sz="1600" dirty="0"/>
                        <a:t>201.64</a:t>
                      </a:r>
                      <a:endParaRPr lang="en-US" sz="1600" dirty="0"/>
                    </a:p>
                  </a:txBody>
                  <a:tcPr/>
                </a:tc>
              </a:tr>
              <a:tr h="335280">
                <a:tc>
                  <a:txBody>
                    <a:bodyPr/>
                    <a:p>
                      <a:r>
                        <a:rPr lang="en-US" sz="1600" dirty="0"/>
                        <a:t>95</a:t>
                      </a:r>
                      <a:endParaRPr lang="en-US" sz="1600" dirty="0"/>
                    </a:p>
                  </a:txBody>
                  <a:tcPr/>
                </a:tc>
                <a:tc>
                  <a:txBody>
                    <a:bodyPr/>
                    <a:p>
                      <a:r>
                        <a:rPr lang="en-US" sz="1600" dirty="0"/>
                        <a:t>-2.2</a:t>
                      </a:r>
                      <a:endParaRPr lang="en-US" sz="1600" dirty="0"/>
                    </a:p>
                  </a:txBody>
                  <a:tcPr/>
                </a:tc>
                <a:tc>
                  <a:txBody>
                    <a:bodyPr/>
                    <a:p>
                      <a:r>
                        <a:rPr lang="en-US" sz="1600" dirty="0"/>
                        <a:t>4.84</a:t>
                      </a:r>
                      <a:endParaRPr lang="en-US" sz="1600" dirty="0"/>
                    </a:p>
                  </a:txBody>
                  <a:tcPr/>
                </a:tc>
              </a:tr>
              <a:tr h="335280">
                <a:tc>
                  <a:txBody>
                    <a:bodyPr/>
                    <a:p>
                      <a:r>
                        <a:rPr lang="en-US" sz="1600" dirty="0"/>
                        <a:t>98</a:t>
                      </a:r>
                      <a:endParaRPr lang="en-US" sz="1600" dirty="0"/>
                    </a:p>
                  </a:txBody>
                  <a:tcPr/>
                </a:tc>
                <a:tc>
                  <a:txBody>
                    <a:bodyPr/>
                    <a:p>
                      <a:r>
                        <a:rPr lang="en-US" sz="1600" dirty="0"/>
                        <a:t>0.8</a:t>
                      </a:r>
                      <a:endParaRPr lang="en-US" sz="1600" dirty="0"/>
                    </a:p>
                  </a:txBody>
                  <a:tcPr/>
                </a:tc>
                <a:tc>
                  <a:txBody>
                    <a:bodyPr/>
                    <a:p>
                      <a:r>
                        <a:rPr lang="en-US" sz="1600" dirty="0"/>
                        <a:t>0.64</a:t>
                      </a:r>
                      <a:endParaRPr lang="en-US" sz="1600" dirty="0"/>
                    </a:p>
                  </a:txBody>
                  <a:tcPr/>
                </a:tc>
              </a:tr>
              <a:tr h="335280">
                <a:tc>
                  <a:txBody>
                    <a:bodyPr/>
                    <a:p>
                      <a:r>
                        <a:rPr lang="en-US" sz="1600" dirty="0"/>
                        <a:t>107</a:t>
                      </a:r>
                      <a:endParaRPr lang="en-US" sz="1600" dirty="0"/>
                    </a:p>
                  </a:txBody>
                  <a:tcPr/>
                </a:tc>
                <a:tc>
                  <a:txBody>
                    <a:bodyPr/>
                    <a:p>
                      <a:r>
                        <a:rPr lang="en-US" sz="1600" dirty="0"/>
                        <a:t>9.8</a:t>
                      </a:r>
                      <a:endParaRPr lang="en-US" sz="1600" dirty="0"/>
                    </a:p>
                  </a:txBody>
                  <a:tcPr/>
                </a:tc>
                <a:tc>
                  <a:txBody>
                    <a:bodyPr/>
                    <a:p>
                      <a:r>
                        <a:rPr lang="en-US" sz="1600" dirty="0"/>
                        <a:t>96.04</a:t>
                      </a:r>
                      <a:endParaRPr lang="en-US" sz="1600" dirty="0"/>
                    </a:p>
                  </a:txBody>
                  <a:tcPr/>
                </a:tc>
              </a:tr>
              <a:tr h="335280">
                <a:tc>
                  <a:txBody>
                    <a:bodyPr/>
                    <a:p>
                      <a:r>
                        <a:rPr lang="en-US" sz="1600" dirty="0"/>
                        <a:t>100</a:t>
                      </a:r>
                      <a:endParaRPr lang="en-US" sz="1600" dirty="0"/>
                    </a:p>
                  </a:txBody>
                  <a:tcPr/>
                </a:tc>
                <a:tc>
                  <a:txBody>
                    <a:bodyPr/>
                    <a:p>
                      <a:r>
                        <a:rPr lang="en-US" sz="1600" dirty="0"/>
                        <a:t>2.8</a:t>
                      </a:r>
                      <a:endParaRPr lang="en-US" sz="1600" dirty="0"/>
                    </a:p>
                  </a:txBody>
                  <a:tcPr/>
                </a:tc>
                <a:tc>
                  <a:txBody>
                    <a:bodyPr/>
                    <a:p>
                      <a:r>
                        <a:rPr lang="en-US" sz="1600" dirty="0"/>
                        <a:t>7.84</a:t>
                      </a:r>
                      <a:endParaRPr lang="en-US" sz="1600" dirty="0"/>
                    </a:p>
                  </a:txBody>
                  <a:tcPr/>
                </a:tc>
              </a:tr>
              <a:tr h="821055">
                <a:tc>
                  <a:txBody>
                    <a:bodyPr/>
                    <a:p>
                      <a:r>
                        <a:rPr lang="en-US" sz="1600" dirty="0"/>
                        <a:t>Total: 972</a:t>
                      </a:r>
                      <a:endParaRPr lang="en-US" sz="1600" b="1" dirty="0"/>
                    </a:p>
                  </a:txBody>
                  <a:tcPr/>
                </a:tc>
                <a:tc>
                  <a:txBody>
                    <a:bodyPr/>
                    <a:p>
                      <a:endParaRPr lang="en-US" sz="1600" dirty="0"/>
                    </a:p>
                  </a:txBody>
                  <a:tcPr/>
                </a:tc>
                <a:tc>
                  <a:txBody>
                    <a:bodyPr/>
                    <a:p>
                      <a:r>
                        <a:rPr lang="en-US" sz="1600" dirty="0"/>
                        <a:t>1833.60</a:t>
                      </a:r>
                      <a:endParaRPr lang="en-US" sz="1600" b="1" dirty="0"/>
                    </a:p>
                  </a:txBody>
                  <a:tcPr/>
                </a:tc>
              </a:tr>
            </a:tbl>
          </a:graphicData>
        </a:graphic>
      </p:graphicFrame>
      <p:pic>
        <p:nvPicPr>
          <p:cNvPr id="7" name="Picture 6"/>
          <p:cNvPicPr>
            <a:picLocks noChangeAspect="1"/>
          </p:cNvPicPr>
          <p:nvPr/>
        </p:nvPicPr>
        <p:blipFill>
          <a:blip r:embed="rId1"/>
          <a:stretch>
            <a:fillRect/>
          </a:stretch>
        </p:blipFill>
        <p:spPr>
          <a:xfrm>
            <a:off x="4831271" y="1174707"/>
            <a:ext cx="1646312" cy="660303"/>
          </a:xfrm>
          <a:prstGeom prst="rect">
            <a:avLst/>
          </a:prstGeom>
        </p:spPr>
      </p:pic>
      <p:sp>
        <p:nvSpPr>
          <p:cNvPr id="5" name="TextBox 4"/>
          <p:cNvSpPr txBox="1"/>
          <p:nvPr/>
        </p:nvSpPr>
        <p:spPr>
          <a:xfrm>
            <a:off x="4766945" y="2112010"/>
            <a:ext cx="3006090" cy="3871595"/>
          </a:xfrm>
          <a:prstGeom prst="rect">
            <a:avLst/>
          </a:prstGeom>
          <a:noFill/>
        </p:spPr>
        <p:txBody>
          <a:bodyPr wrap="square" rtlCol="0">
            <a:spAutoFit/>
          </a:bodyPr>
          <a:p>
            <a:r>
              <a:rPr lang="de-AT" b="1" dirty="0">
                <a:latin typeface="Arial" panose="020B0604020202020204" pitchFamily="34" charset="0"/>
                <a:cs typeface="Arial" panose="020B0604020202020204" pitchFamily="34" charset="0"/>
              </a:rPr>
              <a:t>͞</a:t>
            </a:r>
            <a:r>
              <a:rPr lang="de-AT" dirty="0">
                <a:latin typeface="Arial" panose="020B0604020202020204" pitchFamily="34" charset="0"/>
                <a:cs typeface="Arial" panose="020B0604020202020204" pitchFamily="34" charset="0"/>
              </a:rPr>
              <a:t>x = 972/10 = 97.2</a:t>
            </a:r>
            <a:endParaRPr lang="de-AT"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a:t>
            </a:r>
            <a:r>
              <a:rPr lang="en-US" baseline="30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(1833.60/9)</a:t>
            </a:r>
            <a:r>
              <a:rPr lang="de-AT" baseline="30000" dirty="0">
                <a:latin typeface="Arial" panose="020B0604020202020204" pitchFamily="34" charset="0"/>
                <a:cs typeface="Arial" panose="020B0604020202020204" pitchFamily="34" charset="0"/>
              </a:rPr>
              <a:t> 1/2</a:t>
            </a:r>
            <a:r>
              <a:rPr lang="en-US" dirty="0">
                <a:latin typeface="Arial" panose="020B0604020202020204" pitchFamily="34" charset="0"/>
                <a:cs typeface="Arial" panose="020B0604020202020204" pitchFamily="34" charset="0"/>
              </a:rPr>
              <a:t> =14.27</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S/(n)</a:t>
            </a:r>
            <a:r>
              <a:rPr lang="de-AT" baseline="30000" dirty="0">
                <a:latin typeface="Arial" panose="020B0604020202020204" pitchFamily="34" charset="0"/>
                <a:cs typeface="Arial" panose="020B0604020202020204" pitchFamily="34" charset="0"/>
              </a:rPr>
              <a:t>½ </a:t>
            </a:r>
            <a:r>
              <a:rPr lang="en-US" dirty="0">
                <a:latin typeface="Arial" panose="020B0604020202020204" pitchFamily="34" charset="0"/>
                <a:cs typeface="Arial" panose="020B0604020202020204" pitchFamily="34" charset="0"/>
              </a:rPr>
              <a:t>= 14.27/(10)</a:t>
            </a:r>
            <a:r>
              <a:rPr lang="de-AT" baseline="30000" dirty="0">
                <a:latin typeface="Arial" panose="020B0604020202020204" pitchFamily="34" charset="0"/>
                <a:cs typeface="Arial" panose="020B0604020202020204" pitchFamily="34" charset="0"/>
              </a:rPr>
              <a:t> ½ </a:t>
            </a:r>
            <a:r>
              <a:rPr lang="en-US" dirty="0">
                <a:latin typeface="Arial" panose="020B0604020202020204" pitchFamily="34" charset="0"/>
                <a:cs typeface="Arial" panose="020B0604020202020204" pitchFamily="34" charset="0"/>
              </a:rPr>
              <a:t>= 4.51</a:t>
            </a:r>
            <a:r>
              <a:rPr lang="de-AT" baseline="30000"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r>
              <a:rPr lang="en-US" baseline="30000" dirty="0">
                <a:latin typeface="Arial" panose="020B0604020202020204" pitchFamily="34" charset="0"/>
                <a:cs typeface="Arial" panose="020B0604020202020204" pitchFamily="34" charset="0"/>
              </a:rPr>
              <a:t> </a:t>
            </a:r>
            <a:endParaRPr lang="en-US" baseline="30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 = |97.2 -100|/ 4.51</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ea typeface="Verdana" panose="020B060403050404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Calculated value of t</a:t>
            </a:r>
            <a:r>
              <a:rPr lang="en-US" dirty="0">
                <a:latin typeface="Arial" panose="020B0604020202020204" pitchFamily="34" charset="0"/>
                <a:ea typeface="Verdana" panose="020B0604030504040204" pitchFamily="34" charset="0"/>
                <a:cs typeface="Arial" panose="020B0604020202020204" pitchFamily="34" charset="0"/>
              </a:rPr>
              <a:t> = 0.62</a:t>
            </a:r>
            <a:endParaRPr lang="en-US" dirty="0">
              <a:latin typeface="Arial" panose="020B0604020202020204" pitchFamily="34" charset="0"/>
              <a:ea typeface="Verdana" panose="020B0604030504040204" pitchFamily="34" charset="0"/>
              <a:cs typeface="Arial" panose="020B0604020202020204" pitchFamily="34" charset="0"/>
            </a:endParaRPr>
          </a:p>
          <a:p>
            <a:endParaRPr lang="en-US" dirty="0">
              <a:latin typeface="Arial" panose="020B0604020202020204" pitchFamily="34" charset="0"/>
              <a:ea typeface="Verdana" panose="020B0604030504040204" pitchFamily="34" charset="0"/>
              <a:cs typeface="Arial" panose="020B0604020202020204" pitchFamily="34" charset="0"/>
            </a:endParaRPr>
          </a:p>
          <a:p>
            <a:r>
              <a:rPr lang="en-US" b="1" dirty="0">
                <a:latin typeface="Arial" panose="020B0604020202020204" pitchFamily="34" charset="0"/>
                <a:ea typeface="Verdana" panose="020B0604030504040204" pitchFamily="34" charset="0"/>
                <a:cs typeface="Arial" panose="020B0604020202020204" pitchFamily="34" charset="0"/>
              </a:rPr>
              <a:t>Confidence interval:</a:t>
            </a:r>
            <a:endParaRPr lang="en-US" b="1" dirty="0">
              <a:latin typeface="Arial" panose="020B0604020202020204" pitchFamily="34" charset="0"/>
              <a:ea typeface="Verdana" panose="020B0604030504040204" pitchFamily="34" charset="0"/>
              <a:cs typeface="Arial" panose="020B0604020202020204" pitchFamily="34" charset="0"/>
            </a:endParaRPr>
          </a:p>
          <a:p>
            <a:endParaRPr lang="en-US" dirty="0">
              <a:latin typeface="Arial" panose="020B0604020202020204" pitchFamily="34" charset="0"/>
              <a:ea typeface="Verdana" panose="020B0604030504040204" pitchFamily="34" charset="0"/>
              <a:cs typeface="Arial" panose="020B0604020202020204" pitchFamily="34" charset="0"/>
            </a:endParaRPr>
          </a:p>
          <a:p>
            <a:endParaRPr lang="en-US" dirty="0">
              <a:latin typeface="Arial" panose="020B0604020202020204" pitchFamily="34" charset="0"/>
              <a:ea typeface="Verdana" panose="020B060403050404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 97.2 ± 2.262 × 4.514</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(86.99 , 107.41)  </a:t>
            </a:r>
            <a:endParaRPr lang="en-US" dirty="0">
              <a:latin typeface="Arial" panose="020B0604020202020204" pitchFamily="34" charset="0"/>
              <a:cs typeface="Arial" panose="020B0604020202020204" pitchFamily="34" charset="0"/>
            </a:endParaRPr>
          </a:p>
        </p:txBody>
      </p:sp>
      <p:sp>
        <p:nvSpPr>
          <p:cNvPr id="9" name="Rectangle 8"/>
          <p:cNvSpPr/>
          <p:nvPr/>
        </p:nvSpPr>
        <p:spPr>
          <a:xfrm>
            <a:off x="8049260" y="2112010"/>
            <a:ext cx="3293110" cy="3138170"/>
          </a:xfrm>
          <a:prstGeom prst="rect">
            <a:avLst/>
          </a:prstGeom>
        </p:spPr>
        <p:txBody>
          <a:bodyPr wrap="square">
            <a:spAutoFit/>
          </a:bodyPr>
          <a:p>
            <a:r>
              <a:rPr lang="en-US" dirty="0">
                <a:latin typeface="Arial" panose="020B0604020202020204" pitchFamily="34" charset="0"/>
                <a:cs typeface="Arial" panose="020B0604020202020204" pitchFamily="34" charset="0"/>
              </a:rPr>
              <a:t>Tabulated value of t0.05 for degree of freedom 9 at 5% significance level (0.05) is 2.262.</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Since the calculated value is less than the tabulated value, we may conclude that the data is consistent with the assumption of mean I.Q. of 100 in the population.</a:t>
            </a:r>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5491556" y="4862304"/>
            <a:ext cx="2080563" cy="4692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t-test using Python</a:t>
            </a:r>
            <a:endParaRPr lang="en-US"/>
          </a:p>
        </p:txBody>
      </p:sp>
      <p:sp>
        <p:nvSpPr>
          <p:cNvPr id="3" name="Content Placeholder 2"/>
          <p:cNvSpPr>
            <a:spLocks noGrp="1"/>
          </p:cNvSpPr>
          <p:nvPr>
            <p:ph idx="1"/>
          </p:nvPr>
        </p:nvSpPr>
        <p:spPr/>
        <p:txBody>
          <a:bodyPr/>
          <a:p>
            <a:r>
              <a:rPr lang="en-US" sz="1800" dirty="0">
                <a:sym typeface="+mn-ea"/>
              </a:rPr>
              <a:t>Python output:</a:t>
            </a:r>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sym typeface="+mn-ea"/>
              </a:rPr>
              <a:t>From above result we get p-value&gt;0.05</a:t>
            </a:r>
            <a:endParaRPr lang="en-US" sz="1800" dirty="0"/>
          </a:p>
          <a:p>
            <a:r>
              <a:rPr lang="en-US" sz="1800" dirty="0">
                <a:sym typeface="+mn-ea"/>
              </a:rPr>
              <a:t>So here we conclude that we are unable to reject the null hypothesis. i.e., the mean I.Q. will be 100 in population.</a:t>
            </a:r>
            <a:endParaRPr lang="en-US" sz="1800" dirty="0"/>
          </a:p>
          <a:p>
            <a:endParaRPr lang="en-US" sz="1800" dirty="0"/>
          </a:p>
          <a:p>
            <a:endParaRPr lang="en-US" sz="1800"/>
          </a:p>
        </p:txBody>
      </p:sp>
      <p:pic>
        <p:nvPicPr>
          <p:cNvPr id="5" name="Picture 4"/>
          <p:cNvPicPr>
            <a:picLocks noChangeAspect="1"/>
          </p:cNvPicPr>
          <p:nvPr/>
        </p:nvPicPr>
        <p:blipFill>
          <a:blip r:embed="rId1"/>
          <a:stretch>
            <a:fillRect/>
          </a:stretch>
        </p:blipFill>
        <p:spPr>
          <a:xfrm>
            <a:off x="1548954" y="1779161"/>
            <a:ext cx="6781800" cy="15517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t-test for difference of means</a:t>
            </a:r>
            <a:endParaRPr lang="en-US"/>
          </a:p>
        </p:txBody>
      </p:sp>
      <p:sp>
        <p:nvSpPr>
          <p:cNvPr id="3" name="Content Placeholder 2"/>
          <p:cNvSpPr>
            <a:spLocks noGrp="1"/>
          </p:cNvSpPr>
          <p:nvPr>
            <p:ph idx="1"/>
          </p:nvPr>
        </p:nvSpPr>
        <p:spPr/>
        <p:txBody>
          <a:bodyPr/>
          <a:p>
            <a:r>
              <a:rPr lang="en-US" sz="1800" dirty="0">
                <a:sym typeface="+mn-ea"/>
              </a:rPr>
              <a:t>Suppose, we are having two independent samples and we want to check :</a:t>
            </a:r>
            <a:endParaRPr lang="en-US" sz="1800" dirty="0"/>
          </a:p>
          <a:p>
            <a:r>
              <a:rPr lang="en-US" sz="1800" dirty="0">
                <a:sym typeface="+mn-ea"/>
              </a:rPr>
              <a:t>The two samples come from the same population or different population.</a:t>
            </a:r>
            <a:endParaRPr lang="en-US" sz="1800" dirty="0"/>
          </a:p>
          <a:p>
            <a:r>
              <a:rPr lang="en-US" sz="1800" dirty="0">
                <a:sym typeface="+mn-ea"/>
              </a:rPr>
              <a:t>The null hypothesis in this case : H</a:t>
            </a:r>
            <a:r>
              <a:rPr lang="en-US" sz="1800" baseline="-25000" dirty="0">
                <a:sym typeface="+mn-ea"/>
              </a:rPr>
              <a:t>0 </a:t>
            </a:r>
            <a:r>
              <a:rPr lang="en-US" sz="1800" dirty="0">
                <a:sym typeface="+mn-ea"/>
              </a:rPr>
              <a:t>: µ</a:t>
            </a:r>
            <a:r>
              <a:rPr lang="en-US" sz="1800" baseline="-25000" dirty="0">
                <a:sym typeface="+mn-ea"/>
              </a:rPr>
              <a:t>1</a:t>
            </a:r>
            <a:r>
              <a:rPr lang="en-US" sz="1800" dirty="0">
                <a:sym typeface="+mn-ea"/>
              </a:rPr>
              <a:t> = µ</a:t>
            </a:r>
            <a:r>
              <a:rPr lang="en-US" sz="1800" baseline="-25000" dirty="0">
                <a:sym typeface="+mn-ea"/>
              </a:rPr>
              <a:t>2</a:t>
            </a:r>
            <a:endParaRPr lang="en-US" sz="1800" baseline="-25000" dirty="0"/>
          </a:p>
          <a:p>
            <a:r>
              <a:rPr lang="en-US" sz="1800" dirty="0">
                <a:sym typeface="+mn-ea"/>
              </a:rPr>
              <a:t>Alternative hypothesis : H</a:t>
            </a:r>
            <a:r>
              <a:rPr lang="en-US" sz="1800" baseline="-25000" dirty="0">
                <a:sym typeface="+mn-ea"/>
              </a:rPr>
              <a:t>1 </a:t>
            </a:r>
            <a:r>
              <a:rPr lang="en-US" sz="1800" dirty="0">
                <a:sym typeface="+mn-ea"/>
              </a:rPr>
              <a:t>: µ</a:t>
            </a:r>
            <a:r>
              <a:rPr lang="en-US" sz="1800" baseline="-25000" dirty="0">
                <a:sym typeface="+mn-ea"/>
              </a:rPr>
              <a:t>1</a:t>
            </a:r>
            <a:r>
              <a:rPr lang="en-US" sz="1800" dirty="0">
                <a:sym typeface="+mn-ea"/>
              </a:rPr>
              <a:t> ≠ µ</a:t>
            </a:r>
            <a:r>
              <a:rPr lang="en-US" sz="1800" baseline="-25000" dirty="0">
                <a:sym typeface="+mn-ea"/>
              </a:rPr>
              <a:t>2</a:t>
            </a:r>
            <a:endParaRPr lang="en-US" sz="1800" baseline="-25000" dirty="0"/>
          </a:p>
          <a:p>
            <a:r>
              <a:rPr lang="en-US" sz="1800" dirty="0">
                <a:sym typeface="+mn-ea"/>
              </a:rPr>
              <a:t>Where µ1 &amp; µ2 are the corresponding means.</a:t>
            </a:r>
            <a:endParaRPr lang="en-US" sz="1800" dirty="0"/>
          </a:p>
          <a:p>
            <a:r>
              <a:rPr lang="en-US" sz="1800" dirty="0">
                <a:sym typeface="+mn-ea"/>
              </a:rPr>
              <a:t>For example, we want to test that which method of study</a:t>
            </a:r>
            <a:endParaRPr lang="en-US" sz="1800" dirty="0"/>
          </a:p>
          <a:p>
            <a:r>
              <a:rPr lang="en-US" sz="1800" dirty="0">
                <a:sym typeface="+mn-ea"/>
              </a:rPr>
              <a:t> is better from two methods available. We take two samples</a:t>
            </a:r>
            <a:endParaRPr lang="en-US" sz="1800" dirty="0"/>
          </a:p>
          <a:p>
            <a:r>
              <a:rPr lang="en-US" sz="1800" dirty="0">
                <a:sym typeface="+mn-ea"/>
              </a:rPr>
              <a:t>Of students studied from different methods i.e., online study </a:t>
            </a:r>
            <a:endParaRPr lang="en-US" sz="1800" dirty="0"/>
          </a:p>
          <a:p>
            <a:r>
              <a:rPr lang="en-US" sz="1800" dirty="0">
                <a:sym typeface="+mn-ea"/>
              </a:rPr>
              <a:t>And by tutor.</a:t>
            </a:r>
            <a:endParaRPr lang="en-US" sz="1800" dirty="0"/>
          </a:p>
          <a:p>
            <a:r>
              <a:rPr lang="en-US" sz="1800" dirty="0">
                <a:sym typeface="+mn-ea"/>
              </a:rPr>
              <a:t>Here H</a:t>
            </a:r>
            <a:r>
              <a:rPr lang="en-US" sz="1800" baseline="-25000" dirty="0">
                <a:sym typeface="+mn-ea"/>
              </a:rPr>
              <a:t>0</a:t>
            </a:r>
            <a:r>
              <a:rPr lang="en-US" sz="1800" dirty="0">
                <a:sym typeface="+mn-ea"/>
              </a:rPr>
              <a:t> : there is no difference between two method of</a:t>
            </a:r>
            <a:endParaRPr lang="en-US" sz="1800" dirty="0"/>
          </a:p>
          <a:p>
            <a:r>
              <a:rPr lang="en-US" sz="1800" dirty="0">
                <a:sym typeface="+mn-ea"/>
              </a:rPr>
              <a:t>Studies.</a:t>
            </a:r>
            <a:endParaRPr lang="en-US" sz="1800" dirty="0"/>
          </a:p>
          <a:p>
            <a:r>
              <a:rPr lang="en-US" sz="1800" dirty="0">
                <a:sym typeface="+mn-ea"/>
              </a:rPr>
              <a:t>And H</a:t>
            </a:r>
            <a:r>
              <a:rPr lang="en-US" sz="1800" baseline="-25000" dirty="0">
                <a:sym typeface="+mn-ea"/>
              </a:rPr>
              <a:t>1</a:t>
            </a:r>
            <a:r>
              <a:rPr lang="en-US" sz="1800" dirty="0">
                <a:sym typeface="+mn-ea"/>
              </a:rPr>
              <a:t> : there is difference between two method of studies.</a:t>
            </a:r>
            <a:endParaRPr lang="en-US" sz="1800"/>
          </a:p>
        </p:txBody>
      </p:sp>
      <p:pic>
        <p:nvPicPr>
          <p:cNvPr id="5" name="Picture 4" descr="Image result for t test"/>
          <p:cNvPicPr>
            <a:picLocks noChangeAspect="1" noChangeArrowheads="1"/>
          </p:cNvPicPr>
          <p:nvPr/>
        </p:nvPicPr>
        <p:blipFill rotWithShape="1">
          <a:blip r:embed="rId1">
            <a:extLst>
              <a:ext uri="{28A0092B-C50C-407E-A947-70E740481C1C}">
                <a14:useLocalDpi xmlns:a14="http://schemas.microsoft.com/office/drawing/2010/main" val="0"/>
              </a:ext>
            </a:extLst>
          </a:blip>
          <a:srcRect t="23810"/>
          <a:stretch>
            <a:fillRect/>
          </a:stretch>
        </p:blipFill>
        <p:spPr bwMode="auto">
          <a:xfrm>
            <a:off x="7390765" y="2092325"/>
            <a:ext cx="3316605" cy="20326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sym typeface="+mn-ea"/>
              </a:rPr>
              <a:t>… Continued</a:t>
            </a:r>
            <a:endParaRPr lang="en-US"/>
          </a:p>
        </p:txBody>
      </p:sp>
      <p:sp>
        <p:nvSpPr>
          <p:cNvPr id="3" name="Content Placeholder 2"/>
          <p:cNvSpPr>
            <a:spLocks noGrp="1"/>
          </p:cNvSpPr>
          <p:nvPr>
            <p:ph idx="1"/>
          </p:nvPr>
        </p:nvSpPr>
        <p:spPr/>
        <p:txBody>
          <a:bodyPr/>
          <a:p>
            <a:r>
              <a:rPr lang="en-US" sz="1800" dirty="0">
                <a:sym typeface="+mn-ea"/>
              </a:rPr>
              <a:t>Test statistics,</a:t>
            </a:r>
            <a:endParaRPr lang="en-US" sz="1800" dirty="0"/>
          </a:p>
          <a:p>
            <a:endParaRPr lang="en-US" sz="1800" dirty="0"/>
          </a:p>
          <a:p>
            <a:endParaRPr lang="en-US" sz="1800" dirty="0"/>
          </a:p>
          <a:p>
            <a:endParaRPr lang="en-US" sz="1800" dirty="0"/>
          </a:p>
          <a:p>
            <a:endParaRPr lang="en-US" sz="1800" dirty="0"/>
          </a:p>
          <a:p>
            <a:r>
              <a:rPr lang="en-US" sz="1800" dirty="0">
                <a:sym typeface="+mn-ea"/>
              </a:rPr>
              <a:t>Where, </a:t>
            </a:r>
            <a:endParaRPr lang="en-US" sz="1800" dirty="0"/>
          </a:p>
          <a:p>
            <a:endParaRPr lang="en-US" sz="1800" dirty="0"/>
          </a:p>
          <a:p>
            <a:endParaRPr lang="en-US" sz="1800" dirty="0"/>
          </a:p>
          <a:p>
            <a:endParaRPr lang="en-US" sz="1800" dirty="0"/>
          </a:p>
          <a:p>
            <a:endParaRPr lang="en-US" sz="1800" dirty="0"/>
          </a:p>
          <a:p>
            <a:r>
              <a:rPr lang="en-US" sz="1800" dirty="0">
                <a:sym typeface="+mn-ea"/>
              </a:rPr>
              <a:t>S</a:t>
            </a:r>
            <a:r>
              <a:rPr lang="en-US" sz="1800" baseline="30000" dirty="0">
                <a:sym typeface="+mn-ea"/>
              </a:rPr>
              <a:t>2 </a:t>
            </a:r>
            <a:r>
              <a:rPr lang="en-US" sz="1800" dirty="0">
                <a:sym typeface="+mn-ea"/>
              </a:rPr>
              <a:t>is an unbiased estimate of the common population variance </a:t>
            </a:r>
            <a:r>
              <a:rPr lang="el-GR" sz="1800" dirty="0">
                <a:sym typeface="+mn-ea"/>
              </a:rPr>
              <a:t>σ</a:t>
            </a:r>
            <a:r>
              <a:rPr lang="en-US" sz="1800" baseline="30000" dirty="0">
                <a:sym typeface="+mn-ea"/>
              </a:rPr>
              <a:t>2</a:t>
            </a:r>
            <a:r>
              <a:rPr lang="en-US" sz="1800" dirty="0">
                <a:sym typeface="+mn-ea"/>
              </a:rPr>
              <a:t>.</a:t>
            </a:r>
            <a:endParaRPr lang="en-US" sz="1800" baseline="30000" dirty="0"/>
          </a:p>
          <a:p>
            <a:endParaRPr lang="en-US" sz="1800" dirty="0"/>
          </a:p>
          <a:p>
            <a:endParaRPr lang="en-US" sz="1800" dirty="0"/>
          </a:p>
          <a:p>
            <a:endParaRPr lang="en-US" sz="1800"/>
          </a:p>
        </p:txBody>
      </p:sp>
      <p:pic>
        <p:nvPicPr>
          <p:cNvPr id="5" name="Picture 4"/>
          <p:cNvPicPr>
            <a:picLocks noChangeAspect="1"/>
          </p:cNvPicPr>
          <p:nvPr/>
        </p:nvPicPr>
        <p:blipFill rotWithShape="1">
          <a:blip r:embed="rId1"/>
          <a:srcRect l="9756"/>
          <a:stretch>
            <a:fillRect/>
          </a:stretch>
        </p:blipFill>
        <p:spPr>
          <a:xfrm>
            <a:off x="2835275" y="1370965"/>
            <a:ext cx="2497088" cy="1012333"/>
          </a:xfrm>
          <a:prstGeom prst="rect">
            <a:avLst/>
          </a:prstGeom>
        </p:spPr>
      </p:pic>
      <p:pic>
        <p:nvPicPr>
          <p:cNvPr id="6" name="Picture 5"/>
          <p:cNvPicPr>
            <a:picLocks noChangeAspect="1"/>
          </p:cNvPicPr>
          <p:nvPr/>
        </p:nvPicPr>
        <p:blipFill>
          <a:blip r:embed="rId2"/>
          <a:stretch>
            <a:fillRect/>
          </a:stretch>
        </p:blipFill>
        <p:spPr>
          <a:xfrm>
            <a:off x="2776855" y="2905004"/>
            <a:ext cx="4727797" cy="12261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lumMod val="75000"/>
                  </a:schemeClr>
                </a:solidFill>
                <a:latin typeface="Arial" panose="020B0604020202020204" pitchFamily="34" charset="0"/>
                <a:cs typeface="Arial" panose="020B0604020202020204" pitchFamily="34" charset="0"/>
                <a:sym typeface="+mn-ea"/>
              </a:rPr>
              <a:t>Paired t-test</a:t>
            </a:r>
            <a:endParaRPr lang="en-US"/>
          </a:p>
        </p:txBody>
      </p:sp>
      <p:sp>
        <p:nvSpPr>
          <p:cNvPr id="3" name="Content Placeholder 2"/>
          <p:cNvSpPr>
            <a:spLocks noGrp="1"/>
          </p:cNvSpPr>
          <p:nvPr>
            <p:ph idx="1"/>
          </p:nvPr>
        </p:nvSpPr>
        <p:spPr/>
        <p:txBody>
          <a:bodyPr/>
          <a:p>
            <a:r>
              <a:rPr sz="1800">
                <a:sym typeface="+mn-ea"/>
              </a:rPr>
              <a:t>Let us now consider the case when,</a:t>
            </a:r>
            <a:endParaRPr lang="en-US" sz="1800" dirty="0"/>
          </a:p>
          <a:p>
            <a:r>
              <a:rPr sz="1800">
                <a:sym typeface="+mn-ea"/>
              </a:rPr>
              <a:t>(</a:t>
            </a:r>
            <a:r>
              <a:rPr sz="1800" dirty="0" err="1">
                <a:sym typeface="+mn-ea"/>
              </a:rPr>
              <a:t>i</a:t>
            </a:r>
            <a:r>
              <a:rPr sz="1800">
                <a:sym typeface="+mn-ea"/>
              </a:rPr>
              <a:t>) The </a:t>
            </a:r>
            <a:r>
              <a:rPr lang="pt-BR" sz="1800">
                <a:sym typeface="+mn-ea"/>
              </a:rPr>
              <a:t>sample </a:t>
            </a:r>
            <a:r>
              <a:rPr lang="pt-BR" sz="1800" dirty="0" err="1">
                <a:sym typeface="+mn-ea"/>
              </a:rPr>
              <a:t>size</a:t>
            </a:r>
            <a:r>
              <a:rPr lang="pt-BR" sz="1800">
                <a:sym typeface="+mn-ea"/>
              </a:rPr>
              <a:t> are equal. i.t .. n</a:t>
            </a:r>
            <a:r>
              <a:rPr lang="pt-BR" sz="1800" baseline="-25000">
                <a:sym typeface="+mn-ea"/>
              </a:rPr>
              <a:t>1</a:t>
            </a:r>
            <a:r>
              <a:rPr lang="pt-BR" sz="1800">
                <a:sym typeface="+mn-ea"/>
              </a:rPr>
              <a:t> = n</a:t>
            </a:r>
            <a:r>
              <a:rPr lang="pt-BR" sz="1800" baseline="-25000">
                <a:sym typeface="+mn-ea"/>
              </a:rPr>
              <a:t>2</a:t>
            </a:r>
            <a:r>
              <a:rPr lang="pt-BR" sz="1800">
                <a:sym typeface="+mn-ea"/>
              </a:rPr>
              <a:t> = n (</a:t>
            </a:r>
            <a:r>
              <a:rPr lang="pt-BR" sz="1800" dirty="0" err="1">
                <a:sym typeface="+mn-ea"/>
              </a:rPr>
              <a:t>say</a:t>
            </a:r>
            <a:r>
              <a:rPr lang="pt-BR" sz="1800">
                <a:sym typeface="+mn-ea"/>
              </a:rPr>
              <a:t>) </a:t>
            </a:r>
            <a:r>
              <a:rPr lang="pt-BR" sz="1800" dirty="0" err="1">
                <a:sym typeface="+mn-ea"/>
              </a:rPr>
              <a:t>and</a:t>
            </a:r>
            <a:endParaRPr lang="pt-BR" sz="1800" dirty="0"/>
          </a:p>
          <a:p>
            <a:r>
              <a:rPr lang="pt-BR" sz="1800">
                <a:sym typeface="+mn-ea"/>
              </a:rPr>
              <a:t>(</a:t>
            </a:r>
            <a:r>
              <a:rPr lang="pt-BR" sz="1800" dirty="0" err="1">
                <a:sym typeface="+mn-ea"/>
              </a:rPr>
              <a:t>ii</a:t>
            </a:r>
            <a:r>
              <a:rPr lang="pt-BR" sz="1800">
                <a:sym typeface="+mn-ea"/>
              </a:rPr>
              <a:t>) </a:t>
            </a:r>
            <a:r>
              <a:rPr sz="1800">
                <a:sym typeface="+mn-ea"/>
              </a:rPr>
              <a:t>the two samples are dependent and the sample observations are paired together. </a:t>
            </a:r>
            <a:r>
              <a:rPr sz="1800" dirty="0" err="1">
                <a:sym typeface="+mn-ea"/>
              </a:rPr>
              <a:t>i.e</a:t>
            </a:r>
            <a:r>
              <a:rPr sz="1800">
                <a:sym typeface="+mn-ea"/>
              </a:rPr>
              <a:t> .</a:t>
            </a:r>
            <a:endParaRPr lang="en-US" sz="1800" dirty="0"/>
          </a:p>
          <a:p>
            <a:r>
              <a:rPr sz="1800">
                <a:sym typeface="+mn-ea"/>
              </a:rPr>
              <a:t>The problem is to test if the sample means differ significantly or not. </a:t>
            </a:r>
            <a:endParaRPr lang="en-US" sz="1800" dirty="0"/>
          </a:p>
          <a:p>
            <a:r>
              <a:rPr sz="1800">
                <a:sym typeface="+mn-ea"/>
              </a:rPr>
              <a:t>For example :To test the efficiency of particular drug</a:t>
            </a:r>
            <a:endParaRPr lang="en-US" sz="1800" dirty="0"/>
          </a:p>
          <a:p>
            <a:r>
              <a:rPr sz="1800">
                <a:sym typeface="+mn-ea"/>
              </a:rPr>
              <a:t>For this we will take reading of patient before giving the drug and after giving the drug respectively.</a:t>
            </a:r>
            <a:endParaRPr lang="en-US" sz="1800" dirty="0"/>
          </a:p>
          <a:p>
            <a:r>
              <a:rPr sz="1800">
                <a:sym typeface="+mn-ea"/>
              </a:rPr>
              <a:t>Let x</a:t>
            </a:r>
            <a:r>
              <a:rPr sz="1800" baseline="-25000">
                <a:sym typeface="+mn-ea"/>
              </a:rPr>
              <a:t>i</a:t>
            </a:r>
            <a:r>
              <a:rPr sz="1800">
                <a:sym typeface="+mn-ea"/>
              </a:rPr>
              <a:t> and </a:t>
            </a:r>
            <a:r>
              <a:rPr sz="1800" dirty="0" err="1">
                <a:sym typeface="+mn-ea"/>
              </a:rPr>
              <a:t>y</a:t>
            </a:r>
            <a:r>
              <a:rPr sz="1800" baseline="-25000" dirty="0" err="1">
                <a:sym typeface="+mn-ea"/>
              </a:rPr>
              <a:t>i</a:t>
            </a:r>
            <a:r>
              <a:rPr sz="1800">
                <a:sym typeface="+mn-ea"/>
              </a:rPr>
              <a:t> (</a:t>
            </a:r>
            <a:r>
              <a:rPr sz="1800" dirty="0" err="1">
                <a:sym typeface="+mn-ea"/>
              </a:rPr>
              <a:t>i</a:t>
            </a:r>
            <a:r>
              <a:rPr sz="1800">
                <a:sym typeface="+mn-ea"/>
              </a:rPr>
              <a:t>= 1,2, …,n) be readings. here we apply the paired t-test given below.</a:t>
            </a:r>
            <a:endParaRPr lang="en-US" sz="1800" dirty="0"/>
          </a:p>
          <a:p>
            <a:r>
              <a:rPr sz="1800">
                <a:sym typeface="+mn-ea"/>
              </a:rPr>
              <a:t>Here we consider the increments, d</a:t>
            </a:r>
            <a:r>
              <a:rPr sz="1800" baseline="-25000">
                <a:sym typeface="+mn-ea"/>
              </a:rPr>
              <a:t>i</a:t>
            </a:r>
            <a:r>
              <a:rPr sz="1800">
                <a:sym typeface="+mn-ea"/>
              </a:rPr>
              <a:t>= x</a:t>
            </a:r>
            <a:r>
              <a:rPr sz="1800" baseline="-25000">
                <a:sym typeface="+mn-ea"/>
              </a:rPr>
              <a:t>i</a:t>
            </a:r>
            <a:r>
              <a:rPr sz="1800">
                <a:sym typeface="+mn-ea"/>
              </a:rPr>
              <a:t> – </a:t>
            </a:r>
            <a:r>
              <a:rPr sz="1800" dirty="0" err="1">
                <a:sym typeface="+mn-ea"/>
              </a:rPr>
              <a:t>y</a:t>
            </a:r>
            <a:r>
              <a:rPr sz="1800" baseline="-25000" dirty="0" err="1">
                <a:sym typeface="+mn-ea"/>
              </a:rPr>
              <a:t>i</a:t>
            </a:r>
            <a:r>
              <a:rPr sz="1800">
                <a:sym typeface="+mn-ea"/>
              </a:rPr>
              <a:t> ,(</a:t>
            </a:r>
            <a:r>
              <a:rPr sz="1800" dirty="0" err="1">
                <a:sym typeface="+mn-ea"/>
              </a:rPr>
              <a:t>i</a:t>
            </a:r>
            <a:r>
              <a:rPr sz="1800">
                <a:sym typeface="+mn-ea"/>
              </a:rPr>
              <a:t>= 1,2, …,n)</a:t>
            </a:r>
            <a:endParaRPr lang="en-US" sz="1800" dirty="0"/>
          </a:p>
          <a:p>
            <a:r>
              <a:rPr sz="1800">
                <a:sym typeface="+mn-ea"/>
              </a:rPr>
              <a:t>Under null hypothesis, H</a:t>
            </a:r>
            <a:r>
              <a:rPr sz="1800" baseline="-25000">
                <a:sym typeface="+mn-ea"/>
              </a:rPr>
              <a:t>0 </a:t>
            </a:r>
            <a:r>
              <a:rPr sz="1800">
                <a:sym typeface="+mn-ea"/>
              </a:rPr>
              <a:t>: drug is not responsible for these increments.</a:t>
            </a:r>
            <a:endParaRPr lang="en-US" sz="1800" dirty="0"/>
          </a:p>
          <a:p>
            <a:r>
              <a:rPr sz="1800">
                <a:sym typeface="+mn-ea"/>
              </a:rPr>
              <a:t>and Alternative hypothesis, H</a:t>
            </a:r>
            <a:r>
              <a:rPr sz="1800" baseline="-25000">
                <a:sym typeface="+mn-ea"/>
              </a:rPr>
              <a:t>1</a:t>
            </a:r>
            <a:r>
              <a:rPr sz="1800">
                <a:sym typeface="+mn-ea"/>
              </a:rPr>
              <a:t> : drug is responsible for these increments.</a:t>
            </a:r>
            <a:endParaRPr lang="en-US" sz="1800" dirty="0"/>
          </a:p>
          <a:p>
            <a:r>
              <a:rPr sz="1800">
                <a:sym typeface="+mn-ea"/>
              </a:rPr>
              <a:t> the statistic,  </a:t>
            </a:r>
            <a:endParaRPr sz="1800">
              <a:sym typeface="+mn-ea"/>
            </a:endParaRPr>
          </a:p>
          <a:p>
            <a:endParaRPr lang="en-US" sz="1800" dirty="0">
              <a:sym typeface="+mn-ea"/>
            </a:endParaRPr>
          </a:p>
          <a:p>
            <a:endParaRPr lang="en-US" sz="1800" dirty="0">
              <a:sym typeface="+mn-ea"/>
            </a:endParaRPr>
          </a:p>
          <a:p>
            <a:endParaRPr lang="en-US" sz="1800" dirty="0">
              <a:sym typeface="+mn-ea"/>
            </a:endParaRPr>
          </a:p>
          <a:p>
            <a:r>
              <a:rPr sz="1800">
                <a:sym typeface="+mn-ea"/>
              </a:rPr>
              <a:t>Follows student’s t-distribution with (n-1) degree of freedom.</a:t>
            </a:r>
            <a:endParaRPr lang="en-US" sz="1800" dirty="0"/>
          </a:p>
          <a:p>
            <a:endParaRPr lang="en-US" sz="1800"/>
          </a:p>
          <a:p>
            <a:endParaRPr lang="en-US" sz="1800"/>
          </a:p>
        </p:txBody>
      </p:sp>
      <p:pic>
        <p:nvPicPr>
          <p:cNvPr id="6" name="Picture 5"/>
          <p:cNvPicPr>
            <a:picLocks noChangeAspect="1"/>
          </p:cNvPicPr>
          <p:nvPr/>
        </p:nvPicPr>
        <p:blipFill>
          <a:blip r:embed="rId1"/>
          <a:stretch>
            <a:fillRect/>
          </a:stretch>
        </p:blipFill>
        <p:spPr>
          <a:xfrm>
            <a:off x="2641600" y="4603750"/>
            <a:ext cx="4690110" cy="1061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noChangeArrowheads="1"/>
          </p:cNvSpPr>
          <p:nvPr>
            <p:ph type="ctrTitle"/>
          </p:nvPr>
        </p:nvSpPr>
        <p:spPr>
          <a:xfrm>
            <a:off x="806450" y="1265555"/>
            <a:ext cx="10942955" cy="2353945"/>
          </a:xfrm>
        </p:spPr>
        <p:txBody>
          <a:bodyPr/>
          <a:p>
            <a:pPr algn="ctr">
              <a:lnSpc>
                <a:spcPct val="90000"/>
              </a:lnSpc>
            </a:pPr>
            <a:r>
              <a:rPr lang="en-IN" altLang="en-US" sz="5000" b="1">
                <a:solidFill>
                  <a:srgbClr val="FF0000"/>
                </a:solidFill>
              </a:rPr>
              <a:t>THANK YOU FOR YOUR</a:t>
            </a:r>
            <a:br>
              <a:rPr lang="en-IN" altLang="en-US" sz="5000" b="1">
                <a:solidFill>
                  <a:srgbClr val="FF0000"/>
                </a:solidFill>
              </a:rPr>
            </a:br>
            <a:r>
              <a:rPr lang="en-IN" altLang="en-US" sz="5000" b="1">
                <a:solidFill>
                  <a:srgbClr val="FF0000"/>
                </a:solidFill>
              </a:rPr>
              <a:t>ATTENTATION</a:t>
            </a:r>
            <a:endParaRPr lang="en-IN" altLang="en-US" sz="5000" b="1">
              <a:solidFill>
                <a:srgbClr val="FF0000"/>
              </a:solidFill>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EA2B996A095145A431990D8746F65D" ma:contentTypeVersion="12" ma:contentTypeDescription="Create a new document." ma:contentTypeScope="" ma:versionID="b52efeacc52cdb0921dd3ecf044e49d6">
  <xsd:schema xmlns:xsd="http://www.w3.org/2001/XMLSchema" xmlns:xs="http://www.w3.org/2001/XMLSchema" xmlns:p="http://schemas.microsoft.com/office/2006/metadata/properties" xmlns:ns2="0ae31940-ca4a-45c5-b162-138273e95632" xmlns:ns3="931ab5c8-92b0-45e1-8bc3-523e2cbedd9f" targetNamespace="http://schemas.microsoft.com/office/2006/metadata/properties" ma:root="true" ma:fieldsID="f46cc9a8ff8ed0d34fdacf23a8b0da3b" ns2:_="" ns3:_="">
    <xsd:import namespace="0ae31940-ca4a-45c5-b162-138273e95632"/>
    <xsd:import namespace="931ab5c8-92b0-45e1-8bc3-523e2cbed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e31940-ca4a-45c5-b162-138273e956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0b75c2f-733a-428e-8724-a6f3929c24d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31ab5c8-92b0-45e1-8bc3-523e2cbedd9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981f5be-6e3e-4d6c-a653-15253177344c}" ma:internalName="TaxCatchAll" ma:showField="CatchAllData" ma:web="931ab5c8-92b0-45e1-8bc3-523e2cbedd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e31940-ca4a-45c5-b162-138273e95632">
      <Terms xmlns="http://schemas.microsoft.com/office/infopath/2007/PartnerControls"/>
    </lcf76f155ced4ddcb4097134ff3c332f>
    <TaxCatchAll xmlns="931ab5c8-92b0-45e1-8bc3-523e2cbedd9f" xsi:nil="true"/>
  </documentManagement>
</p:properties>
</file>

<file path=customXml/itemProps1.xml><?xml version="1.0" encoding="utf-8"?>
<ds:datastoreItem xmlns:ds="http://schemas.openxmlformats.org/officeDocument/2006/customXml" ds:itemID="{9ABC237E-543F-48FE-8C68-9950CABAC827}"/>
</file>

<file path=customXml/itemProps2.xml><?xml version="1.0" encoding="utf-8"?>
<ds:datastoreItem xmlns:ds="http://schemas.openxmlformats.org/officeDocument/2006/customXml" ds:itemID="{2926C97B-95B0-4379-9F4D-631AC1A611D6}"/>
</file>

<file path=customXml/itemProps3.xml><?xml version="1.0" encoding="utf-8"?>
<ds:datastoreItem xmlns:ds="http://schemas.openxmlformats.org/officeDocument/2006/customXml" ds:itemID="{0A681AD1-F76F-43BE-B0F9-762418B0A699}"/>
</file>

<file path=docProps/app.xml><?xml version="1.0" encoding="utf-8"?>
<Properties xmlns="http://schemas.openxmlformats.org/officeDocument/2006/extended-properties" xmlns:vt="http://schemas.openxmlformats.org/officeDocument/2006/docPropsVTypes">
  <TotalTime>0</TotalTime>
  <Words>6658</Words>
  <Application>WPS Presentation</Application>
  <PresentationFormat>Widescreen</PresentationFormat>
  <Paragraphs>259</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SimSun</vt:lpstr>
      <vt:lpstr>Wingdings</vt:lpstr>
      <vt:lpstr>Symbol</vt:lpstr>
      <vt:lpstr>Verdana</vt:lpstr>
      <vt:lpstr>Microsoft YaHei</vt:lpstr>
      <vt:lpstr>Arial Unicode MS</vt:lpstr>
      <vt:lpstr>Calibri</vt:lpstr>
      <vt:lpstr>Blue Waves</vt:lpstr>
      <vt:lpstr>Hypothesis Testing</vt:lpstr>
      <vt:lpstr>What is Hypothesis</vt:lpstr>
      <vt:lpstr>Null and Alternative hypothesis</vt:lpstr>
      <vt:lpstr>Errors in Hypothesis testing</vt:lpstr>
      <vt:lpstr>P-value</vt:lpstr>
      <vt:lpstr>Confidence level and Confidence Interval </vt:lpstr>
      <vt:lpstr>Example for confidence interval</vt:lpstr>
      <vt:lpstr>t-test for single mean</vt:lpstr>
      <vt:lpstr>Example</vt:lpstr>
      <vt:lpstr>Calculation for t-statistics and confidence interval:</vt:lpstr>
      <vt:lpstr>t-test using Python</vt:lpstr>
      <vt:lpstr>t-test for difference of means</vt:lpstr>
      <vt:lpstr>… Continued</vt:lpstr>
      <vt:lpstr>Paired t-test</vt:lpstr>
      <vt:lpstr>THANK YOU FOR YOUR ATTENTATION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Hypothesis Testing</dc:title>
  <dc:creator/>
  <cp:lastModifiedBy>Dell</cp:lastModifiedBy>
  <cp:revision>16</cp:revision>
  <dcterms:created xsi:type="dcterms:W3CDTF">2022-12-23T10:19:00Z</dcterms:created>
  <dcterms:modified xsi:type="dcterms:W3CDTF">2022-12-26T04:27:36Z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65F86E81BB9547ED875A0A68FEC352CC</vt:lpwstr>
  </property>
  <property fmtid="{D5CDD505-2E9C-101B-9397-08002B2CF9AE}" pid="3" name="KSOProductBuildVer">
    <vt:lpwstr>1033-11.2.0.11388</vt:lpwstr>
  </property>
  <property fmtid="{D5CDD505-2E9C-101B-9397-08002B2CF9AE}" pid="4" name="ContentTypeId">
    <vt:lpwstr>0x0101006DEA2B996A095145A431990D8746F65D</vt:lpwstr>
  </property>
</Properties>
</file>