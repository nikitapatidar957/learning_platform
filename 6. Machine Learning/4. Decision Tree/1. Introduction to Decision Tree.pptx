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5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7639ED-73A9-549F-B089-945169EF1FF1}" v="1" dt="2024-06-10T05:30:05.847"/>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vi Pandey" userId="S::suvi.pandey@xaltanalytics.com::8f0ef111-01a8-4577-aadc-6972e1850c17" providerId="AD" clId="Web-{7E7639ED-73A9-549F-B089-945169EF1FF1}"/>
    <pc:docChg chg="modSld">
      <pc:chgData name="Suvi Pandey" userId="S::suvi.pandey@xaltanalytics.com::8f0ef111-01a8-4577-aadc-6972e1850c17" providerId="AD" clId="Web-{7E7639ED-73A9-549F-B089-945169EF1FF1}" dt="2024-06-10T05:30:05.847" v="0" actId="1076"/>
      <pc:docMkLst>
        <pc:docMk/>
      </pc:docMkLst>
      <pc:sldChg chg="modSp">
        <pc:chgData name="Suvi Pandey" userId="S::suvi.pandey@xaltanalytics.com::8f0ef111-01a8-4577-aadc-6972e1850c17" providerId="AD" clId="Web-{7E7639ED-73A9-549F-B089-945169EF1FF1}" dt="2024-06-10T05:30:05.847" v="0" actId="1076"/>
        <pc:sldMkLst>
          <pc:docMk/>
          <pc:sldMk cId="0" sldId="259"/>
        </pc:sldMkLst>
        <pc:picChg chg="mod">
          <ac:chgData name="Suvi Pandey" userId="S::suvi.pandey@xaltanalytics.com::8f0ef111-01a8-4577-aadc-6972e1850c17" providerId="AD" clId="Web-{7E7639ED-73A9-549F-B089-945169EF1FF1}" dt="2024-06-10T05:30:05.847" v="0" actId="1076"/>
          <ac:picMkLst>
            <pc:docMk/>
            <pc:sldMk cId="0" sldId="259"/>
            <ac:picMk id="5"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6/9/2024</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3"/>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6/9/2024</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analyticsvidhya.com/blog/wp-content/uploads/2015/01/Decision_Tree_2.png"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GIF"/><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de-DE" sz="5000" b="1" dirty="0">
                <a:solidFill>
                  <a:srgbClr val="FF0000"/>
                </a:solidFill>
                <a:sym typeface="+mn-ea"/>
              </a:rPr>
              <a:t>Decision Tree</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Decision Tree</a:t>
            </a:r>
          </a:p>
        </p:txBody>
      </p:sp>
      <p:sp>
        <p:nvSpPr>
          <p:cNvPr id="3" name="Content Placeholder 2"/>
          <p:cNvSpPr>
            <a:spLocks noGrp="1"/>
          </p:cNvSpPr>
          <p:nvPr>
            <p:ph idx="1"/>
          </p:nvPr>
        </p:nvSpPr>
        <p:spPr>
          <a:xfrm>
            <a:off x="609600" y="802640"/>
            <a:ext cx="10972800" cy="5704840"/>
          </a:xfrm>
        </p:spPr>
        <p:txBody>
          <a:bodyPr/>
          <a:lstStyle/>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A decision tree is a graphical representation of all the possible solutions to a decision based on certain conditions.</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Decision tree is a type of supervised learning algorithm (having a pre-defined target variable) that is mostly used in classification problems.</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The decision tree analyses a data set in order to construct a set of rules, or questions, which are used to predict a class.</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These involve stratifying or segmenting the predictor space into a number of simple regions.</a:t>
            </a:r>
            <a:endParaRPr lang="en-US" sz="1800" dirty="0">
              <a:latin typeface="Arial" panose="020B0604020202020204" pitchFamily="34" charset="0"/>
              <a:cs typeface="Arial" panose="020B0604020202020204" pitchFamily="34" charset="0"/>
            </a:endParaRPr>
          </a:p>
          <a:p>
            <a:pPr>
              <a:buNone/>
            </a:pPr>
            <a:r>
              <a:rPr lang="en-US" sz="1800" b="1" dirty="0">
                <a:latin typeface="Arial" panose="020B0604020202020204" pitchFamily="34" charset="0"/>
                <a:cs typeface="Arial" panose="020B0604020202020204" pitchFamily="34" charset="0"/>
                <a:sym typeface="+mn-ea"/>
              </a:rPr>
              <a:t>Example:</a:t>
            </a:r>
            <a:endParaRPr lang="en-US" sz="1800" b="1"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Let us consider a dataset consisting  lots of different animals and some of their characteristics.</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With the help of these characteristics, can predict their class. </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The tree can be explained by two entities, namely decision nodes and leaves. The leaves are the decisions or the final outcomes. And the decision nodes are where the data is split</a:t>
            </a:r>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6159" y="4636363"/>
            <a:ext cx="6430645" cy="18567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Types of Decision Tree</a:t>
            </a:r>
          </a:p>
        </p:txBody>
      </p:sp>
      <p:sp>
        <p:nvSpPr>
          <p:cNvPr id="3" name="Content Placeholder 2"/>
          <p:cNvSpPr>
            <a:spLocks noGrp="1"/>
          </p:cNvSpPr>
          <p:nvPr>
            <p:ph idx="1"/>
          </p:nvPr>
        </p:nvSpPr>
        <p:spPr>
          <a:xfrm>
            <a:off x="609600" y="829945"/>
            <a:ext cx="10972800" cy="5604510"/>
          </a:xfrm>
        </p:spPr>
        <p:txBody>
          <a:bodyPr/>
          <a:lstStyle/>
          <a:p>
            <a:pPr marL="0" indent="0">
              <a:buNone/>
            </a:pPr>
            <a:r>
              <a:rPr lang="en-US" sz="1800" dirty="0">
                <a:latin typeface="Arial" panose="020B0604020202020204" pitchFamily="34" charset="0"/>
                <a:cs typeface="Arial" panose="020B0604020202020204" pitchFamily="34" charset="0"/>
                <a:sym typeface="+mn-ea"/>
              </a:rPr>
              <a:t>Types of decision tree is based on the type of target variable we have. It can be of two types:</a:t>
            </a:r>
          </a:p>
          <a:p>
            <a:pPr marL="0" indent="0">
              <a:buNone/>
            </a:pPr>
            <a:endParaRPr lang="en-US" sz="1800"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Categorical Variable Decision Tree: </a:t>
            </a:r>
            <a:r>
              <a:rPr lang="en-US" sz="1800" dirty="0">
                <a:latin typeface="Arial" panose="020B0604020202020204" pitchFamily="34" charset="0"/>
                <a:cs typeface="Arial" panose="020B0604020202020204" pitchFamily="34" charset="0"/>
                <a:sym typeface="+mn-ea"/>
              </a:rPr>
              <a:t>Decision Tree which has categorical target variable. Also we can define it as classification problem.</a:t>
            </a:r>
            <a:endParaRPr lang="en-US" sz="1800" dirty="0">
              <a:latin typeface="Arial" panose="020B0604020202020204" pitchFamily="34" charset="0"/>
              <a:cs typeface="Arial" panose="020B0604020202020204" pitchFamily="34" charset="0"/>
            </a:endParaRPr>
          </a:p>
          <a:p>
            <a:pPr marL="0" indent="0">
              <a:buNone/>
            </a:pPr>
            <a:r>
              <a:rPr lang="en-IN" altLang="en-US" sz="1800" b="1" dirty="0">
                <a:latin typeface="Arial" panose="020B0604020202020204" pitchFamily="34" charset="0"/>
                <a:cs typeface="Arial" panose="020B0604020202020204" pitchFamily="34" charset="0"/>
                <a:sym typeface="+mn-ea"/>
              </a:rPr>
              <a:t>	</a:t>
            </a:r>
            <a:r>
              <a:rPr lang="en-US" sz="1800" b="1" dirty="0">
                <a:latin typeface="Arial" panose="020B0604020202020204" pitchFamily="34" charset="0"/>
                <a:cs typeface="Arial" panose="020B0604020202020204" pitchFamily="34" charset="0"/>
                <a:sym typeface="+mn-ea"/>
              </a:rPr>
              <a:t>Example:</a:t>
            </a:r>
            <a:r>
              <a:rPr lang="en-US" sz="1800" dirty="0">
                <a:latin typeface="Arial" panose="020B0604020202020204" pitchFamily="34" charset="0"/>
                <a:cs typeface="Arial" panose="020B0604020202020204" pitchFamily="34" charset="0"/>
                <a:sym typeface="+mn-ea"/>
              </a:rPr>
              <a:t> based on medical history weather a patient detect with cancer or not.</a:t>
            </a:r>
            <a:endParaRPr lang="en-US" sz="1800" b="1" dirty="0">
              <a:latin typeface="Arial" panose="020B0604020202020204" pitchFamily="34" charset="0"/>
              <a:cs typeface="Arial" panose="020B0604020202020204" pitchFamily="34" charset="0"/>
            </a:endParaRPr>
          </a:p>
          <a:p>
            <a:endParaRPr lang="en-US" sz="1800" b="1"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Continuous Variable Decision Tree: </a:t>
            </a:r>
            <a:r>
              <a:rPr lang="en-US" sz="1800" dirty="0">
                <a:latin typeface="Arial" panose="020B0604020202020204" pitchFamily="34" charset="0"/>
                <a:cs typeface="Arial" panose="020B0604020202020204" pitchFamily="34" charset="0"/>
                <a:sym typeface="+mn-ea"/>
              </a:rPr>
              <a:t>Decision Tree has continuous target variable or a regression problem.</a:t>
            </a:r>
            <a:endParaRPr lang="en-US" sz="1800" dirty="0">
              <a:latin typeface="Arial" panose="020B0604020202020204" pitchFamily="34" charset="0"/>
              <a:cs typeface="Arial" panose="020B0604020202020204" pitchFamily="34" charset="0"/>
            </a:endParaRPr>
          </a:p>
          <a:p>
            <a:pPr marL="0" indent="0">
              <a:buNone/>
            </a:pPr>
            <a:r>
              <a:rPr lang="en-IN" altLang="en-US" sz="1800" b="1" dirty="0">
                <a:latin typeface="Arial" panose="020B0604020202020204" pitchFamily="34" charset="0"/>
                <a:cs typeface="Arial" panose="020B0604020202020204" pitchFamily="34" charset="0"/>
                <a:sym typeface="+mn-ea"/>
              </a:rPr>
              <a:t>	</a:t>
            </a:r>
            <a:r>
              <a:rPr lang="en-US" sz="1800" b="1" dirty="0">
                <a:latin typeface="Arial" panose="020B0604020202020204" pitchFamily="34" charset="0"/>
                <a:cs typeface="Arial" panose="020B0604020202020204" pitchFamily="34" charset="0"/>
                <a:sym typeface="+mn-ea"/>
              </a:rPr>
              <a:t>Example: </a:t>
            </a:r>
            <a:r>
              <a:rPr lang="en-US" sz="1800" dirty="0">
                <a:latin typeface="Arial" panose="020B0604020202020204" pitchFamily="34" charset="0"/>
                <a:cs typeface="Arial" panose="020B0604020202020204" pitchFamily="34" charset="0"/>
                <a:sym typeface="+mn-ea"/>
              </a:rPr>
              <a:t>to predict the house price based on certain variables.</a:t>
            </a:r>
            <a:endParaRPr lang="en-US" sz="1800" b="1"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Terminology used in Decision Tree</a:t>
            </a:r>
          </a:p>
        </p:txBody>
      </p:sp>
      <p:sp>
        <p:nvSpPr>
          <p:cNvPr id="3" name="Content Placeholder 2"/>
          <p:cNvSpPr>
            <a:spLocks noGrp="1"/>
          </p:cNvSpPr>
          <p:nvPr>
            <p:ph sz="half" idx="1"/>
          </p:nvPr>
        </p:nvSpPr>
        <p:spPr>
          <a:xfrm>
            <a:off x="609600" y="1033780"/>
            <a:ext cx="5525135" cy="5445760"/>
          </a:xfrm>
        </p:spPr>
        <p:txBody>
          <a:bodyPr/>
          <a:lstStyle/>
          <a:p>
            <a:r>
              <a:rPr lang="en-US" sz="1800" b="1" dirty="0">
                <a:sym typeface="+mn-ea"/>
              </a:rPr>
              <a:t>Root Node: </a:t>
            </a:r>
            <a:r>
              <a:rPr lang="en-US" sz="1800" dirty="0">
                <a:sym typeface="+mn-ea"/>
              </a:rPr>
              <a:t>It represents entire population or sample and this further gets divided into two or more homogeneous sets.</a:t>
            </a:r>
            <a:endParaRPr lang="en-US" sz="1800" dirty="0"/>
          </a:p>
          <a:p>
            <a:r>
              <a:rPr lang="en-US" sz="1800" b="1" dirty="0">
                <a:sym typeface="+mn-ea"/>
              </a:rPr>
              <a:t>Splitting: </a:t>
            </a:r>
            <a:r>
              <a:rPr lang="en-US" sz="1800" dirty="0">
                <a:sym typeface="+mn-ea"/>
              </a:rPr>
              <a:t>It is a process of dividing a node into two or more sub-nodes.</a:t>
            </a:r>
            <a:endParaRPr lang="en-US" sz="1800" dirty="0"/>
          </a:p>
          <a:p>
            <a:r>
              <a:rPr lang="en-US" sz="1800" b="1" dirty="0">
                <a:sym typeface="+mn-ea"/>
              </a:rPr>
              <a:t>Decision Node: </a:t>
            </a:r>
            <a:r>
              <a:rPr lang="en-US" sz="1800" dirty="0">
                <a:sym typeface="+mn-ea"/>
              </a:rPr>
              <a:t>When a sub-node splits into further sub-nodes, then it is called decision node.</a:t>
            </a:r>
            <a:endParaRPr lang="en-US" sz="1800" dirty="0"/>
          </a:p>
          <a:p>
            <a:r>
              <a:rPr lang="en-US" sz="1800" b="1" dirty="0">
                <a:sym typeface="+mn-ea"/>
              </a:rPr>
              <a:t>Leaf/ Terminal Node: </a:t>
            </a:r>
            <a:r>
              <a:rPr lang="en-US" sz="1800" dirty="0">
                <a:sym typeface="+mn-ea"/>
              </a:rPr>
              <a:t>Nodes do not split is called Leaf or Terminal node.</a:t>
            </a:r>
            <a:endParaRPr lang="en-US" sz="1800" dirty="0"/>
          </a:p>
          <a:p>
            <a:r>
              <a:rPr lang="en-US" sz="1800" b="1" dirty="0">
                <a:sym typeface="+mn-ea"/>
              </a:rPr>
              <a:t>Pruning:</a:t>
            </a:r>
            <a:r>
              <a:rPr lang="en-US" sz="1800" dirty="0">
                <a:sym typeface="+mn-ea"/>
              </a:rPr>
              <a:t> It reduces the size of decision trees by removing parts of the tree that do not provide power to classify instances.</a:t>
            </a:r>
          </a:p>
          <a:p>
            <a:r>
              <a:rPr lang="en-US" sz="1800" b="1" dirty="0">
                <a:sym typeface="+mn-ea"/>
              </a:rPr>
              <a:t>Branch / Sub-Tree: </a:t>
            </a:r>
            <a:r>
              <a:rPr lang="en-US" sz="1800" dirty="0">
                <a:sym typeface="+mn-ea"/>
              </a:rPr>
              <a:t>A sub section of entire tree is called branch or sub-tree.</a:t>
            </a:r>
            <a:endParaRPr lang="en-US" sz="1800" b="1" dirty="0"/>
          </a:p>
          <a:p>
            <a:r>
              <a:rPr lang="en-US" sz="1800" b="1" dirty="0">
                <a:sym typeface="+mn-ea"/>
              </a:rPr>
              <a:t>Parent and Child Node: </a:t>
            </a:r>
            <a:r>
              <a:rPr lang="en-US" sz="1800" dirty="0">
                <a:sym typeface="+mn-ea"/>
              </a:rPr>
              <a:t>A node, which is divided into sub-nodes is called parent node of sub-nodes where as sub-nodes are the child of parent node.</a:t>
            </a:r>
            <a:endParaRPr lang="en-US" sz="1800" dirty="0"/>
          </a:p>
          <a:p>
            <a:pPr marL="0" indent="0">
              <a:buNone/>
            </a:pPr>
            <a:br>
              <a:rPr lang="en-US" sz="1800" u="sng" dirty="0">
                <a:sym typeface="+mn-ea"/>
                <a:hlinkClick r:id="rId2"/>
              </a:rPr>
            </a:br>
            <a:endParaRPr lang="en-US" sz="1800" dirty="0"/>
          </a:p>
          <a:p>
            <a:endParaRPr lang="en-US" sz="1800"/>
          </a:p>
        </p:txBody>
      </p:sp>
      <p:pic>
        <p:nvPicPr>
          <p:cNvPr id="2050" name="Picture 2" descr="Decision Tree Terminology, Root Node, Branch, Splitting, Pruning"/>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99200" y="1097915"/>
            <a:ext cx="5411470" cy="45046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solidFill>
                <a:sym typeface="+mn-ea"/>
              </a:rPr>
              <a:t>Split of Tree</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sz="1800" dirty="0">
                <a:sym typeface="+mn-ea"/>
              </a:rPr>
              <a:t>In this procedure all the features are considered and different split points are tried and tested using a cost function. The split with the best cost (or lowest cost) is selected.</a:t>
            </a:r>
            <a:endParaRPr lang="en-US" sz="1800" dirty="0"/>
          </a:p>
          <a:p>
            <a:pPr marL="342900" indent="-342900">
              <a:buFont typeface="Arial" panose="020B0604020202020204" pitchFamily="34" charset="0"/>
              <a:buChar char="•"/>
            </a:pPr>
            <a:r>
              <a:rPr lang="en-US" sz="1800" dirty="0">
                <a:sym typeface="+mn-ea"/>
              </a:rPr>
              <a:t>The decision of making strategic splits heavily affects a tree’s accuracy. The decision criteria is different for classification and regression trees.</a:t>
            </a:r>
            <a:endParaRPr lang="en-US" sz="1800" dirty="0"/>
          </a:p>
          <a:p>
            <a:pPr marL="342900" indent="-342900">
              <a:buFont typeface="Arial" panose="020B0604020202020204" pitchFamily="34" charset="0"/>
              <a:buChar char="•"/>
            </a:pPr>
            <a:r>
              <a:rPr lang="en-US" sz="1800" dirty="0">
                <a:sym typeface="+mn-ea"/>
              </a:rPr>
              <a:t>we can say that purity of the node increases with respect to the target variable. Decision tree splits the nodes on all available variables and then selects the split which results in most homogeneous sub-nodes.</a:t>
            </a:r>
            <a:endParaRPr lang="en-US" sz="1800" dirty="0"/>
          </a:p>
          <a:p>
            <a:pPr marL="342900" indent="-342900">
              <a:buFont typeface="Arial" panose="020B0604020202020204" pitchFamily="34" charset="0"/>
              <a:buChar char="•"/>
            </a:pPr>
            <a:endParaRPr lang="en-US" sz="1800"/>
          </a:p>
        </p:txBody>
      </p:sp>
      <p:pic>
        <p:nvPicPr>
          <p:cNvPr id="2050" name="Picture 2" descr="https://www.analyticsvidhya.com/wp-content/uploads/2015/01/Information_Gain_Decision_Tre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9510" y="3587244"/>
            <a:ext cx="6537920" cy="1781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A Tree Decide Where To Split:</a:t>
            </a:r>
          </a:p>
        </p:txBody>
      </p:sp>
      <p:sp>
        <p:nvSpPr>
          <p:cNvPr id="3" name="Content Placeholder 2"/>
          <p:cNvSpPr>
            <a:spLocks noGrp="1"/>
          </p:cNvSpPr>
          <p:nvPr>
            <p:ph idx="1"/>
          </p:nvPr>
        </p:nvSpPr>
        <p:spPr>
          <a:xfrm>
            <a:off x="609600" y="773430"/>
            <a:ext cx="10972800" cy="5594985"/>
          </a:xfrm>
        </p:spPr>
        <p:txBody>
          <a:bodyPr/>
          <a:lstStyle/>
          <a:p>
            <a:pPr marL="514350" indent="-514350">
              <a:buFont typeface="+mj-lt"/>
              <a:buAutoNum type="arabicPeriod"/>
            </a:pPr>
            <a:r>
              <a:rPr lang="en-US" sz="1800" b="1" dirty="0">
                <a:sym typeface="+mn-ea"/>
              </a:rPr>
              <a:t>Gini Index</a:t>
            </a:r>
            <a:endParaRPr lang="en-US" sz="1800" b="1" dirty="0"/>
          </a:p>
          <a:p>
            <a:pPr marL="342900" indent="-342900">
              <a:buFont typeface="Arial" panose="020B0604020202020204" pitchFamily="34" charset="0"/>
              <a:buChar char="•"/>
            </a:pPr>
            <a:r>
              <a:rPr lang="en-US" sz="1800" dirty="0">
                <a:sym typeface="+mn-ea"/>
              </a:rPr>
              <a:t>The impurity (or purity) measure used in building decision tree in classification is Gini Index. </a:t>
            </a:r>
            <a:endParaRPr lang="en-US" sz="1800" dirty="0"/>
          </a:p>
          <a:p>
            <a:pPr marL="342900" indent="-342900">
              <a:buFont typeface="Arial" panose="020B0604020202020204" pitchFamily="34" charset="0"/>
              <a:buChar char="•"/>
            </a:pPr>
            <a:r>
              <a:rPr lang="en-US" sz="1800" dirty="0">
                <a:sym typeface="+mn-ea"/>
              </a:rPr>
              <a:t>It performs only Binary splits</a:t>
            </a:r>
            <a:endParaRPr lang="en-US" sz="1800" dirty="0"/>
          </a:p>
          <a:p>
            <a:pPr marL="342900" indent="-342900">
              <a:buFont typeface="Arial" panose="020B0604020202020204" pitchFamily="34" charset="0"/>
              <a:buChar char="•"/>
            </a:pPr>
            <a:r>
              <a:rPr lang="en-US" sz="1800" dirty="0">
                <a:sym typeface="+mn-ea"/>
              </a:rPr>
              <a:t>Higher the value of Gini higher the homogeneity.</a:t>
            </a:r>
            <a:endParaRPr lang="en-US" sz="1800" dirty="0"/>
          </a:p>
          <a:p>
            <a:endParaRPr lang="en-US" sz="1800" dirty="0"/>
          </a:p>
          <a:p>
            <a:endParaRPr lang="en-US" sz="1800"/>
          </a:p>
          <a:p>
            <a:pPr marL="0" indent="0">
              <a:buNone/>
            </a:pPr>
            <a:r>
              <a:rPr lang="en-US" sz="1800" b="1" dirty="0">
                <a:sym typeface="+mn-ea"/>
              </a:rPr>
              <a:t>Example</a:t>
            </a:r>
            <a:r>
              <a:rPr lang="en-IN" altLang="en-US" sz="1800" b="1" dirty="0">
                <a:sym typeface="+mn-ea"/>
              </a:rPr>
              <a:t>:</a:t>
            </a:r>
          </a:p>
          <a:p>
            <a:r>
              <a:rPr lang="en-US" sz="1800" dirty="0">
                <a:sym typeface="+mn-ea"/>
              </a:rPr>
              <a:t>There are 30 students, out of which 15 plays cricket.  Identify which split is producing more homogeneous sub-nodes  with the help of Gini index.</a:t>
            </a:r>
            <a:endParaRPr lang="en-US" sz="1800" dirty="0"/>
          </a:p>
          <a:p>
            <a:pPr marL="0" indent="0">
              <a:buNone/>
            </a:pPr>
            <a:r>
              <a:rPr lang="en-US" sz="1800" dirty="0">
                <a:sym typeface="+mn-ea"/>
              </a:rPr>
              <a:t> </a:t>
            </a:r>
            <a:endParaRPr lang="en-US" sz="1800" dirty="0"/>
          </a:p>
          <a:p>
            <a:pPr marL="0" indent="0">
              <a:buNone/>
            </a:pPr>
            <a:endParaRPr lang="en-IN" altLang="en-US" sz="1800" b="1" dirty="0">
              <a:sym typeface="+mn-ea"/>
            </a:endParaRPr>
          </a:p>
        </p:txBody>
      </p:sp>
      <p:pic>
        <p:nvPicPr>
          <p:cNvPr id="4098" name="Picture 2" descr="Gini Index Calcul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5195" y="2106295"/>
            <a:ext cx="1920875" cy="60261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https://www.analyticsvidhya.com/wp-content/uploads/2015/01/Decision_Tree_Algorithm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395" y="3791585"/>
            <a:ext cx="5135880" cy="23863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A Tree Decide Where To Split:</a:t>
            </a:r>
            <a:endParaRPr lang="en-US"/>
          </a:p>
        </p:txBody>
      </p:sp>
      <p:sp>
        <p:nvSpPr>
          <p:cNvPr id="3" name="Content Placeholder 2"/>
          <p:cNvSpPr>
            <a:spLocks noGrp="1"/>
          </p:cNvSpPr>
          <p:nvPr>
            <p:ph idx="1"/>
          </p:nvPr>
        </p:nvSpPr>
        <p:spPr/>
        <p:txBody>
          <a:bodyPr/>
          <a:lstStyle/>
          <a:p>
            <a:pPr marL="0" indent="0">
              <a:buNone/>
            </a:pPr>
            <a:r>
              <a:rPr lang="en-US" sz="1800" b="1" dirty="0">
                <a:sym typeface="+mn-ea"/>
              </a:rPr>
              <a:t>Split on Gender:</a:t>
            </a:r>
            <a:endParaRPr lang="en-US" sz="1800" dirty="0"/>
          </a:p>
          <a:p>
            <a:pPr marL="457200" indent="-457200">
              <a:buFont typeface="+mj-lt"/>
              <a:buAutoNum type="arabicPeriod"/>
            </a:pPr>
            <a:r>
              <a:rPr lang="en-US" sz="1800" dirty="0">
                <a:sym typeface="+mn-ea"/>
              </a:rPr>
              <a:t>Calculate, Gini for sub-node Female = (0.2)*(0.2)+(0.8)*(0.8)=0.68</a:t>
            </a:r>
            <a:endParaRPr lang="en-US" sz="1800" dirty="0"/>
          </a:p>
          <a:p>
            <a:pPr marL="514350" indent="-514350">
              <a:buFont typeface="+mj-lt"/>
              <a:buAutoNum type="arabicPeriod"/>
            </a:pPr>
            <a:r>
              <a:rPr lang="en-US" sz="1800" dirty="0">
                <a:sym typeface="+mn-ea"/>
              </a:rPr>
              <a:t>Gini for sub-node Male = (0.65)*(0.65)+(0.35)*(0.35)=0.55</a:t>
            </a:r>
            <a:endParaRPr lang="en-US" sz="1800" dirty="0"/>
          </a:p>
          <a:p>
            <a:pPr marL="514350" indent="-514350">
              <a:buFont typeface="+mj-lt"/>
              <a:buAutoNum type="arabicPeriod"/>
            </a:pPr>
            <a:r>
              <a:rPr lang="en-US" sz="1800" dirty="0">
                <a:sym typeface="+mn-ea"/>
              </a:rPr>
              <a:t>Calculate weighted Gini for Split Gender = (10/30)*0.68+(20/30)*0.55 = </a:t>
            </a:r>
            <a:r>
              <a:rPr lang="en-US" sz="1800" b="1" dirty="0">
                <a:sym typeface="+mn-ea"/>
              </a:rPr>
              <a:t>0.59</a:t>
            </a:r>
            <a:endParaRPr lang="en-US" sz="1800" dirty="0"/>
          </a:p>
          <a:p>
            <a:endParaRPr lang="en-US" sz="1800" b="1" dirty="0"/>
          </a:p>
          <a:p>
            <a:pPr marL="0" indent="0">
              <a:buNone/>
            </a:pPr>
            <a:r>
              <a:rPr lang="en-US" sz="1800" b="1" dirty="0">
                <a:sym typeface="+mn-ea"/>
              </a:rPr>
              <a:t>Similar for Split on Class:</a:t>
            </a:r>
            <a:endParaRPr lang="en-US" sz="1800" dirty="0"/>
          </a:p>
          <a:p>
            <a:pPr marL="514350" indent="-514350">
              <a:buFont typeface="+mj-lt"/>
              <a:buAutoNum type="arabicPeriod"/>
            </a:pPr>
            <a:r>
              <a:rPr lang="en-US" sz="1800" dirty="0">
                <a:sym typeface="+mn-ea"/>
              </a:rPr>
              <a:t>Gini for sub-node Class IX = (0.43)*(0.43)+(0.57)*(0.57)=0.51</a:t>
            </a:r>
            <a:endParaRPr lang="en-US" sz="1800" dirty="0"/>
          </a:p>
          <a:p>
            <a:pPr marL="514350" indent="-514350">
              <a:buFont typeface="+mj-lt"/>
              <a:buAutoNum type="arabicPeriod"/>
            </a:pPr>
            <a:r>
              <a:rPr lang="en-US" sz="1800" dirty="0">
                <a:sym typeface="+mn-ea"/>
              </a:rPr>
              <a:t>Gini for sub-node Class X = (0.56)*(0.56)+(0.44)*(0.44)=0.51</a:t>
            </a:r>
            <a:endParaRPr lang="en-US" sz="1800" dirty="0"/>
          </a:p>
          <a:p>
            <a:pPr marL="514350" indent="-514350">
              <a:buFont typeface="+mj-lt"/>
              <a:buAutoNum type="arabicPeriod"/>
            </a:pPr>
            <a:r>
              <a:rPr lang="en-US" sz="1800" dirty="0">
                <a:sym typeface="+mn-ea"/>
              </a:rPr>
              <a:t>Calculate weighted Gini for Split Class = (14/30)*0.51+(16/30)*0.51 = </a:t>
            </a:r>
            <a:r>
              <a:rPr lang="en-US" sz="1800" b="1" dirty="0">
                <a:sym typeface="+mn-ea"/>
              </a:rPr>
              <a:t>0.51</a:t>
            </a:r>
            <a:endParaRPr lang="en-US" sz="1800" dirty="0"/>
          </a:p>
          <a:p>
            <a:pPr marL="0" indent="0">
              <a:buNone/>
            </a:pPr>
            <a:endParaRPr lang="en-US" sz="1800" dirty="0">
              <a:sym typeface="+mn-ea"/>
            </a:endParaRPr>
          </a:p>
          <a:p>
            <a:pPr marL="0" indent="0">
              <a:buNone/>
            </a:pPr>
            <a:r>
              <a:rPr lang="en-US" sz="1800" dirty="0">
                <a:sym typeface="+mn-ea"/>
              </a:rPr>
              <a:t>Above, Gini score for </a:t>
            </a:r>
            <a:r>
              <a:rPr lang="en-US" sz="1800" i="1" dirty="0">
                <a:sym typeface="+mn-ea"/>
              </a:rPr>
              <a:t>Split on Gender</a:t>
            </a:r>
            <a:r>
              <a:rPr lang="en-US" sz="1800" dirty="0">
                <a:sym typeface="+mn-ea"/>
              </a:rPr>
              <a:t> is higher than </a:t>
            </a:r>
            <a:r>
              <a:rPr lang="en-US" sz="1800" i="1" dirty="0">
                <a:sym typeface="+mn-ea"/>
              </a:rPr>
              <a:t>Split on Class,</a:t>
            </a:r>
            <a:r>
              <a:rPr lang="en-US" sz="1800" dirty="0">
                <a:sym typeface="+mn-ea"/>
              </a:rPr>
              <a:t> hence, the node split will take place on Gender.</a:t>
            </a:r>
            <a:endParaRPr lang="en-US" sz="1800" dirty="0"/>
          </a:p>
          <a:p>
            <a:endParaRPr 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Information Gain:</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IN" sz="1800" dirty="0">
                <a:sym typeface="+mn-ea"/>
              </a:rPr>
              <a:t>The attribute with highest information gain is considered the best.</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Less impure node requires less information to describe it.</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And, more impure node requires more information.</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Information theory is measure to define this degree of disorganization in a system known as </a:t>
            </a:r>
            <a:r>
              <a:rPr lang="en-US" sz="1800" b="1" dirty="0">
                <a:sym typeface="+mn-ea"/>
              </a:rPr>
              <a:t>Entropy</a:t>
            </a:r>
            <a:r>
              <a:rPr lang="en-US" sz="1800" dirty="0">
                <a:sym typeface="+mn-ea"/>
              </a:rPr>
              <a:t>.</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If the sample is completely homogenous, then the entropy is zero and if the sample is an equally divided (50% - 50%), it has entropy of one. </a:t>
            </a:r>
            <a:endParaRPr lang="en-US" sz="1800" dirty="0"/>
          </a:p>
          <a:p>
            <a:endParaRPr lang="en-US" sz="1800" dirty="0"/>
          </a:p>
          <a:p>
            <a:endParaRPr 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chemeClr val="accent6"/>
                </a:solidFill>
                <a:sym typeface="+mn-ea"/>
              </a:rPr>
              <a:t>Entropy</a:t>
            </a:r>
          </a:p>
        </p:txBody>
      </p:sp>
      <p:sp>
        <p:nvSpPr>
          <p:cNvPr id="3" name="Content Placeholder 2"/>
          <p:cNvSpPr>
            <a:spLocks noGrp="1"/>
          </p:cNvSpPr>
          <p:nvPr>
            <p:ph idx="1"/>
          </p:nvPr>
        </p:nvSpPr>
        <p:spPr>
          <a:xfrm>
            <a:off x="609600" y="1174750"/>
            <a:ext cx="10972800" cy="5126990"/>
          </a:xfrm>
        </p:spPr>
        <p:txBody>
          <a:bodyPr/>
          <a:lstStyle/>
          <a:p>
            <a:pPr marL="342900" indent="-342900">
              <a:buFont typeface="Arial" panose="020B0604020202020204" pitchFamily="34" charset="0"/>
              <a:buChar char="•"/>
            </a:pPr>
            <a:r>
              <a:rPr lang="en-IN" sz="1800" dirty="0">
                <a:sym typeface="+mn-ea"/>
              </a:rPr>
              <a:t>Entropy is measure of impurity,  disorder or uncertainty.</a:t>
            </a:r>
            <a:endParaRPr lang="en-IN" sz="1800" dirty="0"/>
          </a:p>
          <a:p>
            <a:pPr marL="342900" indent="-342900">
              <a:buFont typeface="Arial" panose="020B0604020202020204" pitchFamily="34" charset="0"/>
              <a:buChar char="•"/>
            </a:pPr>
            <a:r>
              <a:rPr lang="en-IN" sz="1800" dirty="0">
                <a:sym typeface="+mn-ea"/>
              </a:rPr>
              <a:t>It is measure of randomness, how random the data is. </a:t>
            </a:r>
            <a:endParaRPr lang="en-IN" sz="1800" dirty="0"/>
          </a:p>
          <a:p>
            <a:endParaRPr lang="en-US" sz="1800" dirty="0"/>
          </a:p>
          <a:p>
            <a:endParaRPr lang="en-US" sz="1800"/>
          </a:p>
        </p:txBody>
      </p:sp>
      <p:pic>
        <p:nvPicPr>
          <p:cNvPr id="5122" name="Picture 2" descr="https://cdn-images-1.medium.com/max/1500/1*S6zcbdAzUvIOKBaWBKp9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855" y="1961515"/>
            <a:ext cx="7805420" cy="145859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cdn-images-1.medium.com/max/800/0*KLhgaRH43lGDOKS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430" y="3632200"/>
            <a:ext cx="4184015" cy="2495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9235"/>
            <a:ext cx="10972800" cy="6337935"/>
          </a:xfrm>
        </p:spPr>
        <p:txBody>
          <a:bodyPr/>
          <a:lstStyle/>
          <a:p>
            <a:pPr marL="285750" indent="-285750">
              <a:buFont typeface="Wingdings" panose="05000000000000000000" pitchFamily="2" charset="2"/>
              <a:buChar char="Ø"/>
            </a:pPr>
            <a:r>
              <a:rPr lang="en-IN" sz="1800" dirty="0">
                <a:latin typeface="Arial" panose="020B0604020202020204" pitchFamily="34" charset="0"/>
                <a:cs typeface="Arial" panose="020B0604020202020204" pitchFamily="34" charset="0"/>
                <a:sym typeface="+mn-ea"/>
              </a:rPr>
              <a:t> Let’s consider an example   </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sym typeface="+mn-ea"/>
              </a:rPr>
              <a:t>Here in the table, Grade and Speed limit are the features and Speed is label</a:t>
            </a:r>
            <a:endParaRPr lang="en-IN"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In the Grade column there are four values and correspond that values there are four</a:t>
            </a: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labels.</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IN"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1800" dirty="0">
                <a:latin typeface="Arial" panose="020B0604020202020204" pitchFamily="34" charset="0"/>
                <a:cs typeface="Arial" panose="020B0604020202020204" pitchFamily="34" charset="0"/>
                <a:sym typeface="+mn-ea"/>
              </a:rPr>
              <a:t>Lets consider all the labels as a parent node.</a:t>
            </a: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1800" dirty="0">
                <a:latin typeface="Arial" panose="020B0604020202020204" pitchFamily="34" charset="0"/>
                <a:cs typeface="Arial" panose="020B0604020202020204" pitchFamily="34" charset="0"/>
                <a:sym typeface="+mn-ea"/>
              </a:rPr>
              <a:t>SSFF =&gt; parent node</a:t>
            </a:r>
            <a:endParaRPr lang="en-US" sz="1800" dirty="0">
              <a:latin typeface="Arial" panose="020B0604020202020204" pitchFamily="34" charset="0"/>
              <a:cs typeface="Arial" panose="020B0604020202020204" pitchFamily="34" charset="0"/>
            </a:endParaRPr>
          </a:p>
          <a:p>
            <a:pPr>
              <a:buNone/>
            </a:pPr>
            <a:r>
              <a:rPr lang="en-US" sz="1800" b="1" i="1" dirty="0">
                <a:latin typeface="Arial" panose="020B0604020202020204" pitchFamily="34" charset="0"/>
                <a:cs typeface="Arial" panose="020B0604020202020204" pitchFamily="34" charset="0"/>
                <a:sym typeface="+mn-ea"/>
              </a:rPr>
              <a:t> So, what is the entropy of this parent node ?</a:t>
            </a:r>
            <a:endParaRPr lang="en-US" sz="1800" b="1" i="1" dirty="0">
              <a:latin typeface="Arial" panose="020B0604020202020204" pitchFamily="34" charset="0"/>
              <a:cs typeface="Arial" panose="020B0604020202020204" pitchFamily="34" charset="0"/>
            </a:endParaRPr>
          </a:p>
          <a:p>
            <a:pPr>
              <a:buNone/>
            </a:pPr>
            <a:r>
              <a:rPr lang="en-US" sz="1800" dirty="0">
                <a:latin typeface="Arial" panose="020B0604020202020204" pitchFamily="34" charset="0"/>
                <a:cs typeface="Arial" panose="020B0604020202020204" pitchFamily="34" charset="0"/>
                <a:sym typeface="+mn-ea"/>
              </a:rPr>
              <a:t> p(slow) = no. of slow examples in parent node / total number of examples</a:t>
            </a:r>
            <a:br>
              <a:rPr lang="en-US" sz="1800" dirty="0">
                <a:latin typeface="Arial" panose="020B0604020202020204" pitchFamily="34" charset="0"/>
                <a:cs typeface="Arial" panose="020B0604020202020204" pitchFamily="34" charset="0"/>
                <a:sym typeface="+mn-ea"/>
              </a:rPr>
            </a:br>
            <a:endParaRPr lang="en-US" sz="1800" dirty="0">
              <a:latin typeface="Arial" panose="020B0604020202020204" pitchFamily="34" charset="0"/>
              <a:cs typeface="Arial" panose="020B0604020202020204" pitchFamily="34" charset="0"/>
            </a:endParaRPr>
          </a:p>
          <a:p>
            <a:pPr>
              <a:buNone/>
            </a:pPr>
            <a:endParaRPr lang="en-US" sz="1800" dirty="0">
              <a:latin typeface="Arial" panose="020B0604020202020204" pitchFamily="34" charset="0"/>
              <a:cs typeface="Arial" panose="020B0604020202020204" pitchFamily="34" charset="0"/>
            </a:endParaRPr>
          </a:p>
          <a:p>
            <a:pPr>
              <a:buNone/>
            </a:pPr>
            <a:r>
              <a:rPr lang="en-US" sz="1800" dirty="0">
                <a:latin typeface="Arial" panose="020B0604020202020204" pitchFamily="34" charset="0"/>
                <a:cs typeface="Arial" panose="020B0604020202020204" pitchFamily="34" charset="0"/>
                <a:sym typeface="+mn-ea"/>
              </a:rPr>
              <a:t>Similarly, for p(fast)</a:t>
            </a:r>
            <a:endParaRPr lang="en-US" sz="1800" dirty="0">
              <a:latin typeface="Arial" panose="020B0604020202020204" pitchFamily="34" charset="0"/>
              <a:cs typeface="Arial" panose="020B0604020202020204" pitchFamily="34" charset="0"/>
            </a:endParaRPr>
          </a:p>
          <a:p>
            <a:pPr>
              <a:buNone/>
            </a:pP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nvGraphicFramePr>
        <p:xfrm>
          <a:off x="2529840" y="1331595"/>
          <a:ext cx="3893820" cy="2103120"/>
        </p:xfrm>
        <a:graphic>
          <a:graphicData uri="http://schemas.openxmlformats.org/drawingml/2006/table">
            <a:tbl>
              <a:tblPr firstRow="1" bandRow="1">
                <a:tableStyleId>{5C22544A-7EE6-4342-B048-85BDC9FD1C3A}</a:tableStyleId>
              </a:tblPr>
              <a:tblGrid>
                <a:gridCol w="1297940">
                  <a:extLst>
                    <a:ext uri="{9D8B030D-6E8A-4147-A177-3AD203B41FA5}">
                      <a16:colId xmlns:a16="http://schemas.microsoft.com/office/drawing/2014/main" val="20000"/>
                    </a:ext>
                  </a:extLst>
                </a:gridCol>
                <a:gridCol w="1297940">
                  <a:extLst>
                    <a:ext uri="{9D8B030D-6E8A-4147-A177-3AD203B41FA5}">
                      <a16:colId xmlns:a16="http://schemas.microsoft.com/office/drawing/2014/main" val="20001"/>
                    </a:ext>
                  </a:extLst>
                </a:gridCol>
                <a:gridCol w="1297940">
                  <a:extLst>
                    <a:ext uri="{9D8B030D-6E8A-4147-A177-3AD203B41FA5}">
                      <a16:colId xmlns:a16="http://schemas.microsoft.com/office/drawing/2014/main" val="20002"/>
                    </a:ext>
                  </a:extLst>
                </a:gridCol>
              </a:tblGrid>
              <a:tr h="640080">
                <a:tc>
                  <a:txBody>
                    <a:bodyPr/>
                    <a:lstStyle/>
                    <a:p>
                      <a:r>
                        <a:rPr lang="en-IN" dirty="0"/>
                        <a:t>Grade</a:t>
                      </a:r>
                      <a:endParaRPr lang="en-US" dirty="0"/>
                    </a:p>
                  </a:txBody>
                  <a:tcPr/>
                </a:tc>
                <a:tc>
                  <a:txBody>
                    <a:bodyPr/>
                    <a:lstStyle/>
                    <a:p>
                      <a:r>
                        <a:rPr lang="en-IN" dirty="0"/>
                        <a:t>Speed limit</a:t>
                      </a:r>
                      <a:endParaRPr lang="en-US" dirty="0"/>
                    </a:p>
                  </a:txBody>
                  <a:tcPr/>
                </a:tc>
                <a:tc>
                  <a:txBody>
                    <a:bodyPr/>
                    <a:lstStyle/>
                    <a:p>
                      <a:r>
                        <a:rPr lang="en-IN" dirty="0"/>
                        <a:t>Speed </a:t>
                      </a:r>
                      <a:endParaRPr lang="en-US" dirty="0"/>
                    </a:p>
                  </a:txBody>
                  <a:tcPr/>
                </a:tc>
                <a:extLst>
                  <a:ext uri="{0D108BD9-81ED-4DB2-BD59-A6C34878D82A}">
                    <a16:rowId xmlns:a16="http://schemas.microsoft.com/office/drawing/2014/main" val="10000"/>
                  </a:ext>
                </a:extLst>
              </a:tr>
              <a:tr h="365760">
                <a:tc>
                  <a:txBody>
                    <a:bodyPr/>
                    <a:lstStyle/>
                    <a:p>
                      <a:r>
                        <a:rPr lang="en-IN" dirty="0"/>
                        <a:t>Steep</a:t>
                      </a:r>
                      <a:endParaRPr lang="en-US" dirty="0"/>
                    </a:p>
                  </a:txBody>
                  <a:tcPr/>
                </a:tc>
                <a:tc>
                  <a:txBody>
                    <a:bodyPr/>
                    <a:lstStyle/>
                    <a:p>
                      <a:r>
                        <a:rPr lang="en-IN" dirty="0"/>
                        <a:t>Yes</a:t>
                      </a:r>
                      <a:endParaRPr lang="en-US" dirty="0"/>
                    </a:p>
                  </a:txBody>
                  <a:tcPr/>
                </a:tc>
                <a:tc>
                  <a:txBody>
                    <a:bodyPr/>
                    <a:lstStyle/>
                    <a:p>
                      <a:r>
                        <a:rPr lang="en-IN" dirty="0"/>
                        <a:t>Slow</a:t>
                      </a:r>
                      <a:endParaRPr lang="en-US" dirty="0"/>
                    </a:p>
                  </a:txBody>
                  <a:tcPr/>
                </a:tc>
                <a:extLst>
                  <a:ext uri="{0D108BD9-81ED-4DB2-BD59-A6C34878D82A}">
                    <a16:rowId xmlns:a16="http://schemas.microsoft.com/office/drawing/2014/main" val="10001"/>
                  </a:ext>
                </a:extLst>
              </a:tr>
              <a:tr h="365760">
                <a:tc>
                  <a:txBody>
                    <a:bodyPr/>
                    <a:lstStyle/>
                    <a:p>
                      <a:r>
                        <a:rPr lang="en-IN" dirty="0"/>
                        <a:t>Steep</a:t>
                      </a:r>
                      <a:endParaRPr lang="en-US" dirty="0"/>
                    </a:p>
                  </a:txBody>
                  <a:tcPr/>
                </a:tc>
                <a:tc>
                  <a:txBody>
                    <a:bodyPr/>
                    <a:lstStyle/>
                    <a:p>
                      <a:r>
                        <a:rPr lang="en-IN" dirty="0"/>
                        <a:t>Yes</a:t>
                      </a:r>
                      <a:endParaRPr lang="en-US" dirty="0"/>
                    </a:p>
                  </a:txBody>
                  <a:tcPr/>
                </a:tc>
                <a:tc>
                  <a:txBody>
                    <a:bodyPr/>
                    <a:lstStyle/>
                    <a:p>
                      <a:r>
                        <a:rPr lang="en-IN" dirty="0"/>
                        <a:t>Slow</a:t>
                      </a:r>
                      <a:endParaRPr lang="en-US" dirty="0"/>
                    </a:p>
                  </a:txBody>
                  <a:tcPr/>
                </a:tc>
                <a:extLst>
                  <a:ext uri="{0D108BD9-81ED-4DB2-BD59-A6C34878D82A}">
                    <a16:rowId xmlns:a16="http://schemas.microsoft.com/office/drawing/2014/main" val="10002"/>
                  </a:ext>
                </a:extLst>
              </a:tr>
              <a:tr h="365760">
                <a:tc>
                  <a:txBody>
                    <a:bodyPr/>
                    <a:lstStyle/>
                    <a:p>
                      <a:r>
                        <a:rPr lang="en-IN" dirty="0"/>
                        <a:t>flat</a:t>
                      </a:r>
                      <a:endParaRPr lang="en-US" dirty="0"/>
                    </a:p>
                  </a:txBody>
                  <a:tcPr/>
                </a:tc>
                <a:tc>
                  <a:txBody>
                    <a:bodyPr/>
                    <a:lstStyle/>
                    <a:p>
                      <a:r>
                        <a:rPr lang="en-IN" dirty="0"/>
                        <a:t>no</a:t>
                      </a:r>
                      <a:endParaRPr lang="en-US" dirty="0"/>
                    </a:p>
                  </a:txBody>
                  <a:tcPr/>
                </a:tc>
                <a:tc>
                  <a:txBody>
                    <a:bodyPr/>
                    <a:lstStyle/>
                    <a:p>
                      <a:r>
                        <a:rPr lang="en-IN" dirty="0"/>
                        <a:t>fast</a:t>
                      </a:r>
                      <a:endParaRPr lang="en-US" dirty="0"/>
                    </a:p>
                  </a:txBody>
                  <a:tcPr/>
                </a:tc>
                <a:extLst>
                  <a:ext uri="{0D108BD9-81ED-4DB2-BD59-A6C34878D82A}">
                    <a16:rowId xmlns:a16="http://schemas.microsoft.com/office/drawing/2014/main" val="10003"/>
                  </a:ext>
                </a:extLst>
              </a:tr>
              <a:tr h="365760">
                <a:tc>
                  <a:txBody>
                    <a:bodyPr/>
                    <a:lstStyle/>
                    <a:p>
                      <a:r>
                        <a:rPr lang="en-IN" dirty="0"/>
                        <a:t>steep</a:t>
                      </a:r>
                      <a:endParaRPr lang="en-US" dirty="0"/>
                    </a:p>
                  </a:txBody>
                  <a:tcPr/>
                </a:tc>
                <a:tc>
                  <a:txBody>
                    <a:bodyPr/>
                    <a:lstStyle/>
                    <a:p>
                      <a:r>
                        <a:rPr lang="en-IN" dirty="0"/>
                        <a:t>no</a:t>
                      </a:r>
                      <a:endParaRPr lang="en-US" dirty="0"/>
                    </a:p>
                  </a:txBody>
                  <a:tcPr/>
                </a:tc>
                <a:tc>
                  <a:txBody>
                    <a:bodyPr/>
                    <a:lstStyle/>
                    <a:p>
                      <a:r>
                        <a:rPr lang="en-IN" dirty="0"/>
                        <a:t>fast</a:t>
                      </a:r>
                      <a:endParaRPr lang="en-US" dirty="0"/>
                    </a:p>
                  </a:txBody>
                  <a:tcPr/>
                </a:tc>
                <a:extLst>
                  <a:ext uri="{0D108BD9-81ED-4DB2-BD59-A6C34878D82A}">
                    <a16:rowId xmlns:a16="http://schemas.microsoft.com/office/drawing/2014/main" val="10004"/>
                  </a:ext>
                </a:extLst>
              </a:tr>
            </a:tbl>
          </a:graphicData>
        </a:graphic>
      </p:graphicFrame>
      <p:pic>
        <p:nvPicPr>
          <p:cNvPr id="6146" name="Picture 2" descr="https://cdn-images-1.medium.com/max/1600/1*0GTDce7-b91KRBX3Y4vRZw.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6915" y="4921885"/>
            <a:ext cx="2071370" cy="63373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s://cdn-images-1.medium.com/max/800/1*3MFS_JRVnUCmcjQ5WDEZMQ.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915" y="5783580"/>
            <a:ext cx="2071370" cy="695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87325"/>
            <a:ext cx="10972800" cy="6430010"/>
          </a:xfrm>
        </p:spPr>
        <p:txBody>
          <a:bodyPr/>
          <a:lstStyle/>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So, the </a:t>
            </a:r>
            <a:r>
              <a:rPr lang="en-US" sz="1800" b="1" dirty="0">
                <a:latin typeface="Arial" panose="020B0604020202020204" pitchFamily="34" charset="0"/>
                <a:cs typeface="Arial" panose="020B0604020202020204" pitchFamily="34" charset="0"/>
                <a:sym typeface="+mn-ea"/>
              </a:rPr>
              <a:t>entropy</a:t>
            </a:r>
            <a:r>
              <a:rPr lang="en-US" sz="1800" dirty="0">
                <a:latin typeface="Arial" panose="020B0604020202020204" pitchFamily="34" charset="0"/>
                <a:cs typeface="Arial" panose="020B0604020202020204" pitchFamily="34" charset="0"/>
                <a:sym typeface="+mn-ea"/>
              </a:rPr>
              <a:t> of parent node:</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pPr>
              <a:buNone/>
            </a:pPr>
            <a:r>
              <a:rPr lang="en-US" sz="1800" dirty="0">
                <a:latin typeface="Arial" panose="020B0604020202020204" pitchFamily="34" charset="0"/>
                <a:cs typeface="Arial" panose="020B0604020202020204" pitchFamily="34" charset="0"/>
                <a:sym typeface="+mn-ea"/>
              </a:rPr>
              <a:t>                 </a:t>
            </a:r>
            <a:endParaRPr lang="en-US" sz="1800" dirty="0">
              <a:latin typeface="Arial" panose="020B0604020202020204" pitchFamily="34" charset="0"/>
              <a:cs typeface="Arial" panose="020B0604020202020204" pitchFamily="34" charset="0"/>
            </a:endParaRPr>
          </a:p>
          <a:p>
            <a:pPr>
              <a:buNone/>
            </a:pPr>
            <a:r>
              <a:rPr lang="en-US" sz="1800" dirty="0">
                <a:latin typeface="Arial" panose="020B0604020202020204" pitchFamily="34" charset="0"/>
                <a:cs typeface="Arial" panose="020B0604020202020204" pitchFamily="34" charset="0"/>
                <a:sym typeface="+mn-ea"/>
              </a:rPr>
              <a:t>      Entropy(parent) = - {0.5 log2(0.5) + 0.5 log2(0.5)}</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 - {-0.5 + (-0.5)}</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 1</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1800" dirty="0">
                <a:latin typeface="Arial" panose="020B0604020202020204" pitchFamily="34" charset="0"/>
                <a:cs typeface="Arial" panose="020B0604020202020204" pitchFamily="34" charset="0"/>
                <a:sym typeface="+mn-ea"/>
              </a:rPr>
              <a:t>So the entropy of parent node is 1.</a:t>
            </a:r>
            <a:endParaRPr lang="en-IN"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We can derive information gain from entropy as </a:t>
            </a:r>
          </a:p>
          <a:p>
            <a:pPr marL="342900" indent="-34290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endParaRPr lang="en-US" sz="1800" b="1" dirty="0">
              <a:latin typeface="Arial" panose="020B0604020202020204" pitchFamily="34" charset="0"/>
              <a:cs typeface="Arial" panose="020B0604020202020204" pitchFamily="34" charset="0"/>
            </a:endParaRPr>
          </a:p>
          <a:p>
            <a:endParaRPr lang="en-US" sz="1800" b="1" dirty="0">
              <a:latin typeface="Arial" panose="020B0604020202020204" pitchFamily="34" charset="0"/>
              <a:cs typeface="Arial" panose="020B0604020202020204" pitchFamily="34" charset="0"/>
            </a:endParaRPr>
          </a:p>
          <a:p>
            <a:pPr>
              <a:buNone/>
            </a:pPr>
            <a:r>
              <a:rPr lang="en-US" sz="1800" b="1" dirty="0">
                <a:latin typeface="Arial" panose="020B0604020202020204" pitchFamily="34" charset="0"/>
                <a:cs typeface="Arial" panose="020B0604020202020204" pitchFamily="34" charset="0"/>
                <a:sym typeface="+mn-ea"/>
              </a:rPr>
              <a:t>Algorithm</a:t>
            </a:r>
            <a:r>
              <a:rPr lang="en-US" sz="1800" dirty="0">
                <a:latin typeface="Arial" panose="020B0604020202020204" pitchFamily="34" charset="0"/>
                <a:cs typeface="Arial" panose="020B0604020202020204" pitchFamily="34" charset="0"/>
                <a:sym typeface="+mn-ea"/>
              </a:rPr>
              <a:t> construct a </a:t>
            </a:r>
            <a:r>
              <a:rPr lang="en-US" sz="1800" b="1" dirty="0">
                <a:latin typeface="Arial" panose="020B0604020202020204" pitchFamily="34" charset="0"/>
                <a:cs typeface="Arial" panose="020B0604020202020204" pitchFamily="34" charset="0"/>
                <a:sym typeface="+mn-ea"/>
              </a:rPr>
              <a:t>Decision Tree </a:t>
            </a:r>
            <a:r>
              <a:rPr lang="en-US" sz="1800" dirty="0">
                <a:latin typeface="Arial" panose="020B0604020202020204" pitchFamily="34" charset="0"/>
                <a:cs typeface="Arial" panose="020B0604020202020204" pitchFamily="34" charset="0"/>
                <a:sym typeface="+mn-ea"/>
              </a:rPr>
              <a:t>based on </a:t>
            </a:r>
            <a:r>
              <a:rPr lang="en-US" sz="1800" b="1" dirty="0">
                <a:latin typeface="Arial" panose="020B0604020202020204" pitchFamily="34" charset="0"/>
                <a:cs typeface="Arial" panose="020B0604020202020204" pitchFamily="34" charset="0"/>
                <a:sym typeface="+mn-ea"/>
              </a:rPr>
              <a:t>Information gain </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 First lets check whether the parent node split by Grade or not.</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To find out </a:t>
            </a:r>
            <a:r>
              <a:rPr lang="en-US" sz="1800" b="1" i="1" dirty="0">
                <a:latin typeface="Arial" panose="020B0604020202020204" pitchFamily="34" charset="0"/>
                <a:cs typeface="Arial" panose="020B0604020202020204" pitchFamily="34" charset="0"/>
                <a:sym typeface="+mn-ea"/>
              </a:rPr>
              <a:t>Information gain of </a:t>
            </a:r>
            <a:r>
              <a:rPr lang="en-US" sz="1800" dirty="0">
                <a:latin typeface="Arial" panose="020B0604020202020204" pitchFamily="34" charset="0"/>
                <a:cs typeface="Arial" panose="020B0604020202020204" pitchFamily="34" charset="0"/>
                <a:sym typeface="+mn-ea"/>
              </a:rPr>
              <a:t>Grade feature, we need to </a:t>
            </a:r>
          </a:p>
          <a:p>
            <a:pPr marL="0" indent="0">
              <a:buNone/>
            </a:pP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virtually split the parent node</a:t>
            </a: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by Grade feature.</a:t>
            </a:r>
          </a:p>
          <a:p>
            <a:pPr marL="0" indent="0">
              <a:buNone/>
            </a:pP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Entropy of right child node (F) is 0, because this node belongs </a:t>
            </a:r>
          </a:p>
          <a:p>
            <a:pPr marL="0" indent="0">
              <a:buNone/>
            </a:pP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to the same class.</a:t>
            </a:r>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7170" name="Picture 2" descr="https://cdn-images-1.medium.com/max/800/1*TwnG1LE42PCEgeFatN_c9w.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690" y="621030"/>
            <a:ext cx="5734685" cy="6413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cdn-images-1.medium.com/max/800/1*bVGWGETTor7bSnhr7sXE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3770" y="3080385"/>
            <a:ext cx="6559550" cy="842010"/>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s://cdn-images-1.medium.com/max/800/1*kJEMr-vxkWKI7Mi3Bzz8J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9095" y="4147704"/>
            <a:ext cx="3276600" cy="15891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9235"/>
            <a:ext cx="10972800" cy="6243320"/>
          </a:xfrm>
        </p:spPr>
        <p:txBody>
          <a:bodyPr/>
          <a:lstStyle/>
          <a:p>
            <a:pPr marL="0" indent="0">
              <a:buNone/>
            </a:pPr>
            <a:r>
              <a:rPr lang="en-US" sz="1800" dirty="0">
                <a:latin typeface="Arial" panose="020B0604020202020204" pitchFamily="34" charset="0"/>
                <a:cs typeface="Arial" panose="020B0604020202020204" pitchFamily="34" charset="0"/>
                <a:sym typeface="+mn-ea"/>
              </a:rPr>
              <a:t>Lets find out </a:t>
            </a:r>
            <a:r>
              <a:rPr lang="en-US" sz="1800" b="1" i="1" dirty="0">
                <a:latin typeface="Arial" panose="020B0604020202020204" pitchFamily="34" charset="0"/>
                <a:cs typeface="Arial" panose="020B0604020202020204" pitchFamily="34" charset="0"/>
                <a:sym typeface="+mn-ea"/>
              </a:rPr>
              <a:t>Entropy </a:t>
            </a:r>
            <a:r>
              <a:rPr lang="en-US" sz="1800" dirty="0">
                <a:latin typeface="Arial" panose="020B0604020202020204" pitchFamily="34" charset="0"/>
                <a:cs typeface="Arial" panose="020B0604020202020204" pitchFamily="34" charset="0"/>
                <a:sym typeface="+mn-ea"/>
              </a:rPr>
              <a:t>of the left side node SSF:</a:t>
            </a: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In this node SSF there are two type of examples present, so we need to find out the </a:t>
            </a:r>
            <a:r>
              <a:rPr lang="en-US" sz="1800" b="1" i="1" dirty="0">
                <a:latin typeface="Arial" panose="020B0604020202020204" pitchFamily="34" charset="0"/>
                <a:cs typeface="Arial" panose="020B0604020202020204" pitchFamily="34" charset="0"/>
                <a:sym typeface="+mn-ea"/>
              </a:rPr>
              <a:t>fraction of slow and fast example </a:t>
            </a:r>
            <a:r>
              <a:rPr lang="en-US" sz="1800" dirty="0">
                <a:latin typeface="Arial" panose="020B0604020202020204" pitchFamily="34" charset="0"/>
                <a:cs typeface="Arial" panose="020B0604020202020204" pitchFamily="34" charset="0"/>
                <a:sym typeface="+mn-ea"/>
              </a:rPr>
              <a:t>separately for this node.</a:t>
            </a:r>
            <a:endParaRPr lang="en-US" sz="1800" dirty="0">
              <a:latin typeface="Arial" panose="020B0604020202020204" pitchFamily="34" charset="0"/>
              <a:cs typeface="Arial" panose="020B0604020202020204" pitchFamily="34" charset="0"/>
            </a:endParaRPr>
          </a:p>
          <a:p>
            <a:pPr marL="457200" lvl="1" indent="0">
              <a:buNone/>
            </a:pPr>
            <a:r>
              <a:rPr lang="en-US" sz="1575"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P(slow) = 2/3 = 0.667</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P(fast) = 1/3 = 0.334</a:t>
            </a:r>
          </a:p>
          <a:p>
            <a:pPr marL="457200" lvl="1" indent="0">
              <a:buNone/>
            </a:pP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Entropy(SSF)</a:t>
            </a:r>
            <a:r>
              <a:rPr lang="en-US" sz="1800" b="1" dirty="0">
                <a:latin typeface="Arial" panose="020B0604020202020204" pitchFamily="34" charset="0"/>
                <a:cs typeface="Arial" panose="020B0604020202020204" pitchFamily="34" charset="0"/>
                <a:sym typeface="+mn-ea"/>
              </a:rPr>
              <a:t> = </a:t>
            </a:r>
            <a:r>
              <a:rPr lang="en-US" sz="1800" dirty="0">
                <a:latin typeface="Arial" panose="020B0604020202020204" pitchFamily="34" charset="0"/>
                <a:cs typeface="Arial" panose="020B0604020202020204" pitchFamily="34" charset="0"/>
                <a:sym typeface="+mn-ea"/>
              </a:rPr>
              <a:t>- {0.667 log2(0.667) + 0.334 log2(0.334)}</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 - {-0.38 + (-0.52)}</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 0.9</a:t>
            </a:r>
            <a:endParaRPr lang="en-US" sz="1800" dirty="0">
              <a:latin typeface="Arial" panose="020B0604020202020204" pitchFamily="34" charset="0"/>
              <a:cs typeface="Arial" panose="020B0604020202020204" pitchFamily="34" charset="0"/>
            </a:endParaRPr>
          </a:p>
          <a:p>
            <a:pPr marL="342900" lvl="0" indent="-342900" defTabSz="914400" fontAlgn="base">
              <a:spcBef>
                <a:spcPct val="0"/>
              </a:spcBef>
              <a:spcAft>
                <a:spcPct val="0"/>
              </a:spcAft>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Now, we need to find out Entropy(children)with weighted average.</a:t>
            </a:r>
            <a:endParaRPr lang="en-US" sz="1800" dirty="0">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sz="1800" dirty="0">
                <a:latin typeface="Arial" panose="020B0604020202020204" pitchFamily="34" charset="0"/>
                <a:cs typeface="Arial" panose="020B0604020202020204" pitchFamily="34" charset="0"/>
                <a:sym typeface="+mn-ea"/>
              </a:rPr>
              <a:t>Total number of examples in parent node: 4</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 left child node: 3</a:t>
            </a:r>
            <a:br>
              <a:rPr lang="en-US" sz="1800" dirty="0">
                <a:latin typeface="Arial" panose="020B0604020202020204" pitchFamily="34" charset="0"/>
                <a:cs typeface="Arial" panose="020B0604020202020204" pitchFamily="34" charset="0"/>
                <a:sym typeface="+mn-ea"/>
              </a:rPr>
            </a:br>
            <a:r>
              <a:rPr lang="en-US" sz="1800" dirty="0">
                <a:latin typeface="Arial" panose="020B0604020202020204" pitchFamily="34" charset="0"/>
                <a:cs typeface="Arial" panose="020B0604020202020204" pitchFamily="34" charset="0"/>
                <a:sym typeface="+mn-ea"/>
              </a:rPr>
              <a:t>    # right child node: 1 </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Entropy(children) with weighted avg. is = </a:t>
            </a:r>
            <a:r>
              <a:rPr lang="en-US" sz="1800" b="1" dirty="0">
                <a:latin typeface="Arial" panose="020B0604020202020204" pitchFamily="34" charset="0"/>
                <a:cs typeface="Arial" panose="020B0604020202020204" pitchFamily="34" charset="0"/>
                <a:sym typeface="+mn-ea"/>
              </a:rPr>
              <a:t>0.675</a:t>
            </a:r>
            <a:endParaRPr lang="en-US" sz="1800" dirty="0">
              <a:latin typeface="Arial" panose="020B0604020202020204" pitchFamily="34" charset="0"/>
              <a:cs typeface="Arial" panose="020B0604020202020204" pitchFamily="34" charset="0"/>
            </a:endParaRPr>
          </a:p>
          <a:p>
            <a:pPr marL="457200" lvl="1" indent="0">
              <a:buNone/>
            </a:pPr>
            <a:r>
              <a:rPr lang="en-US" sz="1800" dirty="0">
                <a:latin typeface="Arial" panose="020B0604020202020204" pitchFamily="34" charset="0"/>
                <a:cs typeface="Arial" panose="020B0604020202020204" pitchFamily="34" charset="0"/>
                <a:sym typeface="+mn-ea"/>
              </a:rPr>
              <a:t>So,</a:t>
            </a:r>
            <a:endParaRPr lang="en-US" sz="1575" dirty="0">
              <a:latin typeface="Arial" panose="020B0604020202020204" pitchFamily="34" charset="0"/>
              <a:cs typeface="Arial" panose="020B0604020202020204" pitchFamily="34" charset="0"/>
              <a:sym typeface="+mn-ea"/>
            </a:endParaRPr>
          </a:p>
          <a:p>
            <a:pPr marL="0" indent="0">
              <a:buNone/>
            </a:pPr>
            <a:r>
              <a:rPr lang="en-IN" altLang="en-US" sz="1800" dirty="0">
                <a:ln>
                  <a:noFill/>
                </a:ln>
                <a:effectLst/>
                <a:latin typeface="Arial" panose="020B0604020202020204" pitchFamily="34" charset="0"/>
                <a:ea typeface="Menlo"/>
                <a:cs typeface="Arial" panose="020B0604020202020204" pitchFamily="34" charset="0"/>
                <a:sym typeface="+mn-ea"/>
              </a:rPr>
              <a:t>	</a:t>
            </a:r>
            <a:r>
              <a:rPr lang="en-US" altLang="en-US" sz="1800" dirty="0">
                <a:ln>
                  <a:noFill/>
                </a:ln>
                <a:effectLst/>
                <a:latin typeface="Arial" panose="020B0604020202020204" pitchFamily="34" charset="0"/>
                <a:ea typeface="Menlo"/>
                <a:cs typeface="Arial" panose="020B0604020202020204" pitchFamily="34" charset="0"/>
                <a:sym typeface="+mn-ea"/>
              </a:rPr>
              <a:t>Information gain(Grade) = 1 - 0.675</a:t>
            </a:r>
            <a:r>
              <a:rPr lang="en-IN" altLang="en-US" sz="1800" dirty="0">
                <a:ln>
                  <a:noFill/>
                </a:ln>
                <a:effectLst/>
                <a:latin typeface="Arial" panose="020B0604020202020204" pitchFamily="34" charset="0"/>
                <a:ea typeface="Menlo"/>
                <a:cs typeface="Arial" panose="020B0604020202020204" pitchFamily="34" charset="0"/>
                <a:sym typeface="+mn-ea"/>
              </a:rPr>
              <a:t> </a:t>
            </a:r>
            <a:r>
              <a:rPr lang="en-US" altLang="en-US" sz="1800" dirty="0">
                <a:ln>
                  <a:noFill/>
                </a:ln>
                <a:effectLst/>
                <a:latin typeface="Arial" panose="020B0604020202020204" pitchFamily="34" charset="0"/>
                <a:ea typeface="Menlo"/>
                <a:cs typeface="Arial" panose="020B0604020202020204" pitchFamily="34" charset="0"/>
                <a:sym typeface="+mn-ea"/>
              </a:rPr>
              <a:t>= 0.325</a:t>
            </a:r>
            <a:r>
              <a:rPr lang="en-US" altLang="en-US" sz="1800" dirty="0">
                <a:ln>
                  <a:noFill/>
                </a:ln>
                <a:effectLst/>
                <a:latin typeface="Arial" panose="020B0604020202020204" pitchFamily="34" charset="0"/>
                <a:cs typeface="Arial" panose="020B0604020202020204" pitchFamily="34" charset="0"/>
                <a:sym typeface="+mn-ea"/>
              </a:rPr>
              <a:t> </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r>
              <a:rPr lang="en-US" altLang="en-US" sz="1800" b="1" i="1" dirty="0">
                <a:ln>
                  <a:noFill/>
                </a:ln>
                <a:effectLst/>
                <a:latin typeface="Arial" panose="020B0604020202020204" pitchFamily="34" charset="0"/>
                <a:ea typeface="medium-content-serif-font"/>
                <a:cs typeface="Arial" panose="020B0604020202020204" pitchFamily="34" charset="0"/>
                <a:sym typeface="+mn-ea"/>
              </a:rPr>
              <a:t> Information gain</a:t>
            </a:r>
            <a:r>
              <a:rPr lang="en-US" altLang="en-US" sz="1800" dirty="0">
                <a:ln>
                  <a:noFill/>
                </a:ln>
                <a:effectLst/>
                <a:latin typeface="Arial" panose="020B0604020202020204" pitchFamily="34" charset="0"/>
                <a:ea typeface="medium-content-serif-font"/>
                <a:cs typeface="Arial" panose="020B0604020202020204" pitchFamily="34" charset="0"/>
                <a:sym typeface="+mn-ea"/>
              </a:rPr>
              <a:t> from </a:t>
            </a:r>
            <a:r>
              <a:rPr lang="en-US" altLang="en-US" sz="1800" dirty="0">
                <a:ln>
                  <a:noFill/>
                </a:ln>
                <a:effectLst/>
                <a:latin typeface="Arial" panose="020B0604020202020204" pitchFamily="34" charset="0"/>
                <a:ea typeface="Menlo"/>
                <a:cs typeface="Arial" panose="020B0604020202020204" pitchFamily="34" charset="0"/>
                <a:sym typeface="+mn-ea"/>
              </a:rPr>
              <a:t>Grade</a:t>
            </a:r>
            <a:r>
              <a:rPr lang="en-US" altLang="en-US" sz="1800" dirty="0">
                <a:ln>
                  <a:noFill/>
                </a:ln>
                <a:effectLst/>
                <a:latin typeface="Arial" panose="020B0604020202020204" pitchFamily="34" charset="0"/>
                <a:ea typeface="medium-content-serif-font"/>
                <a:cs typeface="Arial" panose="020B0604020202020204" pitchFamily="34" charset="0"/>
                <a:sym typeface="+mn-ea"/>
              </a:rPr>
              <a:t> feature is </a:t>
            </a:r>
            <a:r>
              <a:rPr lang="en-US" altLang="en-US" sz="1800" dirty="0">
                <a:ln>
                  <a:noFill/>
                </a:ln>
                <a:effectLst/>
                <a:latin typeface="Arial" panose="020B0604020202020204" pitchFamily="34" charset="0"/>
                <a:ea typeface="Menlo"/>
                <a:cs typeface="Arial" panose="020B0604020202020204" pitchFamily="34" charset="0"/>
                <a:sym typeface="+mn-ea"/>
              </a:rPr>
              <a:t>0.325</a:t>
            </a:r>
            <a:r>
              <a:rPr lang="en-US" altLang="en-US" sz="1800" dirty="0">
                <a:ln>
                  <a:noFill/>
                </a:ln>
                <a:effectLst/>
                <a:latin typeface="Arial" panose="020B0604020202020204" pitchFamily="34" charset="0"/>
                <a:ea typeface="medium-content-serif-font"/>
                <a:cs typeface="Arial" panose="020B0604020202020204" pitchFamily="34" charset="0"/>
                <a:sym typeface="+mn-ea"/>
              </a:rPr>
              <a:t> .</a:t>
            </a:r>
            <a:endParaRPr lang="en-US" sz="1800" b="0" i="0" dirty="0">
              <a:effectLst/>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11266" name="Picture 2" descr="https://cdn-images-1.medium.com/max/800/1*LRK32qYjJDwSbNCMA5UpcA.gif"/>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9730" y="4130675"/>
            <a:ext cx="4174490" cy="542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Chi-Square</a:t>
            </a:r>
          </a:p>
        </p:txBody>
      </p:sp>
      <p:sp>
        <p:nvSpPr>
          <p:cNvPr id="3" name="Content Placeholder 2"/>
          <p:cNvSpPr>
            <a:spLocks noGrp="1"/>
          </p:cNvSpPr>
          <p:nvPr>
            <p:ph idx="1"/>
          </p:nvPr>
        </p:nvSpPr>
        <p:spPr/>
        <p:txBody>
          <a:bodyPr/>
          <a:lstStyle/>
          <a:p>
            <a:r>
              <a:rPr lang="en-US" sz="1800" dirty="0">
                <a:sym typeface="+mn-ea"/>
              </a:rPr>
              <a:t>It is an algorithm to find out the statistical significance between the differences     between sub-nodes and parent node. We measure it by sum of squares of standardized differences between observed and expected frequencies of target variable.</a:t>
            </a:r>
            <a:endParaRPr lang="en-US" sz="1800" dirty="0"/>
          </a:p>
          <a:p>
            <a:pPr marL="342900" indent="-342900">
              <a:buFont typeface="Arial" panose="020B0604020202020204" pitchFamily="34" charset="0"/>
              <a:buChar char="•"/>
            </a:pPr>
            <a:r>
              <a:rPr lang="en-US" sz="1800" dirty="0">
                <a:sym typeface="+mn-ea"/>
              </a:rPr>
              <a:t>It works with categorical target variable “Success” or “Failure”.</a:t>
            </a:r>
            <a:endParaRPr lang="en-US" sz="1800" dirty="0"/>
          </a:p>
          <a:p>
            <a:pPr marL="342900" indent="-342900">
              <a:buFont typeface="Arial" panose="020B0604020202020204" pitchFamily="34" charset="0"/>
              <a:buChar char="•"/>
            </a:pPr>
            <a:r>
              <a:rPr lang="en-US" sz="1800" dirty="0">
                <a:sym typeface="+mn-ea"/>
              </a:rPr>
              <a:t>It can perform two or more splits.</a:t>
            </a:r>
            <a:endParaRPr lang="en-US" sz="1800" dirty="0"/>
          </a:p>
          <a:p>
            <a:pPr marL="342900" indent="-342900">
              <a:buFont typeface="Arial" panose="020B0604020202020204" pitchFamily="34" charset="0"/>
              <a:buChar char="•"/>
            </a:pPr>
            <a:r>
              <a:rPr lang="en-US" sz="1800" dirty="0">
                <a:sym typeface="+mn-ea"/>
              </a:rPr>
              <a:t>Higher the value of Chi-Square, higher the statistical significance of differences between sub-node and Parent node.</a:t>
            </a:r>
            <a:endParaRPr lang="en-US" sz="1800" dirty="0"/>
          </a:p>
          <a:p>
            <a:pPr marL="342900" indent="-342900">
              <a:buFont typeface="Arial" panose="020B0604020202020204" pitchFamily="34" charset="0"/>
              <a:buChar char="•"/>
            </a:pPr>
            <a:r>
              <a:rPr lang="en-US" sz="1800" dirty="0">
                <a:sym typeface="+mn-ea"/>
              </a:rPr>
              <a:t>Chi-Square of each node is calculated using formula,</a:t>
            </a:r>
            <a:endParaRPr lang="en-US" sz="1800" dirty="0"/>
          </a:p>
          <a:p>
            <a:pPr marL="0" indent="0">
              <a:buNone/>
            </a:pPr>
            <a:r>
              <a:rPr lang="en-IN" altLang="en-US" sz="1800" dirty="0">
                <a:sym typeface="+mn-ea"/>
              </a:rPr>
              <a:t>	</a:t>
            </a:r>
            <a:r>
              <a:rPr lang="en-US" sz="1800" dirty="0">
                <a:sym typeface="+mn-ea"/>
              </a:rPr>
              <a:t>Chi-square = ((Actual – Expected)^2 / Expected)^1/2</a:t>
            </a:r>
            <a:endParaRPr lang="en-US" sz="1800" dirty="0"/>
          </a:p>
          <a:p>
            <a:pPr marL="342900" indent="-342900">
              <a:buFont typeface="Arial" panose="020B0604020202020204" pitchFamily="34" charset="0"/>
              <a:buChar char="•"/>
            </a:pPr>
            <a:r>
              <a:rPr lang="en-US" sz="1800" dirty="0">
                <a:sym typeface="+mn-ea"/>
              </a:rPr>
              <a:t>It generates tree called CHAID (Chi-square Automatic Interaction Detector)</a:t>
            </a:r>
            <a:endParaRPr lang="en-US" sz="1800" dirty="0"/>
          </a:p>
          <a:p>
            <a:pPr marL="514350" indent="-514350">
              <a:buFont typeface="+mj-lt"/>
              <a:buAutoNum type="arabicPeriod"/>
            </a:pPr>
            <a:endParaRPr lang="en-US" sz="1800" dirty="0"/>
          </a:p>
          <a:p>
            <a:endParaRPr 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Split on Gender:</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sz="1800" dirty="0">
                <a:sym typeface="+mn-ea"/>
              </a:rPr>
              <a:t>First we are populating for node Female, Populate the actual value for “</a:t>
            </a:r>
            <a:r>
              <a:rPr lang="en-US" sz="1800" b="1" dirty="0">
                <a:sym typeface="+mn-ea"/>
              </a:rPr>
              <a:t>Play Cricket”</a:t>
            </a:r>
            <a:r>
              <a:rPr lang="en-US" sz="1800" dirty="0">
                <a:sym typeface="+mn-ea"/>
              </a:rPr>
              <a:t> and</a:t>
            </a:r>
            <a:r>
              <a:rPr lang="en-US" sz="1800" b="1" dirty="0">
                <a:sym typeface="+mn-ea"/>
              </a:rPr>
              <a:t> “Not Play Cricket”</a:t>
            </a:r>
            <a:r>
              <a:rPr lang="en-US" sz="1800" dirty="0">
                <a:sym typeface="+mn-ea"/>
              </a:rPr>
              <a:t>, here these are 2 and 8 respectively.</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Calculate expected value for “</a:t>
            </a:r>
            <a:r>
              <a:rPr lang="en-US" sz="1800" b="1" dirty="0">
                <a:sym typeface="+mn-ea"/>
              </a:rPr>
              <a:t>Play Cricket”</a:t>
            </a:r>
            <a:r>
              <a:rPr lang="en-US" sz="1800" dirty="0">
                <a:sym typeface="+mn-ea"/>
              </a:rPr>
              <a:t> and “</a:t>
            </a:r>
            <a:r>
              <a:rPr lang="en-US" sz="1800" b="1" dirty="0">
                <a:sym typeface="+mn-ea"/>
              </a:rPr>
              <a:t>Not Play Cricket”</a:t>
            </a:r>
            <a:r>
              <a:rPr lang="en-US" sz="1800" dirty="0">
                <a:sym typeface="+mn-ea"/>
              </a:rPr>
              <a:t>, here it would be 5 for both because parent node has probability of 50% and we have applied same probability on Female count(10).</a:t>
            </a:r>
            <a:endParaRPr lang="en-US" sz="1800" dirty="0"/>
          </a:p>
          <a:p>
            <a:pPr marL="342900" indent="-342900">
              <a:buFont typeface="Arial" panose="020B0604020202020204" pitchFamily="34" charset="0"/>
              <a:buChar char="•"/>
            </a:pPr>
            <a:r>
              <a:rPr lang="en-US" sz="1800" dirty="0">
                <a:sym typeface="+mn-ea"/>
              </a:rPr>
              <a:t>Calculate deviations by using formula, Actual — Expected. It is for “</a:t>
            </a:r>
            <a:r>
              <a:rPr lang="en-US" sz="1800" b="1" dirty="0">
                <a:sym typeface="+mn-ea"/>
              </a:rPr>
              <a:t>Play Cricket”</a:t>
            </a:r>
            <a:r>
              <a:rPr lang="en-US" sz="1800" dirty="0">
                <a:sym typeface="+mn-ea"/>
              </a:rPr>
              <a:t> (2–5 = -3) and for “</a:t>
            </a:r>
            <a:r>
              <a:rPr lang="en-US" sz="1800" b="1" dirty="0">
                <a:sym typeface="+mn-ea"/>
              </a:rPr>
              <a:t>Not play cricket”</a:t>
            </a:r>
            <a:r>
              <a:rPr lang="en-US" sz="1800" dirty="0">
                <a:sym typeface="+mn-ea"/>
              </a:rPr>
              <a:t> ( 8–5 = 3).</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Calculate Chi-square of node for “</a:t>
            </a:r>
            <a:r>
              <a:rPr lang="en-US" sz="1800" b="1" dirty="0">
                <a:sym typeface="+mn-ea"/>
              </a:rPr>
              <a:t>Play Cricket</a:t>
            </a:r>
            <a:r>
              <a:rPr lang="en-US" sz="1800" dirty="0">
                <a:sym typeface="+mn-ea"/>
              </a:rPr>
              <a:t>” and “</a:t>
            </a:r>
            <a:r>
              <a:rPr lang="en-US" sz="1800" b="1" dirty="0">
                <a:sym typeface="+mn-ea"/>
              </a:rPr>
              <a:t>Not Play Cricket</a:t>
            </a:r>
            <a:r>
              <a:rPr lang="en-US" sz="1800" dirty="0">
                <a:sym typeface="+mn-ea"/>
              </a:rPr>
              <a:t>” using formula.</a:t>
            </a:r>
            <a:endParaRPr lang="en-US" sz="1800" dirty="0"/>
          </a:p>
          <a:p>
            <a:pPr marL="342900" indent="-342900">
              <a:buFont typeface="Arial" panose="020B0604020202020204" pitchFamily="34" charset="0"/>
              <a:buChar char="•"/>
            </a:pPr>
            <a:r>
              <a:rPr lang="en-US" sz="1800" dirty="0">
                <a:sym typeface="+mn-ea"/>
              </a:rPr>
              <a:t>Follow similar steps for calculating Chi-square value for Male node.</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Now add all Chi-square values to calculate Chi-square for split Gender.</a:t>
            </a:r>
            <a:br>
              <a:rPr lang="en-US" sz="1800" dirty="0">
                <a:sym typeface="+mn-ea"/>
              </a:rPr>
            </a:br>
            <a:endParaRPr lang="en-US" sz="1800" dirty="0"/>
          </a:p>
          <a:p>
            <a:endParaRPr 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solidFill>
                <a:sym typeface="+mn-ea"/>
              </a:rPr>
              <a:t>Split on Class:</a:t>
            </a:r>
          </a:p>
        </p:txBody>
      </p:sp>
      <p:sp>
        <p:nvSpPr>
          <p:cNvPr id="3" name="Content Placeholder 2"/>
          <p:cNvSpPr>
            <a:spLocks noGrp="1"/>
          </p:cNvSpPr>
          <p:nvPr>
            <p:ph idx="1"/>
          </p:nvPr>
        </p:nvSpPr>
        <p:spPr/>
        <p:txBody>
          <a:bodyPr/>
          <a:lstStyle/>
          <a:p>
            <a:r>
              <a:rPr lang="en-US" sz="1800" dirty="0">
                <a:sym typeface="+mn-ea"/>
              </a:rPr>
              <a:t>Perform similar steps of calculation for split on Class and you will come up with below table.</a:t>
            </a:r>
            <a:endParaRPr lang="en-US" sz="1800" dirty="0"/>
          </a:p>
          <a:p>
            <a:endParaRPr lang="en-US" sz="1800" dirty="0"/>
          </a:p>
          <a:p>
            <a:endParaRPr lang="en-US" sz="1800" dirty="0"/>
          </a:p>
          <a:p>
            <a:endParaRPr lang="en-US" sz="1800" dirty="0"/>
          </a:p>
          <a:p>
            <a:endParaRPr lang="en-US" sz="1800"/>
          </a:p>
        </p:txBody>
      </p:sp>
      <p:pic>
        <p:nvPicPr>
          <p:cNvPr id="12296" name="Picture 8" descr="https://cdn-images-1.medium.com/max/800/0*bmtzPmcwvx2ku6V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8740" y="1688653"/>
            <a:ext cx="9038616" cy="1575881"/>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ttps://cdn-images-1.medium.com/max/800/0*DiOpms72HXo72k2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8740" y="3666490"/>
            <a:ext cx="9067800" cy="152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Reduction in 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174750"/>
                <a:ext cx="10972800" cy="5193030"/>
              </a:xfrm>
            </p:spPr>
            <p:txBody>
              <a:bodyPr/>
              <a:lstStyle/>
              <a:p>
                <a:pPr marL="342900" indent="-342900">
                  <a:buFont typeface="Arial" panose="020B0604020202020204" pitchFamily="34" charset="0"/>
                  <a:buChar char="•"/>
                </a:pPr>
                <a:r>
                  <a:rPr lang="en-US" sz="1800" dirty="0">
                    <a:sym typeface="+mn-ea"/>
                  </a:rPr>
                  <a:t>Reduction in variance is an algorithm used for continuous target variables (regression problems).</a:t>
                </a:r>
                <a:endParaRPr lang="en-US" sz="1800" dirty="0"/>
              </a:p>
              <a:p>
                <a:pPr marL="342900" indent="-342900">
                  <a:buFont typeface="Arial" panose="020B0604020202020204" pitchFamily="34" charset="0"/>
                  <a:buChar char="•"/>
                </a:pPr>
                <a:r>
                  <a:rPr lang="en-US" sz="1800" dirty="0">
                    <a:sym typeface="+mn-ea"/>
                  </a:rPr>
                  <a:t>This algorithm uses the standard formula of variance to choose the best split. The split with lower variance is selected as the criteria to split the population:</a:t>
                </a:r>
                <a:endParaRPr lang="en-US" sz="1800" dirty="0"/>
              </a:p>
              <a:p>
                <a:pPr marL="0" indent="0">
                  <a:buNone/>
                </a:pPr>
                <a:r>
                  <a:rPr lang="en-IN" altLang="en-US" sz="1800" dirty="0">
                    <a:sym typeface="+mn-ea"/>
                  </a:rPr>
                  <a:t>				</a:t>
                </a:r>
                <a:r>
                  <a:rPr lang="en-US" sz="1800" dirty="0">
                    <a:sym typeface="+mn-ea"/>
                  </a:rPr>
                  <a:t> </a:t>
                </a:r>
                <a:r>
                  <a:rPr lang="en-US" sz="1800" b="1" dirty="0">
                    <a:sym typeface="+mn-ea"/>
                  </a:rPr>
                  <a:t>variance = </a:t>
                </a:r>
                <a14:m>
                  <m:oMath xmlns:m="http://schemas.openxmlformats.org/officeDocument/2006/math">
                    <m:f>
                      <m:fPr>
                        <m:ctrlPr>
                          <a:rPr lang="en-US" sz="1800" b="1" i="1" smtClean="0">
                            <a:latin typeface="Cambria Math" panose="02040503050406030204" pitchFamily="18" charset="0"/>
                          </a:rPr>
                        </m:ctrlPr>
                      </m:fPr>
                      <m:num>
                        <m:nary>
                          <m:naryPr>
                            <m:chr m:val="∑"/>
                            <m:subHide m:val="on"/>
                            <m:supHide m:val="on"/>
                            <m:ctrlPr>
                              <a:rPr lang="en-US" sz="1800" b="1" i="1" smtClean="0">
                                <a:latin typeface="Cambria Math" panose="02040503050406030204" pitchFamily="18" charset="0"/>
                              </a:rPr>
                            </m:ctrlPr>
                          </m:naryPr>
                          <m:sub/>
                          <m:sup/>
                          <m:e>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𝑿</m:t>
                                </m:r>
                                <m:r>
                                  <a:rPr lang="en-US" sz="1800" b="1" i="1" smtClean="0">
                                    <a:latin typeface="Cambria Math" panose="02040503050406030204" pitchFamily="18" charset="0"/>
                                  </a:rPr>
                                  <m:t>−</m:t>
                                </m:r>
                                <m:acc>
                                  <m:accPr>
                                    <m:chr m:val="̅"/>
                                    <m:ctrlPr>
                                      <a:rPr lang="en-US" sz="1800" b="1" i="1" smtClean="0">
                                        <a:latin typeface="Cambria Math" panose="02040503050406030204" pitchFamily="18" charset="0"/>
                                      </a:rPr>
                                    </m:ctrlPr>
                                  </m:accPr>
                                  <m:e>
                                    <m:r>
                                      <a:rPr lang="en-US" sz="1800" b="1" i="1" smtClean="0">
                                        <a:latin typeface="Cambria Math" panose="02040503050406030204" pitchFamily="18" charset="0"/>
                                      </a:rPr>
                                      <m:t>𝒙</m:t>
                                    </m:r>
                                  </m:e>
                                </m:acc>
                              </m:e>
                            </m:d>
                            <m:r>
                              <a:rPr lang="en-US" sz="1800" b="1" i="1" baseline="30000" smtClean="0">
                                <a:latin typeface="Cambria Math" panose="02040503050406030204" pitchFamily="18" charset="0"/>
                              </a:rPr>
                              <m:t>𝟐</m:t>
                            </m:r>
                          </m:e>
                        </m:nary>
                      </m:num>
                      <m:den>
                        <m:r>
                          <a:rPr lang="en-US" sz="1800" b="1" i="1" smtClean="0">
                            <a:latin typeface="Cambria Math" panose="02040503050406030204" pitchFamily="18" charset="0"/>
                          </a:rPr>
                          <m:t>𝒏</m:t>
                        </m:r>
                      </m:den>
                    </m:f>
                  </m:oMath>
                </a14:m>
                <a:endParaRPr lang="en-US" sz="1800" b="1" dirty="0"/>
              </a:p>
              <a:p>
                <a:r>
                  <a:rPr lang="en-US" sz="1800" dirty="0">
                    <a:sym typeface="+mn-ea"/>
                  </a:rPr>
                  <a:t>Above X-bar is mean of the values, X is actual and n is number of values.</a:t>
                </a:r>
              </a:p>
              <a:p>
                <a:endParaRPr lang="en-US" sz="1800" dirty="0"/>
              </a:p>
              <a:p>
                <a:pPr marL="0" indent="0">
                  <a:buNone/>
                </a:pPr>
                <a:r>
                  <a:rPr lang="en-US" sz="1800" b="1" dirty="0">
                    <a:sym typeface="+mn-ea"/>
                  </a:rPr>
                  <a:t>Example:-</a:t>
                </a:r>
                <a:r>
                  <a:rPr lang="en-US" sz="1800" dirty="0">
                    <a:sym typeface="+mn-ea"/>
                  </a:rPr>
                  <a:t> Let’s assign numerical value 1 for play cricket and 0 for not playing cricket. Now follow the steps to identify the right split:</a:t>
                </a:r>
              </a:p>
              <a:p>
                <a:pPr marL="342900" indent="-342900">
                  <a:buFont typeface="Arial" panose="020B0604020202020204" pitchFamily="34" charset="0"/>
                  <a:buChar char="•"/>
                </a:pPr>
                <a:r>
                  <a:rPr lang="en-US" sz="1800" dirty="0">
                    <a:sym typeface="+mn-ea"/>
                  </a:rPr>
                  <a:t>Variance for Root node, here mean value is (15*1 + 15*0)/30 = 0.5 and we have 15 one and 15 zero. Now variance would be ((1–0.5)²+(1–0.5)²+….15 times+(0–0.5)²+(0–0.5)²+…15 times) / 30, this can be written as (15*(1–0.5)²+15*(0–0.5)²) / 30 = </a:t>
                </a:r>
                <a:r>
                  <a:rPr lang="en-US" sz="1800" b="1" dirty="0">
                    <a:sym typeface="+mn-ea"/>
                  </a:rPr>
                  <a:t>0.25</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Mean of Female node = (2*1+8*0)/10=0.2 and Variance = (2*(1–0.2)²+8*(0–0.2)²) / 10 = 0.16</a:t>
                </a:r>
                <a:endParaRPr lang="en-US" sz="1800" dirty="0"/>
              </a:p>
              <a:p>
                <a:pPr marL="342900" indent="-342900">
                  <a:buFont typeface="Arial" panose="020B0604020202020204" pitchFamily="34" charset="0"/>
                  <a:buChar char="•"/>
                </a:pPr>
                <a:r>
                  <a:rPr lang="en-US" sz="1800" dirty="0">
                    <a:sym typeface="+mn-ea"/>
                  </a:rPr>
                  <a:t>Mean of Male Node = (13*1+7*0)/20=0.65 and Variance = (13*(1–0.65)²+7*(0–0.65)²) / 20 = 0.23</a:t>
                </a:r>
                <a:endParaRPr lang="en-US" sz="1800" dirty="0"/>
              </a:p>
              <a:p>
                <a:pPr marL="342900" indent="-342900">
                  <a:buFont typeface="Arial" panose="020B0604020202020204" pitchFamily="34" charset="0"/>
                  <a:buChar char="•"/>
                </a:pPr>
                <a:r>
                  <a:rPr lang="en-US" sz="1800" dirty="0">
                    <a:sym typeface="+mn-ea"/>
                  </a:rPr>
                  <a:t>Variance for Split Gender = Weighted Variance of Sub-nodes = (10/30)*0.16 + (20/30) *0.23 = </a:t>
                </a:r>
                <a:r>
                  <a:rPr lang="en-US" sz="1800" b="1" dirty="0">
                    <a:sym typeface="+mn-ea"/>
                  </a:rPr>
                  <a:t>0.21</a:t>
                </a:r>
                <a:endParaRPr lang="en-US" sz="1800" dirty="0"/>
              </a:p>
              <a:p>
                <a:pPr marL="342900" indent="-342900">
                  <a:buFont typeface="Arial" panose="020B0604020202020204" pitchFamily="34" charset="0"/>
                  <a:buChar char="•"/>
                </a:pPr>
                <a:endParaRPr lang="en-US" sz="1800" dirty="0"/>
              </a:p>
              <a:p>
                <a:pPr marL="0" indent="0">
                  <a:buNone/>
                </a:pPr>
                <a:endParaRPr lang="en-US" sz="1800" dirty="0"/>
              </a:p>
              <a:p>
                <a:pPr marL="0" indent="0">
                  <a:buNone/>
                </a:pPr>
                <a:endParaRPr lang="en-US" sz="1800" b="1" dirty="0"/>
              </a:p>
              <a:p>
                <a:endParaRPr lang="en-US" sz="180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09600" y="1174750"/>
                <a:ext cx="10972800" cy="5193030"/>
              </a:xfrm>
              <a:blipFill rotWithShape="1">
                <a:blip r:embed="rId2"/>
                <a:stretch>
                  <a:fillRect b="-19112"/>
                </a:stretch>
              </a:blipFill>
            </p:spPr>
            <p:txBody>
              <a:bodyPr/>
              <a:lstStyle/>
              <a:p>
                <a:r>
                  <a:rPr lang="en-US"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Reduction in Variance</a:t>
            </a:r>
            <a:endParaRPr lang="en-US"/>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sz="1800" dirty="0">
                <a:sym typeface="+mn-ea"/>
              </a:rPr>
              <a:t>Mean of Class IX node = (6*1+8*0)/14=0.43 and Variance = (6*(1–0.43)²+8*(0–0.43)²) / 14= 0.24</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Mean of Class X node = (9*1+7*0)/16=0.56 and Variance = (9*(1–0.56)²+7*(0–0.56)²) / 16 = 0.25</a:t>
            </a:r>
            <a:endParaRPr lang="en-US" sz="1800" dirty="0"/>
          </a:p>
          <a:p>
            <a:endParaRPr lang="en-US" sz="1800" dirty="0"/>
          </a:p>
          <a:p>
            <a:pPr marL="342900" indent="-342900">
              <a:buFont typeface="Arial" panose="020B0604020202020204" pitchFamily="34" charset="0"/>
              <a:buChar char="•"/>
            </a:pPr>
            <a:r>
              <a:rPr lang="en-US" sz="1800" dirty="0">
                <a:sym typeface="+mn-ea"/>
              </a:rPr>
              <a:t>Variance for Split Gender = (14/30)*0.24 + (16/30) *0.25 = </a:t>
            </a:r>
            <a:r>
              <a:rPr lang="en-US" sz="1800" b="1" dirty="0">
                <a:sym typeface="+mn-ea"/>
              </a:rPr>
              <a:t>0.25</a:t>
            </a:r>
            <a:endParaRPr lang="en-US" sz="1800" dirty="0"/>
          </a:p>
          <a:p>
            <a:endParaRPr lang="en-US" sz="1800" dirty="0"/>
          </a:p>
          <a:p>
            <a:pPr marL="0" indent="0">
              <a:buNone/>
            </a:pPr>
            <a:r>
              <a:rPr lang="en-US" sz="1800" dirty="0">
                <a:sym typeface="+mn-ea"/>
              </a:rPr>
              <a:t>Above, you can see that Gender split has lower variance compare to parent node, so the split would take place on </a:t>
            </a:r>
            <a:r>
              <a:rPr lang="en-US" sz="1800" i="1" dirty="0">
                <a:sym typeface="+mn-ea"/>
              </a:rPr>
              <a:t>Gender</a:t>
            </a:r>
            <a:r>
              <a:rPr lang="en-US" sz="1800" dirty="0">
                <a:sym typeface="+mn-ea"/>
              </a:rPr>
              <a:t> variable.</a:t>
            </a:r>
            <a:endParaRPr lang="en-US" sz="1800" dirty="0"/>
          </a:p>
          <a:p>
            <a:endParaRPr 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sym typeface="+mn-ea"/>
              </a:rPr>
              <a:t>Pruning</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sz="1800" dirty="0">
                <a:sym typeface="+mn-ea"/>
              </a:rPr>
              <a:t>One of the questions that arises in a decision tree algorithm is the optimal size of the final tree. </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sym typeface="+mn-ea"/>
              </a:rPr>
              <a:t>A tree that is too large risks overfitting the training data and poorly generalizing to new samples. </a:t>
            </a:r>
            <a:endParaRPr lang="en-US" sz="1800" dirty="0"/>
          </a:p>
          <a:p>
            <a:pPr marL="342900" indent="-342900">
              <a:buFont typeface="Arial" panose="020B0604020202020204" pitchFamily="34" charset="0"/>
              <a:buChar char="•"/>
            </a:pPr>
            <a:endParaRPr lang="en-US" sz="1800" dirty="0">
              <a:sym typeface="+mn-ea"/>
            </a:endParaRPr>
          </a:p>
          <a:p>
            <a:pPr marL="342900" indent="-342900">
              <a:buFont typeface="Arial" panose="020B0604020202020204" pitchFamily="34" charset="0"/>
              <a:buChar char="•"/>
            </a:pPr>
            <a:r>
              <a:rPr lang="en-US" sz="1800" dirty="0">
                <a:sym typeface="+mn-ea"/>
              </a:rPr>
              <a:t>A small tree might not capture important structural information about the sample space</a:t>
            </a:r>
            <a:endParaRPr lang="en-US" sz="1800" dirty="0"/>
          </a:p>
          <a:p>
            <a:pPr marL="342900" indent="-342900">
              <a:buFont typeface="Arial" panose="020B0604020202020204" pitchFamily="34" charset="0"/>
              <a:buChar char="•"/>
            </a:pPr>
            <a:endParaRPr lang="en-US" sz="1800" dirty="0">
              <a:sym typeface="+mn-ea"/>
            </a:endParaRPr>
          </a:p>
          <a:p>
            <a:pPr marL="342900" indent="-342900">
              <a:buFont typeface="Arial" panose="020B0604020202020204" pitchFamily="34" charset="0"/>
              <a:buChar char="•"/>
            </a:pPr>
            <a:r>
              <a:rPr lang="en-US" sz="1800" dirty="0">
                <a:sym typeface="+mn-ea"/>
              </a:rPr>
              <a:t>A common strategy is to grow the tree until each node contains a small number of instances then use pruning to remove nodes that do not provide additional information.</a:t>
            </a:r>
            <a:endParaRPr lang="en-US" sz="1800" dirty="0"/>
          </a:p>
          <a:p>
            <a:pPr marL="342900" indent="-342900">
              <a:buFont typeface="Arial" panose="020B0604020202020204" pitchFamily="34" charset="0"/>
              <a:buChar char="•"/>
            </a:pPr>
            <a:endParaRPr lang="en-IN" altLang="en-US" sz="1800" dirty="0">
              <a:sym typeface="+mn-ea"/>
            </a:endParaRPr>
          </a:p>
          <a:p>
            <a:pPr marL="342900" indent="-342900">
              <a:buFont typeface="Arial" panose="020B0604020202020204" pitchFamily="34" charset="0"/>
              <a:buChar char="•"/>
            </a:pPr>
            <a:r>
              <a:rPr lang="en-IN" altLang="en-US" sz="1800" dirty="0">
                <a:sym typeface="+mn-ea"/>
              </a:rPr>
              <a:t>W</a:t>
            </a:r>
            <a:r>
              <a:rPr lang="en-US" sz="1800" dirty="0">
                <a:sym typeface="+mn-ea"/>
              </a:rPr>
              <a:t>e start at the bottom and start removing leaves which are giving us negative returns when compared from the top.</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endParaRPr lang="en-US" sz="1800" dirty="0"/>
          </a:p>
          <a:p>
            <a:endParaRPr 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a:xfrm>
            <a:off x="806450" y="1265555"/>
            <a:ext cx="10942955" cy="2353945"/>
          </a:xfrm>
        </p:spPr>
        <p:txBody>
          <a:bodyPr/>
          <a:lstStyle/>
          <a:p>
            <a:pPr algn="ctr">
              <a:lnSpc>
                <a:spcPct val="90000"/>
              </a:lnSpc>
            </a:pPr>
            <a:r>
              <a:rPr lang="en-IN" altLang="en-US" sz="5000" b="1">
                <a:solidFill>
                  <a:srgbClr val="FF0000"/>
                </a:solidFill>
              </a:rPr>
              <a:t>THANK YOU FOR YOUR</a:t>
            </a:r>
            <a:br>
              <a:rPr lang="en-IN" altLang="en-US" sz="5000" b="1">
                <a:solidFill>
                  <a:srgbClr val="FF0000"/>
                </a:solidFill>
              </a:rPr>
            </a:br>
            <a:r>
              <a:rPr lang="en-IN" altLang="en-US" sz="5000" b="1">
                <a:solidFill>
                  <a:srgbClr val="FF0000"/>
                </a:solidFill>
              </a:rPr>
              <a:t>ATTENTATION</a:t>
            </a: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6676D3-08E4-4C86-86E3-CB1D800EDC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e31940-ca4a-45c5-b162-138273e95632"/>
    <ds:schemaRef ds:uri="931ab5c8-92b0-45e1-8bc3-523e2cbedd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9485B3-A197-4459-9D29-6442EBBB771F}">
  <ds:schemaRefs>
    <ds:schemaRef ds:uri="http://schemas.microsoft.com/office/2006/metadata/properties"/>
    <ds:schemaRef ds:uri="http://schemas.microsoft.com/office/infopath/2007/PartnerControls"/>
    <ds:schemaRef ds:uri="0ae31940-ca4a-45c5-b162-138273e95632"/>
    <ds:schemaRef ds:uri="931ab5c8-92b0-45e1-8bc3-523e2cbedd9f"/>
  </ds:schemaRefs>
</ds:datastoreItem>
</file>

<file path=customXml/itemProps3.xml><?xml version="1.0" encoding="utf-8"?>
<ds:datastoreItem xmlns:ds="http://schemas.openxmlformats.org/officeDocument/2006/customXml" ds:itemID="{48CB9133-CC96-4840-9B8B-DB23E3BD62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9411</Words>
  <Application>Microsoft Office PowerPoint</Application>
  <PresentationFormat>Widescreen</PresentationFormat>
  <Paragraphs>256</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Blue Waves</vt:lpstr>
      <vt:lpstr>Decision Tree</vt:lpstr>
      <vt:lpstr>Decision Tree</vt:lpstr>
      <vt:lpstr>Types of Decision Tree</vt:lpstr>
      <vt:lpstr>Terminology used in Decision Tree</vt:lpstr>
      <vt:lpstr>Split of Tree</vt:lpstr>
      <vt:lpstr>A Tree Decide Where To Split:</vt:lpstr>
      <vt:lpstr>A Tree Decide Where To Split:</vt:lpstr>
      <vt:lpstr>Information Gain:</vt:lpstr>
      <vt:lpstr>Entropy</vt:lpstr>
      <vt:lpstr>PowerPoint Presentation</vt:lpstr>
      <vt:lpstr>PowerPoint Presentation</vt:lpstr>
      <vt:lpstr>PowerPoint Presentation</vt:lpstr>
      <vt:lpstr>Chi-Square</vt:lpstr>
      <vt:lpstr>Split on Gender:</vt:lpstr>
      <vt:lpstr>Split on Class:</vt:lpstr>
      <vt:lpstr>Reduction in Variance</vt:lpstr>
      <vt:lpstr>Reduction in Variance</vt:lpstr>
      <vt:lpstr>Pruning</vt:lpstr>
      <vt:lpstr>THANK YOU FOR YOUR ATTENTATION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dc:title>
  <dc:creator/>
  <cp:lastModifiedBy>Dell</cp:lastModifiedBy>
  <cp:revision>16</cp:revision>
  <dcterms:created xsi:type="dcterms:W3CDTF">2022-12-26T09:58:59Z</dcterms:created>
  <dcterms:modified xsi:type="dcterms:W3CDTF">2024-06-10T05:30:06Z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F3C1A6C96ABC455FBC6D184D14820968</vt:lpwstr>
  </property>
  <property fmtid="{D5CDD505-2E9C-101B-9397-08002B2CF9AE}" pid="3" name="KSOProductBuildVer">
    <vt:lpwstr>1033-11.2.0.11388</vt:lpwstr>
  </property>
  <property fmtid="{D5CDD505-2E9C-101B-9397-08002B2CF9AE}" pid="4" name="ContentTypeId">
    <vt:lpwstr>0x0101006DEA2B996A095145A431990D8746F65D</vt:lpwstr>
  </property>
  <property fmtid="{D5CDD505-2E9C-101B-9397-08002B2CF9AE}" pid="5" name="MediaServiceImageTags">
    <vt:lpwstr/>
  </property>
</Properties>
</file>