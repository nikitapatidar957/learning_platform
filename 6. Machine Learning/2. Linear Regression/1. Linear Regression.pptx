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lsx" ContentType="application/vnd.openxmlformats-officedocument.spreadsheetml.sheet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  <p:sldId id="267" r:id="rId10"/>
    <p:sldId id="263" r:id="rId11"/>
    <p:sldId id="264" r:id="rId12"/>
    <p:sldId id="265" r:id="rId13"/>
    <p:sldId id="266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8" Type="http://schemas.openxmlformats.org/officeDocument/2006/relationships/presProps" Target="presProps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21" Type="http://schemas.openxmlformats.org/officeDocument/2006/relationships/customXml" Target="../customXml/item1.xml"/><Relationship Id="rId7" Type="http://schemas.openxmlformats.org/officeDocument/2006/relationships/slide" Target="slides/slide5.xml"/><Relationship Id="rId17" Type="http://schemas.openxmlformats.org/officeDocument/2006/relationships/slide" Target="slides/slide15.xml"/><Relationship Id="rId12" Type="http://schemas.openxmlformats.org/officeDocument/2006/relationships/slide" Target="slides/slide10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6" Type="http://schemas.openxmlformats.org/officeDocument/2006/relationships/slide" Target="slides/slide14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ustomXml" Target="../customXml/item3.xml"/><Relationship Id="rId19" Type="http://schemas.openxmlformats.org/officeDocument/2006/relationships/viewProps" Target="viewProps.xml"/><Relationship Id="rId10" Type="http://schemas.openxmlformats.org/officeDocument/2006/relationships/slide" Target="slides/slide8.xml"/><Relationship Id="rId9" Type="http://schemas.openxmlformats.org/officeDocument/2006/relationships/slide" Target="slides/slide7.xml"/><Relationship Id="rId4" Type="http://schemas.openxmlformats.org/officeDocument/2006/relationships/slide" Target="slides/slide2.xml"/><Relationship Id="rId14" Type="http://schemas.openxmlformats.org/officeDocument/2006/relationships/slide" Target="slides/slide12.xml"/><Relationship Id="rId22" Type="http://schemas.openxmlformats.org/officeDocument/2006/relationships/customXml" Target="../customXml/item2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u22t18\Desktop\Data%20Frame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u22t18\Desktop\Regression%20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xVal>
            <c:numRef>
              <c:f>Sheet2!$A$2:$A$22</c:f>
              <c:numCache>
                <c:formatCode>0.00</c:formatCode>
                <c:ptCount val="21"/>
                <c:pt idx="0">
                  <c:v>-10</c:v>
                </c:pt>
                <c:pt idx="1">
                  <c:v>-9.2</c:v>
                </c:pt>
                <c:pt idx="2">
                  <c:v>-8.1</c:v>
                </c:pt>
                <c:pt idx="3">
                  <c:v>-7</c:v>
                </c:pt>
                <c:pt idx="4">
                  <c:v>-5.95</c:v>
                </c:pt>
                <c:pt idx="5">
                  <c:v>-5.1</c:v>
                </c:pt>
                <c:pt idx="6">
                  <c:v>-4.2</c:v>
                </c:pt>
                <c:pt idx="7">
                  <c:v>-3</c:v>
                </c:pt>
                <c:pt idx="8">
                  <c:v>-2.1</c:v>
                </c:pt>
                <c:pt idx="9">
                  <c:v>-0.98</c:v>
                </c:pt>
                <c:pt idx="10">
                  <c:v>0.02</c:v>
                </c:pt>
                <c:pt idx="11">
                  <c:v>1.05</c:v>
                </c:pt>
                <c:pt idx="12">
                  <c:v>1.98</c:v>
                </c:pt>
                <c:pt idx="13">
                  <c:v>3.2</c:v>
                </c:pt>
                <c:pt idx="14">
                  <c:v>4.3</c:v>
                </c:pt>
                <c:pt idx="15">
                  <c:v>5.1</c:v>
                </c:pt>
                <c:pt idx="16">
                  <c:v>5.95</c:v>
                </c:pt>
                <c:pt idx="17">
                  <c:v>7.1</c:v>
                </c:pt>
                <c:pt idx="18">
                  <c:v>8.2</c:v>
                </c:pt>
                <c:pt idx="19">
                  <c:v>9.05</c:v>
                </c:pt>
                <c:pt idx="20">
                  <c:v>10.2</c:v>
                </c:pt>
              </c:numCache>
            </c:numRef>
          </c:xVal>
          <c:yVal>
            <c:numRef>
              <c:f>Sheet2!$B$2:$B$22</c:f>
              <c:numCache>
                <c:formatCode>0.00</c:formatCode>
                <c:ptCount val="21"/>
                <c:pt idx="0">
                  <c:v>11.4332367908247</c:v>
                </c:pt>
                <c:pt idx="1">
                  <c:v>25.7989921497871</c:v>
                </c:pt>
                <c:pt idx="2">
                  <c:v>23.0351537581625</c:v>
                </c:pt>
                <c:pt idx="3">
                  <c:v>35.3808328134329</c:v>
                </c:pt>
                <c:pt idx="4">
                  <c:v>26.7108041099743</c:v>
                </c:pt>
                <c:pt idx="5">
                  <c:v>32.0773116836544</c:v>
                </c:pt>
                <c:pt idx="6">
                  <c:v>34.2376646214871</c:v>
                </c:pt>
                <c:pt idx="7">
                  <c:v>30.2563902024572</c:v>
                </c:pt>
                <c:pt idx="8">
                  <c:v>32.6638051396497</c:v>
                </c:pt>
                <c:pt idx="9">
                  <c:v>42.8046446759549</c:v>
                </c:pt>
                <c:pt idx="10">
                  <c:v>46.8862999743763</c:v>
                </c:pt>
                <c:pt idx="11">
                  <c:v>46.3612565971423</c:v>
                </c:pt>
                <c:pt idx="12">
                  <c:v>57.8774148005306</c:v>
                </c:pt>
                <c:pt idx="13">
                  <c:v>68.6430077493626</c:v>
                </c:pt>
                <c:pt idx="14">
                  <c:v>63.9732060625613</c:v>
                </c:pt>
                <c:pt idx="15">
                  <c:v>73.8060145381127</c:v>
                </c:pt>
                <c:pt idx="16">
                  <c:v>79.2936341806198</c:v>
                </c:pt>
                <c:pt idx="17">
                  <c:v>72.9011134658783</c:v>
                </c:pt>
                <c:pt idx="18">
                  <c:v>87.8632821849616</c:v>
                </c:pt>
                <c:pt idx="19">
                  <c:v>84.4663958137723</c:v>
                </c:pt>
                <c:pt idx="20">
                  <c:v>86.8977722777146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6857416"/>
        <c:axId val="566854792"/>
      </c:scatterChart>
      <c:valAx>
        <c:axId val="566857416"/>
        <c:scaling>
          <c:orientation val="minMax"/>
          <c:min val="-1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66854792"/>
        <c:crosses val="autoZero"/>
        <c:crossBetween val="midCat"/>
        <c:majorUnit val="2"/>
      </c:valAx>
      <c:valAx>
        <c:axId val="566854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66857416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0389820647419073"/>
                  <c:y val="0.548058471857684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</c:trendlineLbl>
          </c:trendline>
          <c:xVal>
            <c:numRef>
              <c:f>Sheet2!$A$2:$A$22</c:f>
              <c:numCache>
                <c:formatCode>0.00</c:formatCode>
                <c:ptCount val="21"/>
                <c:pt idx="0">
                  <c:v>-10</c:v>
                </c:pt>
                <c:pt idx="1">
                  <c:v>-9.2</c:v>
                </c:pt>
                <c:pt idx="2">
                  <c:v>-8.1</c:v>
                </c:pt>
                <c:pt idx="3">
                  <c:v>-7</c:v>
                </c:pt>
                <c:pt idx="4">
                  <c:v>-5.95</c:v>
                </c:pt>
                <c:pt idx="5">
                  <c:v>-5.1</c:v>
                </c:pt>
                <c:pt idx="6">
                  <c:v>-4.2</c:v>
                </c:pt>
                <c:pt idx="7">
                  <c:v>-3</c:v>
                </c:pt>
                <c:pt idx="8">
                  <c:v>-2.1</c:v>
                </c:pt>
                <c:pt idx="9">
                  <c:v>-0.98</c:v>
                </c:pt>
                <c:pt idx="10">
                  <c:v>0.02</c:v>
                </c:pt>
                <c:pt idx="11">
                  <c:v>1.05</c:v>
                </c:pt>
                <c:pt idx="12">
                  <c:v>1.98</c:v>
                </c:pt>
                <c:pt idx="13">
                  <c:v>3.2</c:v>
                </c:pt>
                <c:pt idx="14">
                  <c:v>4.3</c:v>
                </c:pt>
                <c:pt idx="15">
                  <c:v>5.1</c:v>
                </c:pt>
                <c:pt idx="16">
                  <c:v>5.95</c:v>
                </c:pt>
                <c:pt idx="17">
                  <c:v>7.1</c:v>
                </c:pt>
                <c:pt idx="18">
                  <c:v>8.2</c:v>
                </c:pt>
                <c:pt idx="19">
                  <c:v>9.05</c:v>
                </c:pt>
                <c:pt idx="20">
                  <c:v>10.2</c:v>
                </c:pt>
              </c:numCache>
            </c:numRef>
          </c:xVal>
          <c:yVal>
            <c:numRef>
              <c:f>Sheet2!$B$2:$B$22</c:f>
              <c:numCache>
                <c:formatCode>0.00</c:formatCode>
                <c:ptCount val="21"/>
                <c:pt idx="0">
                  <c:v>11.4332367908247</c:v>
                </c:pt>
                <c:pt idx="1">
                  <c:v>25.7989921497871</c:v>
                </c:pt>
                <c:pt idx="2">
                  <c:v>23.0351537581625</c:v>
                </c:pt>
                <c:pt idx="3">
                  <c:v>35.3808328134329</c:v>
                </c:pt>
                <c:pt idx="4">
                  <c:v>26.7108041099743</c:v>
                </c:pt>
                <c:pt idx="5">
                  <c:v>32.0773116836544</c:v>
                </c:pt>
                <c:pt idx="6">
                  <c:v>34.2376646214871</c:v>
                </c:pt>
                <c:pt idx="7">
                  <c:v>30.2563902024572</c:v>
                </c:pt>
                <c:pt idx="8">
                  <c:v>32.6638051396497</c:v>
                </c:pt>
                <c:pt idx="9">
                  <c:v>42.8046446759549</c:v>
                </c:pt>
                <c:pt idx="10">
                  <c:v>46.8862999743763</c:v>
                </c:pt>
                <c:pt idx="11">
                  <c:v>46.3612565971423</c:v>
                </c:pt>
                <c:pt idx="12">
                  <c:v>57.8774148005306</c:v>
                </c:pt>
                <c:pt idx="13">
                  <c:v>68.6430077493626</c:v>
                </c:pt>
                <c:pt idx="14">
                  <c:v>63.9732060625613</c:v>
                </c:pt>
                <c:pt idx="15">
                  <c:v>73.8060145381127</c:v>
                </c:pt>
                <c:pt idx="16">
                  <c:v>79.2936341806198</c:v>
                </c:pt>
                <c:pt idx="17">
                  <c:v>72.9011134658783</c:v>
                </c:pt>
                <c:pt idx="18">
                  <c:v>87.8632821849616</c:v>
                </c:pt>
                <c:pt idx="19">
                  <c:v>84.4663958137723</c:v>
                </c:pt>
                <c:pt idx="20">
                  <c:v>86.8977722777146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6857416"/>
        <c:axId val="566854792"/>
      </c:scatterChart>
      <c:valAx>
        <c:axId val="566857416"/>
        <c:scaling>
          <c:orientation val="minMax"/>
          <c:min val="-1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66854792"/>
        <c:crosses val="autoZero"/>
        <c:crossBetween val="midCat"/>
        <c:majorUnit val="2"/>
      </c:valAx>
      <c:valAx>
        <c:axId val="566854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66857416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emf"/><Relationship Id="rId6" Type="http://schemas.openxmlformats.org/officeDocument/2006/relationships/package" Target="../embeddings/Workbook1.xlsx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6" Type="http://schemas.openxmlformats.org/officeDocument/2006/relationships/vmlDrawing" Target="../drawings/vmlDrawing1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8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wmf"/><Relationship Id="rId2" Type="http://schemas.openxmlformats.org/officeDocument/2006/relationships/package" Target="../embeddings/Workbook2.xlsx"/><Relationship Id="rId1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417" y="1645285"/>
            <a:ext cx="10943167" cy="1082675"/>
          </a:xfrm>
        </p:spPr>
        <p:txBody>
          <a:bodyPr/>
          <a:lstStyle/>
          <a:p>
            <a:r>
              <a:rPr lang="en-US" sz="5000" b="1" dirty="0">
                <a:solidFill>
                  <a:srgbClr val="FF0000"/>
                </a:solidFill>
                <a:sym typeface="+mn-ea"/>
              </a:rPr>
              <a:t>Regression</a:t>
            </a:r>
            <a:endParaRPr lang="en-US" sz="50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olidFill>
                  <a:schemeClr val="accent6"/>
                </a:solidFill>
                <a:sym typeface="+mn-ea"/>
              </a:rPr>
              <a:t>Regression</a:t>
            </a:r>
            <a:endParaRPr lang="en-US" dirty="0">
              <a:solidFill>
                <a:schemeClr val="accent6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1800" b="1" dirty="0">
                <a:solidFill>
                  <a:schemeClr val="accent1"/>
                </a:solidFill>
                <a:sym typeface="+mn-ea"/>
              </a:rPr>
              <a:t>Definition</a:t>
            </a:r>
            <a:r>
              <a:rPr lang="en-US" sz="1800" dirty="0">
                <a:sym typeface="+mn-ea"/>
              </a:rPr>
              <a:t> : A statistical technique for estimating the relationship between two or more variables.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ym typeface="+mn-ea"/>
              </a:rPr>
              <a:t>The estimated relationship is represented in the form of an equation. The general form of regression equation is as follows: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ym typeface="+mn-ea"/>
              </a:rPr>
              <a:t>                              Y = β</a:t>
            </a:r>
            <a:r>
              <a:rPr lang="en-US" sz="1800" baseline="-25000" dirty="0">
                <a:sym typeface="+mn-ea"/>
              </a:rPr>
              <a:t>0</a:t>
            </a:r>
            <a:r>
              <a:rPr lang="en-US" sz="1800" dirty="0">
                <a:sym typeface="+mn-ea"/>
              </a:rPr>
              <a:t> + β</a:t>
            </a:r>
            <a:r>
              <a:rPr lang="en-US" sz="1800" baseline="-25000" dirty="0">
                <a:sym typeface="+mn-ea"/>
              </a:rPr>
              <a:t>1</a:t>
            </a:r>
            <a:r>
              <a:rPr lang="en-US" sz="1800" dirty="0">
                <a:sym typeface="+mn-ea"/>
              </a:rPr>
              <a:t>X + ε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ym typeface="+mn-ea"/>
              </a:rPr>
              <a:t>Where, </a:t>
            </a:r>
            <a:endParaRPr lang="en-US" sz="1800" dirty="0"/>
          </a:p>
          <a:p>
            <a:r>
              <a:rPr lang="en-US" sz="1800" dirty="0">
                <a:sym typeface="+mn-ea"/>
              </a:rPr>
              <a:t>X = Independent variable that used to predict the dependent variable (also called predictor variable)</a:t>
            </a:r>
            <a:endParaRPr lang="en-US" sz="1800" dirty="0"/>
          </a:p>
          <a:p>
            <a:r>
              <a:rPr lang="en-US" sz="1800" dirty="0">
                <a:sym typeface="+mn-ea"/>
              </a:rPr>
              <a:t>Y = Dependent variable being predicted by regression model (also called response variable)</a:t>
            </a:r>
            <a:endParaRPr lang="en-US" sz="1800" dirty="0"/>
          </a:p>
          <a:p>
            <a:pPr marL="244475" lvl="0">
              <a:buFont typeface="Arial" panose="020B0604020202020204" pitchFamily="34" charset="0"/>
              <a:buChar char="•"/>
            </a:pPr>
            <a:r>
              <a:rPr lang="en-US" sz="1800" dirty="0">
                <a:sym typeface="+mn-ea"/>
              </a:rPr>
              <a:t>β</a:t>
            </a:r>
            <a:r>
              <a:rPr lang="en-US" sz="1800" baseline="-25000" dirty="0">
                <a:sym typeface="+mn-ea"/>
              </a:rPr>
              <a:t>0 </a:t>
            </a:r>
            <a:r>
              <a:rPr lang="en-US" sz="1800" dirty="0">
                <a:sym typeface="+mn-ea"/>
              </a:rPr>
              <a:t>&amp; β</a:t>
            </a:r>
            <a:r>
              <a:rPr lang="en-US" sz="1800" baseline="-25000" dirty="0">
                <a:sym typeface="+mn-ea"/>
              </a:rPr>
              <a:t>1</a:t>
            </a:r>
            <a:r>
              <a:rPr lang="en-US" sz="1800" dirty="0">
                <a:sym typeface="+mn-ea"/>
              </a:rPr>
              <a:t> are called regression parameters and interpreted as</a:t>
            </a:r>
            <a:endParaRPr lang="en-US" sz="1800" dirty="0"/>
          </a:p>
          <a:p>
            <a:pPr lvl="1"/>
            <a:r>
              <a:rPr lang="en-US" sz="1800" dirty="0">
                <a:sym typeface="+mn-ea"/>
              </a:rPr>
              <a:t>β</a:t>
            </a:r>
            <a:r>
              <a:rPr lang="en-US" sz="1800" baseline="-25000" dirty="0">
                <a:sym typeface="+mn-ea"/>
              </a:rPr>
              <a:t>0</a:t>
            </a:r>
            <a:r>
              <a:rPr lang="en-US" sz="1800" dirty="0">
                <a:sym typeface="+mn-ea"/>
              </a:rPr>
              <a:t> = Intercept (The average value of dependent variable Y when independent variable X is zero)</a:t>
            </a:r>
            <a:endParaRPr lang="en-US" sz="1800" dirty="0"/>
          </a:p>
          <a:p>
            <a:pPr lvl="1"/>
            <a:r>
              <a:rPr lang="en-US" sz="1800" dirty="0">
                <a:sym typeface="+mn-ea"/>
              </a:rPr>
              <a:t>β</a:t>
            </a:r>
            <a:r>
              <a:rPr lang="en-US" sz="1800" baseline="-25000" dirty="0">
                <a:sym typeface="+mn-ea"/>
              </a:rPr>
              <a:t>1</a:t>
            </a:r>
            <a:r>
              <a:rPr lang="en-US" sz="1800" dirty="0">
                <a:sym typeface="+mn-ea"/>
              </a:rPr>
              <a:t> = Slope (The change in dependent variable Y for the unit change in independent variable X)</a:t>
            </a:r>
            <a:endParaRPr lang="en-US" sz="1800" dirty="0"/>
          </a:p>
          <a:p>
            <a:pPr lvl="1"/>
            <a:r>
              <a:rPr lang="en-US" sz="1800" dirty="0">
                <a:sym typeface="+mn-ea"/>
              </a:rPr>
              <a:t>ε = Residual (error), the portion of the dependent variable that is not explained by the model.</a:t>
            </a:r>
            <a:endParaRPr lang="en-IN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olidFill>
                  <a:schemeClr val="accent6"/>
                </a:solidFill>
                <a:sym typeface="+mn-ea"/>
              </a:rPr>
              <a:t>Regression : Explanation</a:t>
            </a:r>
            <a:endParaRPr lang="en-US" dirty="0">
              <a:solidFill>
                <a:schemeClr val="accent6"/>
              </a:solidFill>
              <a:sym typeface="+mn-ea"/>
            </a:endParaRPr>
          </a:p>
        </p:txBody>
      </p:sp>
      <p:pic>
        <p:nvPicPr>
          <p:cNvPr id="4" name="Picture 2" descr="Related image"/>
          <p:cNvPicPr>
            <a:picLocks noGrp="1" noChangeAspect="1" noChangeArrowheads="1"/>
          </p:cNvPicPr>
          <p:nvPr>
            <p:ph idx="10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55" y="918210"/>
            <a:ext cx="8582660" cy="541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olidFill>
                  <a:schemeClr val="accent6"/>
                </a:solidFill>
                <a:sym typeface="+mn-ea"/>
              </a:rPr>
              <a:t>Linear Vs Nonlinear</a:t>
            </a:r>
            <a:endParaRPr lang="en-US" dirty="0">
              <a:solidFill>
                <a:schemeClr val="accent6"/>
              </a:solidFill>
              <a:sym typeface="+mn-ea"/>
            </a:endParaRPr>
          </a:p>
        </p:txBody>
      </p:sp>
      <p:pic>
        <p:nvPicPr>
          <p:cNvPr id="10242" name="Picture 2" descr="Image result for regression types"/>
          <p:cNvPicPr>
            <a:picLocks noGrp="1" noChangeAspect="1" noChangeArrowheads="1"/>
          </p:cNvPicPr>
          <p:nvPr>
            <p:ph idx="10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7" b="6432"/>
          <a:stretch>
            <a:fillRect/>
          </a:stretch>
        </p:blipFill>
        <p:spPr bwMode="auto">
          <a:xfrm>
            <a:off x="1019810" y="898525"/>
            <a:ext cx="8179435" cy="5338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olidFill>
                  <a:schemeClr val="accent6"/>
                </a:solidFill>
                <a:sym typeface="+mn-ea"/>
              </a:rPr>
              <a:t>Regression : Model types</a:t>
            </a:r>
            <a:endParaRPr lang="en-US" dirty="0">
              <a:solidFill>
                <a:schemeClr val="accent6"/>
              </a:solidFill>
              <a:sym typeface="+mn-ea"/>
            </a:endParaRPr>
          </a:p>
        </p:txBody>
      </p:sp>
      <p:pic>
        <p:nvPicPr>
          <p:cNvPr id="6146" name="Picture 2" descr="Types Regression model"/>
          <p:cNvPicPr>
            <a:picLocks noGrp="1" noChangeAspect="1" noChangeArrowheads="1"/>
          </p:cNvPicPr>
          <p:nvPr>
            <p:ph idx="10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405" y="1176020"/>
            <a:ext cx="6735115" cy="325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peech Bubble: Oval 3"/>
          <p:cNvSpPr/>
          <p:nvPr/>
        </p:nvSpPr>
        <p:spPr>
          <a:xfrm>
            <a:off x="9615805" y="1480820"/>
            <a:ext cx="1371600" cy="1219200"/>
          </a:xfrm>
          <a:prstGeom prst="wedgeEllipseCallout">
            <a:avLst>
              <a:gd name="adj1" fmla="val -146521"/>
              <a:gd name="adj2" fmla="val 14666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 &amp; more predictor variables</a:t>
            </a:r>
            <a:endParaRPr lang="en-US" sz="1200" dirty="0"/>
          </a:p>
        </p:txBody>
      </p:sp>
      <p:sp>
        <p:nvSpPr>
          <p:cNvPr id="6" name="Speech Bubble: Oval 5"/>
          <p:cNvSpPr/>
          <p:nvPr/>
        </p:nvSpPr>
        <p:spPr>
          <a:xfrm>
            <a:off x="776605" y="1328420"/>
            <a:ext cx="1371600" cy="1219200"/>
          </a:xfrm>
          <a:prstGeom prst="wedgeEllipseCallout">
            <a:avLst>
              <a:gd name="adj1" fmla="val 184281"/>
              <a:gd name="adj2" fmla="val 30805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Only1 predictor variable</a:t>
            </a:r>
            <a:endParaRPr lang="en-US" sz="1200" dirty="0"/>
          </a:p>
        </p:txBody>
      </p:sp>
      <p:sp>
        <p:nvSpPr>
          <p:cNvPr id="8" name="Speech Bubble: Oval 7"/>
          <p:cNvSpPr/>
          <p:nvPr/>
        </p:nvSpPr>
        <p:spPr>
          <a:xfrm>
            <a:off x="471805" y="4528820"/>
            <a:ext cx="1371600" cy="1219200"/>
          </a:xfrm>
          <a:prstGeom prst="wedgeEllipseCallout">
            <a:avLst>
              <a:gd name="adj1" fmla="val 142087"/>
              <a:gd name="adj2" fmla="val -98309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is a linear equation</a:t>
            </a:r>
            <a:endParaRPr lang="en-US" sz="1200" dirty="0"/>
          </a:p>
        </p:txBody>
      </p:sp>
      <p:sp>
        <p:nvSpPr>
          <p:cNvPr id="10" name="Speech Bubble: Oval 9"/>
          <p:cNvSpPr/>
          <p:nvPr/>
        </p:nvSpPr>
        <p:spPr>
          <a:xfrm>
            <a:off x="6872605" y="4798581"/>
            <a:ext cx="1371600" cy="1219200"/>
          </a:xfrm>
          <a:prstGeom prst="wedgeEllipseCallout">
            <a:avLst>
              <a:gd name="adj1" fmla="val -62132"/>
              <a:gd name="adj2" fmla="val -108752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is a linear equation</a:t>
            </a:r>
            <a:endParaRPr lang="en-US" sz="1200" dirty="0"/>
          </a:p>
        </p:txBody>
      </p:sp>
      <p:sp>
        <p:nvSpPr>
          <p:cNvPr id="11" name="Speech Bubble: Oval 10"/>
          <p:cNvSpPr/>
          <p:nvPr/>
        </p:nvSpPr>
        <p:spPr>
          <a:xfrm>
            <a:off x="3405505" y="4909820"/>
            <a:ext cx="1371600" cy="1219200"/>
          </a:xfrm>
          <a:prstGeom prst="wedgeEllipseCallout">
            <a:avLst>
              <a:gd name="adj1" fmla="val 65294"/>
              <a:gd name="adj2" fmla="val -116347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is a nonlinear equation</a:t>
            </a:r>
            <a:endParaRPr lang="en-US" sz="1200" dirty="0"/>
          </a:p>
        </p:txBody>
      </p:sp>
      <p:sp>
        <p:nvSpPr>
          <p:cNvPr id="12" name="Speech Bubble: Oval 11"/>
          <p:cNvSpPr/>
          <p:nvPr/>
        </p:nvSpPr>
        <p:spPr>
          <a:xfrm>
            <a:off x="9539605" y="4525926"/>
            <a:ext cx="1371600" cy="1219200"/>
          </a:xfrm>
          <a:prstGeom prst="wedgeEllipseCallout">
            <a:avLst>
              <a:gd name="adj1" fmla="val -89981"/>
              <a:gd name="adj2" fmla="val -97360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is a nonlinear equation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olidFill>
                  <a:schemeClr val="accent6"/>
                </a:solidFill>
                <a:sym typeface="+mn-ea"/>
              </a:rPr>
              <a:t>Regression : General Methodology</a:t>
            </a:r>
            <a:endParaRPr lang="en-US" dirty="0">
              <a:solidFill>
                <a:schemeClr val="accent6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95350"/>
            <a:ext cx="10972800" cy="5541010"/>
          </a:xfrm>
        </p:spPr>
        <p:txBody>
          <a:bodyPr/>
          <a:p>
            <a:pPr marL="0" indent="0">
              <a:buNone/>
            </a:pPr>
            <a:r>
              <a:rPr lang="en-US" sz="1800" dirty="0">
                <a:sym typeface="+mn-ea"/>
              </a:rPr>
              <a:t>General Steps for Regression analysis : 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ym typeface="+mn-ea"/>
              </a:rPr>
              <a:t>Exploring the relationship by plotting the independent variable with dependent variable.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ym typeface="+mn-ea"/>
              </a:rPr>
              <a:t>Specify the Regression model. (Simple linear, multiple linear or Nonlinear)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ym typeface="+mn-ea"/>
              </a:rPr>
              <a:t>Estimate the regression parameters with minimum residual(error).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ym typeface="+mn-ea"/>
              </a:rPr>
              <a:t>Analyze the relationship &amp; predict the dependent variable for future.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ym typeface="+mn-ea"/>
              </a:rPr>
              <a:t>Example:</a:t>
            </a:r>
            <a:r>
              <a:rPr lang="en-US" sz="1800" dirty="0">
                <a:sym typeface="+mn-ea"/>
              </a:rPr>
              <a:t> </a:t>
            </a:r>
            <a:endParaRPr lang="en-US" sz="1800" dirty="0"/>
          </a:p>
          <a:p>
            <a:endParaRPr lang="en-US" sz="1800"/>
          </a:p>
        </p:txBody>
      </p:sp>
      <p:pic>
        <p:nvPicPr>
          <p:cNvPr id="8194" name="Picture 2" descr="Simple Linear Regression Scatter Conditional Prediction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"/>
          <a:stretch>
            <a:fillRect/>
          </a:stretch>
        </p:blipFill>
        <p:spPr bwMode="auto">
          <a:xfrm>
            <a:off x="2270125" y="2980690"/>
            <a:ext cx="6052820" cy="326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olidFill>
                  <a:schemeClr val="accent6"/>
                </a:solidFill>
                <a:sym typeface="+mn-ea"/>
              </a:rPr>
              <a:t>Regression : some common models</a:t>
            </a:r>
            <a:endParaRPr lang="en-US" dirty="0">
              <a:solidFill>
                <a:schemeClr val="accent6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ym typeface="+mn-ea"/>
              </a:rPr>
              <a:t>Simple linear Regression:</a:t>
            </a:r>
            <a:r>
              <a:rPr lang="en-US" sz="1800" dirty="0">
                <a:sym typeface="+mn-ea"/>
              </a:rPr>
              <a:t> To predict the sales using the expenditure on advertisement.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ym typeface="+mn-ea"/>
              </a:rPr>
              <a:t>Multiple linear Regression:</a:t>
            </a:r>
            <a:r>
              <a:rPr lang="en-US" sz="1800" dirty="0">
                <a:sym typeface="+mn-ea"/>
              </a:rPr>
              <a:t> To predict the compressive strength of cement using the contents of cement.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ym typeface="+mn-ea"/>
              </a:rPr>
              <a:t>Logistic Regression:</a:t>
            </a:r>
            <a:r>
              <a:rPr lang="en-US" sz="1800" dirty="0">
                <a:sym typeface="+mn-ea"/>
              </a:rPr>
              <a:t> To predict that a customer will take loan or not based on the factors such as age, gender, income, marital status etc.</a:t>
            </a:r>
            <a:endParaRPr 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 noChangeArrowheads="1"/>
          </p:cNvSpPr>
          <p:nvPr>
            <p:ph type="ctrTitle"/>
          </p:nvPr>
        </p:nvSpPr>
        <p:spPr>
          <a:xfrm>
            <a:off x="624417" y="1623695"/>
            <a:ext cx="10943167" cy="1082675"/>
          </a:xfrm>
        </p:spPr>
        <p:txBody>
          <a:bodyPr/>
          <a:p>
            <a:r>
              <a:rPr lang="en-US" sz="5000" b="1" dirty="0">
                <a:solidFill>
                  <a:srgbClr val="FF0000"/>
                </a:solidFill>
                <a:sym typeface="+mn-ea"/>
              </a:rPr>
              <a:t>Linear Regression</a:t>
            </a:r>
            <a:endParaRPr lang="en-US" sz="50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olidFill>
                  <a:schemeClr val="accent6"/>
                </a:solidFill>
                <a:sym typeface="+mn-ea"/>
              </a:rPr>
              <a:t>Linear Regression - Univariate</a:t>
            </a:r>
            <a:endParaRPr lang="en-US" dirty="0">
              <a:solidFill>
                <a:schemeClr val="accent6"/>
              </a:solidFill>
              <a:sym typeface="+mn-ea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292559" y="1327208"/>
            <a:ext cx="3004672" cy="332912"/>
            <a:chOff x="6963637" y="549800"/>
            <a:chExt cx="3004672" cy="332912"/>
          </a:xfrm>
        </p:grpSpPr>
        <p:sp>
          <p:nvSpPr>
            <p:cNvPr id="13" name="TextBox 12"/>
            <p:cNvSpPr txBox="1"/>
            <p:nvPr/>
          </p:nvSpPr>
          <p:spPr>
            <a:xfrm>
              <a:off x="6963637" y="559632"/>
              <a:ext cx="1229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Data set</a:t>
              </a:r>
              <a:endPara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Rectangle 13"/>
                <p:cNvSpPr/>
                <p:nvPr/>
              </p:nvSpPr>
              <p:spPr>
                <a:xfrm>
                  <a:off x="8042974" y="549800"/>
                  <a:ext cx="1925335" cy="33291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r>
                    <a:rPr lang="en-US" sz="14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21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a14:m>
                  <a:r>
                    <a:rPr lang="en-US" sz="1400" dirty="0"/>
                    <a:t> pairs</a:t>
                  </a:r>
                  <a:endParaRPr lang="en-US" sz="1400" dirty="0"/>
                </a:p>
              </p:txBody>
            </p:sp>
          </mc:Choice>
          <mc:Fallback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2974" y="549800"/>
                  <a:ext cx="1925335" cy="33291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Box 21"/>
          <p:cNvSpPr txBox="1"/>
          <p:nvPr/>
        </p:nvSpPr>
        <p:spPr>
          <a:xfrm>
            <a:off x="292559" y="1911524"/>
            <a:ext cx="3472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Expression for linear regression: </a:t>
            </a:r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3727023" y="1678406"/>
            <a:ext cx="2470192" cy="1025206"/>
            <a:chOff x="3879124" y="2110396"/>
            <a:chExt cx="2470192" cy="1025206"/>
          </a:xfrm>
          <a:solidFill>
            <a:schemeClr val="bg1">
              <a:lumMod val="85000"/>
            </a:schemeClr>
          </a:solidFill>
        </p:grpSpPr>
        <p:sp>
          <p:nvSpPr>
            <p:cNvPr id="21" name="TextBox 20"/>
            <p:cNvSpPr txBox="1"/>
            <p:nvPr/>
          </p:nvSpPr>
          <p:spPr>
            <a:xfrm>
              <a:off x="4367179" y="2827825"/>
              <a:ext cx="1207895" cy="30777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Parameters</a:t>
              </a:r>
              <a:endPara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Rectangle 16"/>
                <p:cNvSpPr/>
                <p:nvPr/>
              </p:nvSpPr>
              <p:spPr>
                <a:xfrm>
                  <a:off x="3879124" y="2371131"/>
                  <a:ext cx="1416990" cy="338554"/>
                </a:xfrm>
                <a:prstGeom prst="rect">
                  <a:avLst/>
                </a:prstGeom>
                <a:grpFill/>
              </p:spPr>
              <p:txBody>
                <a:bodyPr wrap="non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600" b="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9124" y="2371131"/>
                  <a:ext cx="1416990" cy="338554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/>
            <p:cNvCxnSpPr/>
            <p:nvPr/>
          </p:nvCxnSpPr>
          <p:spPr>
            <a:xfrm>
              <a:off x="4481865" y="2660092"/>
              <a:ext cx="303415" cy="236142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4928425" y="2651997"/>
              <a:ext cx="42702" cy="249787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5439259" y="2110396"/>
              <a:ext cx="910057" cy="30777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Variable</a:t>
              </a:r>
              <a:endPara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cxnSp>
          <p:nvCxnSpPr>
            <p:cNvPr id="30" name="Straight Arrow Connector 29"/>
            <p:cNvCxnSpPr>
              <a:endCxn id="29" idx="1"/>
            </p:cNvCxnSpPr>
            <p:nvPr/>
          </p:nvCxnSpPr>
          <p:spPr>
            <a:xfrm flipV="1">
              <a:off x="5185624" y="2264285"/>
              <a:ext cx="253635" cy="194208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292559" y="2837403"/>
            <a:ext cx="6338595" cy="338837"/>
            <a:chOff x="623392" y="3346767"/>
            <a:chExt cx="6338595" cy="338837"/>
          </a:xfrm>
        </p:grpSpPr>
        <p:sp>
          <p:nvSpPr>
            <p:cNvPr id="45" name="TextBox 44"/>
            <p:cNvSpPr txBox="1"/>
            <p:nvPr/>
          </p:nvSpPr>
          <p:spPr>
            <a:xfrm>
              <a:off x="623392" y="3377827"/>
              <a:ext cx="63385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What is the “best” value of              that predicts the data?</a:t>
              </a:r>
              <a:endParaRPr lang="en-US" sz="1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Rectangle 45"/>
                <p:cNvSpPr/>
                <p:nvPr/>
              </p:nvSpPr>
              <p:spPr>
                <a:xfrm>
                  <a:off x="3762537" y="3346767"/>
                  <a:ext cx="735147" cy="33855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46" name="Rectangl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2537" y="3346767"/>
                  <a:ext cx="735147" cy="338554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/>
              <p:cNvSpPr/>
              <p:nvPr/>
            </p:nvSpPr>
            <p:spPr>
              <a:xfrm>
                <a:off x="532205" y="3736231"/>
                <a:ext cx="6389635" cy="9792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Let the difference/error between model and real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</a:t>
                </a:r>
                <a:endPara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We want the model to “predict” values closer to real values </a:t>
                </a:r>
                <a:r>
                  <a:rPr lang="en-US" sz="1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  <a:sym typeface="Wingdings" panose="05000000000000000000" pitchFamily="2" charset="2"/>
                  </a:rPr>
                  <a:t> </a:t>
                </a:r>
                <a:endPara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05" y="3736231"/>
                <a:ext cx="6389635" cy="979242"/>
              </a:xfrm>
              <a:prstGeom prst="rect">
                <a:avLst/>
              </a:prstGeom>
              <a:blipFill rotWithShape="1">
                <a:blip r:embed="rId5"/>
                <a:stretch>
                  <a:fillRect l="-1" t="-54" r="5" b="6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47"/>
          <p:cNvSpPr/>
          <p:nvPr/>
        </p:nvSpPr>
        <p:spPr>
          <a:xfrm>
            <a:off x="413584" y="3586638"/>
            <a:ext cx="1039067" cy="338554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sz="1600" b="1" u="sng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Method</a:t>
            </a:r>
            <a:endParaRPr lang="en-US" sz="1600" dirty="0"/>
          </a:p>
        </p:txBody>
      </p:sp>
      <p:grpSp>
        <p:nvGrpSpPr>
          <p:cNvPr id="74" name="Group 73"/>
          <p:cNvGrpSpPr/>
          <p:nvPr/>
        </p:nvGrpSpPr>
        <p:grpSpPr>
          <a:xfrm>
            <a:off x="6555948" y="980215"/>
            <a:ext cx="3775301" cy="2307292"/>
            <a:chOff x="8391510" y="1086273"/>
            <a:chExt cx="3775301" cy="2307292"/>
          </a:xfrm>
        </p:grpSpPr>
        <p:graphicFrame>
          <p:nvGraphicFramePr>
            <p:cNvPr id="73" name="Chart 72"/>
            <p:cNvGraphicFramePr/>
            <p:nvPr/>
          </p:nvGraphicFramePr>
          <p:xfrm>
            <a:off x="8391510" y="1151731"/>
            <a:ext cx="3775301" cy="224183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65" name="TextBox 64"/>
            <p:cNvSpPr txBox="1"/>
            <p:nvPr/>
          </p:nvSpPr>
          <p:spPr>
            <a:xfrm>
              <a:off x="10279160" y="1086273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800" b="1" i="1" dirty="0"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y</a:t>
              </a:r>
              <a:endParaRPr lang="en-US" sz="1800" b="1" i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1735622" y="273746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800" b="1" i="1" dirty="0"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x</a:t>
              </a:r>
              <a:endParaRPr lang="en-US" sz="1800" b="1" i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72" name="Object 71"/>
          <p:cNvGraphicFramePr>
            <a:graphicFrameLocks noChangeAspect="1"/>
          </p:cNvGraphicFramePr>
          <p:nvPr/>
        </p:nvGraphicFramePr>
        <p:xfrm>
          <a:off x="10438308" y="993678"/>
          <a:ext cx="1225550" cy="405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Worksheet" r:id="rId6" imgW="1122680" imgH="3703955" progId="Excel.Sheet.12">
                  <p:embed/>
                </p:oleObj>
              </mc:Choice>
              <mc:Fallback>
                <p:oleObj name="Worksheet" r:id="rId6" imgW="1122680" imgH="3703955" progId="Excel.Sheet.12">
                  <p:embed/>
                  <p:pic>
                    <p:nvPicPr>
                      <p:cNvPr id="0" name="Picture 313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38308" y="993678"/>
                        <a:ext cx="1225550" cy="405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5" name="Rectangle 74"/>
              <p:cNvSpPr/>
              <p:nvPr/>
            </p:nvSpPr>
            <p:spPr>
              <a:xfrm>
                <a:off x="6677302" y="3927803"/>
                <a:ext cx="1252651" cy="3385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m:t>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</m:t>
                      </m:r>
                      <m:acc>
                        <m:accPr>
                          <m:chr m:val="̃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75" name="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302" y="3927803"/>
                <a:ext cx="1252651" cy="338554"/>
              </a:xfrm>
              <a:prstGeom prst="rect">
                <a:avLst/>
              </a:prstGeom>
              <a:blipFill rotWithShape="1">
                <a:blip r:embed="rId8"/>
                <a:stretch>
                  <a:fillRect l="-22" t="-97" r="6" b="12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Rectangle 75"/>
              <p:cNvSpPr/>
              <p:nvPr/>
            </p:nvSpPr>
            <p:spPr>
              <a:xfrm>
                <a:off x="6677302" y="4346579"/>
                <a:ext cx="3839513" cy="3385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∆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should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be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as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small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as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possible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for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any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302" y="4346579"/>
                <a:ext cx="3839513" cy="338554"/>
              </a:xfrm>
              <a:prstGeom prst="rect">
                <a:avLst/>
              </a:prstGeom>
              <a:blipFill rotWithShape="1">
                <a:blip r:embed="rId9"/>
                <a:stretch>
                  <a:fillRect l="-7" t="-1" r="15" b="3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Rectangle 76"/>
              <p:cNvSpPr/>
              <p:nvPr/>
            </p:nvSpPr>
            <p:spPr>
              <a:xfrm>
                <a:off x="570230" y="4855210"/>
                <a:ext cx="4343400" cy="5530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Let us minimize average error</a:t>
                </a:r>
                <a:r>
                  <a:rPr lang="en-IN" altLang="en-US" sz="1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1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w.r.t</a:t>
                </a:r>
                <a:r>
                  <a:rPr lang="en-IN" altLang="en-US" sz="1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𝟎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𝟏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</m:oMath>
                </a14:m>
                <a:r>
                  <a:rPr lang="en-US" sz="1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endPara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77" name="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30" y="4855210"/>
                <a:ext cx="4343400" cy="55308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Rectangle 78"/>
              <p:cNvSpPr/>
              <p:nvPr/>
            </p:nvSpPr>
            <p:spPr>
              <a:xfrm>
                <a:off x="4713126" y="4838928"/>
                <a:ext cx="1922967" cy="793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−</m:t>
                          </m:r>
                          <m:acc>
                            <m:accPr>
                              <m:chr m:val="̃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sSup>
                            <m:sSup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3126" y="4838928"/>
                <a:ext cx="1922967" cy="793230"/>
              </a:xfrm>
              <a:prstGeom prst="rect">
                <a:avLst/>
              </a:prstGeom>
              <a:blipFill rotWithShape="1">
                <a:blip r:embed="rId11"/>
                <a:stretch>
                  <a:fillRect l="-8" t="-29" r="18" b="4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Rectangle 80"/>
              <p:cNvSpPr/>
              <p:nvPr/>
            </p:nvSpPr>
            <p:spPr>
              <a:xfrm>
                <a:off x="6677302" y="4907045"/>
                <a:ext cx="2192422" cy="532390"/>
              </a:xfrm>
              <a:prstGeom prst="rect">
                <a:avLst/>
              </a:prstGeom>
              <a:solidFill>
                <a:schemeClr val="bg2">
                  <a:lumMod val="85000"/>
                </a:schemeClr>
              </a:solidFill>
            </p:spPr>
            <p:txBody>
              <a:bodyPr wrap="square">
                <a:spAutoFit/>
              </a:bodyPr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1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</a:t>
                </a:r>
                <a:r>
                  <a:rPr lang="en-US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81" name="Rectangle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302" y="4907045"/>
                <a:ext cx="2192422" cy="532390"/>
              </a:xfrm>
              <a:prstGeom prst="rect">
                <a:avLst/>
              </a:prstGeom>
              <a:blipFill rotWithShape="1">
                <a:blip r:embed="rId12"/>
                <a:stretch>
                  <a:fillRect l="-13" t="-75" r="2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Group 85"/>
          <p:cNvGrpSpPr/>
          <p:nvPr/>
        </p:nvGrpSpPr>
        <p:grpSpPr>
          <a:xfrm>
            <a:off x="921206" y="5623566"/>
            <a:ext cx="10816632" cy="803063"/>
            <a:chOff x="921206" y="5623566"/>
            <a:chExt cx="10816632" cy="80306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Rectangle 81"/>
                <p:cNvSpPr/>
                <p:nvPr/>
              </p:nvSpPr>
              <p:spPr>
                <a:xfrm>
                  <a:off x="921206" y="5623566"/>
                  <a:ext cx="2479354" cy="7932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</m:t>
                            </m:r>
                            <m:acc>
                              <m:accPr>
                                <m:chr m:val="̃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)(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US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82" name="Rectangle 8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206" y="5623566"/>
                  <a:ext cx="2479354" cy="793230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Rectangle 82"/>
                <p:cNvSpPr/>
                <p:nvPr/>
              </p:nvSpPr>
              <p:spPr>
                <a:xfrm>
                  <a:off x="3764984" y="5633399"/>
                  <a:ext cx="2912318" cy="7932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</m:t>
                            </m:r>
                            <m:acc>
                              <m:accPr>
                                <m:chr m:val="̃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)(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US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83" name="Rectangle 8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4984" y="5633399"/>
                  <a:ext cx="2912318" cy="793230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Rectangle 84"/>
            <p:cNvSpPr/>
            <p:nvPr/>
          </p:nvSpPr>
          <p:spPr>
            <a:xfrm>
              <a:off x="11041814" y="6149630"/>
              <a:ext cx="696024" cy="27699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sz="1200" dirty="0">
                  <a:solidFill>
                    <a:srgbClr val="00206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Contd.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75" grpId="0" bldLvl="0" animBg="1"/>
      <p:bldP spid="76" grpId="0" bldLvl="0" animBg="1"/>
      <p:bldP spid="77" grpId="0"/>
      <p:bldP spid="79" grpId="0"/>
      <p:bldP spid="81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>
                <a:solidFill>
                  <a:schemeClr val="accent6"/>
                </a:solidFill>
                <a:sym typeface="+mn-ea"/>
              </a:rPr>
              <a:t>Linear Regression - Univariate</a:t>
            </a:r>
            <a:endParaRPr lang="en-US" b="1" dirty="0">
              <a:solidFill>
                <a:schemeClr val="accent6"/>
              </a:solidFill>
              <a:sym typeface="+mn-ea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03915" y="1086273"/>
            <a:ext cx="11784632" cy="1946815"/>
            <a:chOff x="335360" y="1086273"/>
            <a:chExt cx="11784632" cy="194681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Rectangle 34"/>
                <p:cNvSpPr/>
                <p:nvPr/>
              </p:nvSpPr>
              <p:spPr>
                <a:xfrm>
                  <a:off x="8328248" y="1086273"/>
                  <a:ext cx="3791744" cy="19468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=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=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80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         </m:t>
                        </m:r>
                        <m:acc>
                          <m:accPr>
                            <m:chr m:val="̅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800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=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=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1800" i="1" dirty="0">
                    <a:latin typeface="Cambria Math" panose="02040503050406030204" pitchFamily="18" charset="0"/>
                    <a:ea typeface="Verdana" panose="020B0604030504040204" pitchFamily="34" charset="0"/>
                  </a:endParaRPr>
                </a:p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sz="180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acc>
                        <m:r>
                          <a:rPr lang="en-US" sz="1800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=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=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𝑁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180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sz="1800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         </m:t>
                        </m:r>
                        <m:acc>
                          <m:accPr>
                            <m:chr m:val="̅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𝑥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800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=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=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𝑥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1800" dirty="0">
                    <a:ea typeface="Verdana" panose="020B0604030504040204" pitchFamily="34" charset="0"/>
                  </a:endParaRPr>
                </a:p>
                <a:p>
                  <a:pPr algn="r"/>
                  <a:r>
                    <a:rPr lang="en-US" sz="1800" dirty="0">
                      <a:ea typeface="Verdana" panose="020B0604030504040204" pitchFamily="34" charset="0"/>
                    </a:rPr>
                    <a:t>   </a:t>
                  </a:r>
                  <a:endParaRPr lang="en-US" sz="18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8248" y="1086273"/>
                  <a:ext cx="3791744" cy="194681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Rectangle 30"/>
            <p:cNvSpPr/>
            <p:nvPr/>
          </p:nvSpPr>
          <p:spPr>
            <a:xfrm>
              <a:off x="335360" y="1268760"/>
              <a:ext cx="4943120" cy="52322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Leads to two simultaneous algebraic equations in   </a:t>
              </a:r>
              <a:endPara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Rectangle 31"/>
                <p:cNvSpPr/>
                <p:nvPr/>
              </p:nvSpPr>
              <p:spPr>
                <a:xfrm>
                  <a:off x="5026530" y="1464039"/>
                  <a:ext cx="784125" cy="33855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6530" y="1464039"/>
                  <a:ext cx="784125" cy="338554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Group 6"/>
            <p:cNvGrpSpPr/>
            <p:nvPr/>
          </p:nvGrpSpPr>
          <p:grpSpPr>
            <a:xfrm>
              <a:off x="5810655" y="1248815"/>
              <a:ext cx="2342090" cy="956049"/>
              <a:chOff x="6456040" y="1444894"/>
              <a:chExt cx="2342090" cy="956049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6456040" y="1523219"/>
                <a:ext cx="2212424" cy="766492"/>
                <a:chOff x="6456040" y="1523219"/>
                <a:chExt cx="2212424" cy="766492"/>
              </a:xfrm>
              <a:solidFill>
                <a:schemeClr val="bg2">
                  <a:lumMod val="85000"/>
                </a:schemeClr>
              </a:solidFill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3" name="Rectangle 32"/>
                    <p:cNvSpPr/>
                    <p:nvPr/>
                  </p:nvSpPr>
                  <p:spPr>
                    <a:xfrm>
                      <a:off x="6456040" y="1523219"/>
                      <a:ext cx="195114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p>
                      <a:pPr algn="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800" b="1" i="1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b="1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𝒙</m:t>
                                  </m:r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 </m:t>
                                  </m:r>
                                </m:e>
                              </m:acc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 </m:t>
                              </m:r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US" sz="1800" b="1" i="1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𝒚</m:t>
                              </m:r>
                            </m:e>
                          </m:acc>
                        </m:oMath>
                      </a14:m>
                      <a:r>
                        <a:rPr lang="en-US" sz="1800" b="1" dirty="0">
                          <a:ea typeface="Verdana" panose="020B0604030504040204" pitchFamily="34" charset="0"/>
                        </a:rPr>
                        <a:t>   </a:t>
                      </a:r>
                      <a:endParaRPr lang="en-US" sz="1800" b="1" i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</mc:Choice>
              <mc:Fallback>
                <p:sp>
                  <p:nvSpPr>
                    <p:cNvPr id="33" name="Rectangle 3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56040" y="1523219"/>
                      <a:ext cx="1951144" cy="369332"/>
                    </a:xfrm>
                    <a:prstGeom prst="rect">
                      <a:avLst/>
                    </a:prstGeom>
                    <a:blipFill rotWithShape="1">
                      <a:blip r:embed="rId4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" name="Rectangle 3"/>
                    <p:cNvSpPr/>
                    <p:nvPr/>
                  </p:nvSpPr>
                  <p:spPr>
                    <a:xfrm>
                      <a:off x="6622904" y="1892551"/>
                      <a:ext cx="2045560" cy="397160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00" b="1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𝒙</m:t>
                                    </m:r>
                                  </m:e>
                                </m:acc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18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800" b="1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1" i="1" smtClean="0"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</a:rPr>
                                          <m:t>𝒙</m:t>
                                        </m:r>
                                      </m:e>
                                      <m:sup>
                                        <m:r>
                                          <a:rPr lang="en-US" sz="1800" b="1" i="1" smtClean="0"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e>
                                </m:acc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 </m:t>
                                </m:r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18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en-US" sz="1800" b="1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𝒙𝒚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800" b="1" i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p:txBody>
                </p:sp>
              </mc:Choice>
              <mc:Fallback>
                <p:sp>
                  <p:nvSpPr>
                    <p:cNvPr id="4" name="Rectangle 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22904" y="1892551"/>
                      <a:ext cx="2045560" cy="397160"/>
                    </a:xfrm>
                    <a:prstGeom prst="rect">
                      <a:avLst/>
                    </a:prstGeom>
                    <a:blipFill rotWithShape="1">
                      <a:blip r:embed="rId5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" name="Rectangle 5"/>
              <p:cNvSpPr/>
              <p:nvPr/>
            </p:nvSpPr>
            <p:spPr>
              <a:xfrm>
                <a:off x="6585706" y="1444894"/>
                <a:ext cx="2212424" cy="95604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  <a:alpha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b="1" dirty="0"/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194614" y="2091044"/>
            <a:ext cx="4329781" cy="523220"/>
            <a:chOff x="326059" y="2091044"/>
            <a:chExt cx="4329781" cy="523220"/>
          </a:xfrm>
        </p:grpSpPr>
        <p:sp>
          <p:nvSpPr>
            <p:cNvPr id="38" name="Rectangle 37"/>
            <p:cNvSpPr/>
            <p:nvPr/>
          </p:nvSpPr>
          <p:spPr>
            <a:xfrm>
              <a:off x="326059" y="2091044"/>
              <a:ext cx="4248538" cy="52322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Can be solved easily to get </a:t>
              </a:r>
              <a:r>
                <a:rPr lang="en-US" sz="14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“best”</a:t>
              </a:r>
              <a:endParaRPr lang="en-US" sz="1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Rectangle 38"/>
                <p:cNvSpPr/>
                <p:nvPr/>
              </p:nvSpPr>
              <p:spPr>
                <a:xfrm>
                  <a:off x="3871715" y="2275710"/>
                  <a:ext cx="784125" cy="33855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1715" y="2275710"/>
                  <a:ext cx="784125" cy="338554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419939" y="3000391"/>
            <a:ext cx="6672248" cy="698909"/>
            <a:chOff x="551384" y="3000391"/>
            <a:chExt cx="6672248" cy="698909"/>
          </a:xfrm>
        </p:grpSpPr>
        <p:sp>
          <p:nvSpPr>
            <p:cNvPr id="40" name="Rectangle 39"/>
            <p:cNvSpPr/>
            <p:nvPr/>
          </p:nvSpPr>
          <p:spPr>
            <a:xfrm>
              <a:off x="551384" y="3110228"/>
              <a:ext cx="2468175" cy="30777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sz="14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Exercise 1: Show that </a:t>
              </a:r>
              <a:endParaRPr lang="en-US" sz="1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Rectangle 40"/>
                <p:cNvSpPr/>
                <p:nvPr/>
              </p:nvSpPr>
              <p:spPr>
                <a:xfrm>
                  <a:off x="5243103" y="3000391"/>
                  <a:ext cx="1980529" cy="633058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>
                  <a:spAutoFit/>
                </a:bodyPr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𝑦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 </m:t>
                                </m:r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en-US" sz="1800" b="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𝑦</m:t>
                                </m:r>
                              </m:e>
                            </m:acc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</m:den>
                        </m:f>
                      </m:oMath>
                    </m:oMathPara>
                  </a14:m>
                  <a:endParaRPr lang="en-US" sz="18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41" name="Rectangle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3103" y="3000391"/>
                  <a:ext cx="1980529" cy="633058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Rectangle 49"/>
                <p:cNvSpPr/>
                <p:nvPr/>
              </p:nvSpPr>
              <p:spPr>
                <a:xfrm>
                  <a:off x="3032780" y="3000391"/>
                  <a:ext cx="1980529" cy="69890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>
                  <a:spAutoFit/>
                </a:bodyPr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 </m:t>
                                </m:r>
                              </m:e>
                            </m:acc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𝑥𝑦</m:t>
                                </m:r>
                              </m:e>
                            </m:acc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𝑦</m:t>
                                </m:r>
                              </m:e>
                            </m:acc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</m:den>
                        </m:f>
                      </m:oMath>
                    </m:oMathPara>
                  </a14:m>
                  <a:endParaRPr lang="en-US" sz="18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2780" y="3000391"/>
                  <a:ext cx="1980529" cy="698909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/>
          <p:cNvGrpSpPr/>
          <p:nvPr/>
        </p:nvGrpSpPr>
        <p:grpSpPr>
          <a:xfrm>
            <a:off x="418066" y="4293096"/>
            <a:ext cx="6266569" cy="966434"/>
            <a:chOff x="549511" y="4293096"/>
            <a:chExt cx="6266569" cy="966434"/>
          </a:xfrm>
        </p:grpSpPr>
        <p:sp>
          <p:nvSpPr>
            <p:cNvPr id="52" name="Rectangle 51"/>
            <p:cNvSpPr/>
            <p:nvPr/>
          </p:nvSpPr>
          <p:spPr>
            <a:xfrm>
              <a:off x="549511" y="4293096"/>
              <a:ext cx="6266569" cy="30777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sz="14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Exercise 2: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For the dataset, calculate parameters and show that </a:t>
              </a:r>
              <a:endPara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Rectangle 52"/>
                <p:cNvSpPr/>
                <p:nvPr/>
              </p:nvSpPr>
              <p:spPr>
                <a:xfrm>
                  <a:off x="1723622" y="4674755"/>
                  <a:ext cx="1453411" cy="58477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.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6848</m:t>
                        </m:r>
                      </m:oMath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50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.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5453</m:t>
                        </m:r>
                      </m:oMath>
                    </m:oMathPara>
                  </a14:m>
                  <a:endParaRPr lang="en-US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53" name="Rectangle 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3622" y="4674755"/>
                  <a:ext cx="1453411" cy="584775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/>
          <p:cNvGrpSpPr/>
          <p:nvPr/>
        </p:nvGrpSpPr>
        <p:grpSpPr>
          <a:xfrm>
            <a:off x="460409" y="3595542"/>
            <a:ext cx="11290013" cy="2743200"/>
            <a:chOff x="829979" y="3595542"/>
            <a:chExt cx="11290013" cy="2743200"/>
          </a:xfrm>
        </p:grpSpPr>
        <p:sp>
          <p:nvSpPr>
            <p:cNvPr id="54" name="Rectangle 53"/>
            <p:cNvSpPr/>
            <p:nvPr/>
          </p:nvSpPr>
          <p:spPr>
            <a:xfrm>
              <a:off x="829979" y="5560705"/>
              <a:ext cx="6718409" cy="30777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sz="14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Exercise 3: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use Excel “trendline” method to validate that this is correct.</a:t>
              </a:r>
              <a:endPara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graphicFrame>
          <p:nvGraphicFramePr>
            <p:cNvPr id="55" name="Chart 54"/>
            <p:cNvGraphicFramePr/>
            <p:nvPr/>
          </p:nvGraphicFramePr>
          <p:xfrm>
            <a:off x="7547992" y="3595542"/>
            <a:ext cx="457200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>
                <a:solidFill>
                  <a:schemeClr val="accent6"/>
                </a:solidFill>
                <a:sym typeface="+mn-ea"/>
              </a:rPr>
              <a:t>Assumptions of linear regression</a:t>
            </a:r>
            <a:endParaRPr lang="en-US" b="1" dirty="0">
              <a:solidFill>
                <a:schemeClr val="accent6"/>
              </a:solidFill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There is a linear relation between dependence variable and target</a:t>
                </a:r>
                <a:r>
                  <a:rPr lang="en-IN" alt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.</a:t>
                </a:r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There is no correlation between residuals</a:t>
                </a:r>
                <a:r>
                  <a:rPr lang="en-IN" alt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.</a:t>
                </a:r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Residuals have constant variance (homoscedasticity)</a:t>
                </a:r>
                <a:r>
                  <a:rPr lang="en-IN" alt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.</a:t>
                </a:r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Residuals of the model are normally distributed </a:t>
                </a: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Sum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should be close to zero.</a:t>
                </a:r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pPr marL="457200" lvl="1" indent="0">
                  <a:buNone/>
                </a:pPr>
                <a:r>
                  <a:rPr lang="en-US" sz="1575" b="1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   </a:t>
                </a:r>
                <a:r>
                  <a:rPr lang="en-US" sz="18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Exercise 4: verify this for the dataset</a:t>
                </a:r>
                <a:endParaRPr lang="en-US" sz="1800" b="1" dirty="0">
                  <a:solidFill>
                    <a:schemeClr val="accent2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  <a:sym typeface="+mn-ea"/>
                </a:endParaRPr>
              </a:p>
              <a:p>
                <a:endParaRPr lang="en-US" sz="1800" b="1" dirty="0">
                  <a:solidFill>
                    <a:schemeClr val="accent2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  <a:sym typeface="+mn-ea"/>
                </a:endParaRPr>
              </a:p>
              <a:p>
                <a:endParaRPr lang="en-US" sz="1800" b="1" dirty="0">
                  <a:solidFill>
                    <a:schemeClr val="accent2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  <a:sym typeface="+mn-ea"/>
                </a:endParaRPr>
              </a:p>
              <a:p>
                <a:endParaRPr lang="en-US" sz="1800" b="1" dirty="0">
                  <a:solidFill>
                    <a:schemeClr val="accent2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endParaRPr lang="en-US" sz="1800" b="1" dirty="0">
                  <a:solidFill>
                    <a:schemeClr val="accent2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endParaRPr lang="en-US" sz="1800" b="1" dirty="0">
                  <a:solidFill>
                    <a:schemeClr val="accent2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If residuals are not normally distributed, one can use </a:t>
                </a:r>
                <a:r>
                  <a:rPr lang="en-US" sz="18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GLM (Generalized linear Model)</a:t>
                </a:r>
                <a:r>
                  <a:rPr lang="en-IN" altLang="en-US" sz="18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.</a:t>
                </a:r>
                <a:endParaRPr lang="en-US" sz="1800" b="1" dirty="0">
                  <a:solidFill>
                    <a:schemeClr val="accent2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endParaRPr 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126230" y="4024630"/>
          <a:ext cx="1273175" cy="1122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Worksheet" showAsIcon="1" r:id="rId2" imgW="1371600" imgH="1209675" progId="Excel.Sheet.12">
                  <p:embed/>
                </p:oleObj>
              </mc:Choice>
              <mc:Fallback>
                <p:oleObj name="Worksheet" showAsIcon="1" r:id="rId2" imgW="1371600" imgH="1209675" progId="Excel.Sheet.12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26230" y="4024630"/>
                        <a:ext cx="1273175" cy="1122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>
                <a:sym typeface="+mn-ea"/>
              </a:rPr>
              <a:t>Linear Regression - Multivariate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sz="1800" dirty="0">
                    <a:solidFill>
                      <a:schemeClr val="accent2"/>
                    </a:solidFill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Univariate regression can be generalized to models with multiple variables (say </a:t>
                </a:r>
                <a:r>
                  <a:rPr lang="en-US" sz="1800" i="1" dirty="0">
                    <a:solidFill>
                      <a:schemeClr val="accent2"/>
                    </a:solidFill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p</a:t>
                </a:r>
                <a:r>
                  <a:rPr lang="en-US" sz="1800" dirty="0">
                    <a:solidFill>
                      <a:schemeClr val="accent2"/>
                    </a:solidFill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)</a:t>
                </a:r>
                <a:endParaRPr lang="en-US" sz="1800" dirty="0">
                  <a:solidFill>
                    <a:schemeClr val="accent2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  <a:sym typeface="+mn-ea"/>
                </a:endParaRPr>
              </a:p>
              <a:p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Define </a:t>
                </a:r>
                <a:r>
                  <a:rPr lang="en-US" sz="1800" b="1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feature vector</a:t>
                </a: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with </a:t>
                </a:r>
                <a:r>
                  <a:rPr lang="en-US" sz="1800" i="1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p </a:t>
                </a: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components:</a:t>
                </a:r>
                <a:r>
                  <a:rPr lang="en-IN" alt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=(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b="1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:r>
                  <a:rPr lang="en-IN" altLang="en-US" sz="1800" b="1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       </a:t>
                </a: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Cambria Math" panose="02040503050406030204" pitchFamily="18" charset="0"/>
                              </a:rPr>
                              <m:t>th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data</m:t>
                        </m:r>
                        <m:r>
                          <a:rPr lang="en-US" sz="1800" b="0" i="0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is</m:t>
                        </m:r>
                        <m:r>
                          <a:rPr lang="en-US" sz="1800" b="0" i="0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 (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0" i="1" smtClean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pPr marL="457200" lvl="1" indent="0"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Arranging different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800" i="1">
                        <a:latin typeface="Cambria Math" panose="02040503050406030204" pitchFamily="18" charset="0"/>
                        <a:ea typeface="Verdana" panose="020B0604030504040204" pitchFamily="34" charset="0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as row of a matrix, construct </a:t>
                </a:r>
                <a:r>
                  <a:rPr lang="en-US" sz="1800" b="1" u="sng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data matrix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 </m:t>
                    </m:r>
                    <m:r>
                      <a:rPr lang="en-US" sz="1800" b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IN" altLang="en-US" sz="1800" b="1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</a:t>
                </a: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Size of 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×(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1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0"/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Construct target</a:t>
                </a:r>
                <a:r>
                  <a:rPr lang="en-US" sz="1800" b="1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vector</a:t>
                </a: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with </a:t>
                </a:r>
                <a:r>
                  <a:rPr lang="en-US" sz="1800" i="1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N </a:t>
                </a: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components:</a:t>
                </a:r>
                <a:r>
                  <a:rPr lang="en-IN" alt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Cambria Math" panose="02040503050406030204" pitchFamily="18" charset="0"/>
                      </a:rPr>
                      <m:t>𝐲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b="1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:r>
                  <a:rPr lang="en-IN" altLang="en-US" sz="1800" b="1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       </a:t>
                </a: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  <m:t>𝐲</m:t>
                        </m:r>
                      </m:e>
                    </m:acc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1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1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1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1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800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sz="18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be </a:t>
                </a:r>
                <a:r>
                  <a:rPr lang="en-IN" alt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									</a:t>
                </a: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prediction from model</a:t>
                </a:r>
                <a:r>
                  <a:rPr lang="en-US" sz="1800" b="1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:endParaRPr lang="en-US" sz="1800" b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lvl="0"/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/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Let the vector of coefficients/parameters be</a:t>
                </a:r>
                <a:r>
                  <a:rPr lang="en-IN" alt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𝛃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/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Multivariate Linear Regression model becomes: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𝐲</m:t>
                        </m:r>
                      </m:e>
                    </m:acc>
                    <m:r>
                      <a:rPr lang="en-US" sz="1800" b="1" i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𝐗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𝛃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/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The parameters that minimizes the square of residuals is given by the matrix equation: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𝛃</m:t>
                    </m:r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𝐗</m:t>
                                </m:r>
                              </m:e>
                              <m:sup>
                                <m:r>
                                  <a:rPr lang="en-US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sz="18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𝐗</m:t>
                            </m:r>
                          </m:e>
                        </m:d>
                      </m:e>
                      <m:sup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1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𝐲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/>
                <a:r>
                  <a:rPr lang="en-US" sz="1800" dirty="0">
                    <a:solidFill>
                      <a:schemeClr val="tx2"/>
                    </a:solidFill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In practice, this is not used for large data set. Why?</a:t>
                </a:r>
                <a:r>
                  <a:rPr lang="en-IN" altLang="en-US" sz="1800" dirty="0">
                    <a:solidFill>
                      <a:schemeClr val="tx2"/>
                    </a:solidFill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:r>
                  <a:rPr lang="en-US" sz="1800" dirty="0">
                    <a:solidFill>
                      <a:schemeClr val="accent2"/>
                    </a:solidFill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Matrix inverse takes long time for large matrix</a:t>
                </a:r>
                <a:endParaRPr lang="en-US" sz="1800" dirty="0">
                  <a:solidFill>
                    <a:schemeClr val="accent2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pPr lvl="0"/>
                <a:endParaRPr 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>
                <a:solidFill>
                  <a:schemeClr val="accent6"/>
                </a:solidFill>
                <a:sym typeface="+mn-ea"/>
              </a:rPr>
              <a:t>Linear Regression - Multivariate</a:t>
            </a:r>
            <a:endParaRPr lang="en-US" b="1" dirty="0">
              <a:solidFill>
                <a:schemeClr val="accent6"/>
              </a:solidFill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174750"/>
                <a:ext cx="11200765" cy="4953000"/>
              </a:xfrm>
            </p:spPr>
            <p:txBody>
              <a:bodyPr/>
              <a:p>
                <a:r>
                  <a:rPr lang="en-US" sz="18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Gradient descent algorithm </a:t>
                </a: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is used to minimize the residuals: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𝑺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𝒊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𝑵</m:t>
                        </m:r>
                      </m:sup>
                      <m:e>
                        <m:sSup>
                          <m:sSupPr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800" b="1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</m:oMath>
                </a14:m>
                <a:endParaRPr lang="en-US" sz="1800" b="0" i="1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Starting with random values for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𝛃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run a loop where in each step, the parameters are updated by following rule:</a:t>
                </a:r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  <a:sym typeface="+mn-ea"/>
                </a:endParaRPr>
              </a:p>
              <a:p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  <a:sym typeface="+mn-ea"/>
                </a:endParaRPr>
              </a:p>
              <a:p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  <a:sym typeface="+mn-ea"/>
                </a:endParaRPr>
              </a:p>
              <a:p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  <a:sym typeface="+mn-ea"/>
                </a:endParaRPr>
              </a:p>
              <a:p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After sufficient steps, the algorithm will find</a:t>
                </a:r>
                <a:r>
                  <a:rPr lang="en-US" sz="1800" b="1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𝛃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that minimizes the residuals</a:t>
                </a:r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In practice, dataset is divided into 2: </a:t>
                </a:r>
                <a:b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</a:b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- train-set </a:t>
                </a: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used to train the model to get the “best”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𝛃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 (includes hyper-parameter optimization)</a:t>
                </a:r>
                <a:b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</a:b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+mn-ea"/>
                  </a:rPr>
                  <a:t>- test-set  </a:t>
                </a:r>
                <a:r>
                  <a:rPr lang="en-US" sz="18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used to validate the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𝛃</m:t>
                    </m:r>
                  </m:oMath>
                </a14:m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  <a:sym typeface="+mn-ea"/>
                </a:endParaRPr>
              </a:p>
              <a:p>
                <a:endParaRPr lang="en-US" sz="1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endParaRPr 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174750"/>
                <a:ext cx="11200765" cy="495300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2515528" y="2191667"/>
                <a:ext cx="1872208" cy="523875"/>
              </a:xfrm>
              <a:prstGeom prst="rect">
                <a:avLst/>
              </a:prstGeom>
              <a:solidFill>
                <a:schemeClr val="bg2">
                  <a:lumMod val="85000"/>
                </a:schemeClr>
              </a:solidFill>
            </p:spPr>
            <p:txBody>
              <a:bodyPr wrap="square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𝜶</m:t>
                    </m:r>
                    <m:f>
                      <m:f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𝝏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𝑺</m:t>
                        </m:r>
                      </m:num>
                      <m:den>
                        <m:r>
                          <a:rPr lang="en-US" sz="1800" b="1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den>
                    </m:f>
                  </m:oMath>
                </a14:m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528" y="2191667"/>
                <a:ext cx="1872208" cy="523875"/>
              </a:xfrm>
              <a:prstGeom prst="rect">
                <a:avLst/>
              </a:prstGeom>
              <a:blipFill rotWithShape="1">
                <a:blip r:embed="rId2"/>
                <a:stretch>
                  <a:fillRect l="-16" t="-54" r="28" b="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2210460" y="2951400"/>
            <a:ext cx="6609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“Learning rate” – adjusted to get best performance from </a:t>
            </a:r>
            <a:r>
              <a:rPr lang="en-US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algorith</a:t>
            </a:r>
            <a:endParaRPr lang="en-US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556635" y="2556510"/>
            <a:ext cx="247650" cy="456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>
                <a:solidFill>
                  <a:schemeClr val="accent6"/>
                </a:solidFill>
                <a:sym typeface="+mn-ea"/>
              </a:rPr>
              <a:t>Linear Regression – Model Quality</a:t>
            </a:r>
            <a:endParaRPr lang="en-US" b="1" dirty="0">
              <a:solidFill>
                <a:schemeClr val="accent6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87730"/>
            <a:ext cx="10972800" cy="5422900"/>
          </a:xfrm>
        </p:spPr>
        <p:txBody>
          <a:bodyPr/>
          <a:p>
            <a:r>
              <a:rPr lang="en-US" sz="18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How does one measure the quality of the model?</a:t>
            </a:r>
            <a:endParaRPr lang="en-US" sz="1800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Model Accuracy</a:t>
            </a:r>
            <a:endParaRPr lang="en-US" sz="1800" b="1" dirty="0">
              <a:solidFill>
                <a:schemeClr val="accent2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+mn-ea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Calculate root mean square error (RMSE) on test data: </a:t>
            </a:r>
            <a:br>
              <a:rPr lang="en-US" sz="1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</a:br>
            <a:r>
              <a:rPr lang="en-US" sz="1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Measures the model accuracy against new data / unseen data</a:t>
            </a:r>
            <a:endParaRPr lang="en-US" sz="1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Calculate R2 score: </a:t>
            </a:r>
            <a:br>
              <a:rPr lang="en-US" sz="1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</a:br>
            <a:r>
              <a:rPr lang="en-US" sz="1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Measures how much variation in target variable is predicted by dependent variable </a:t>
            </a:r>
            <a:endParaRPr lang="en-US" sz="1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+mn-ea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2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Model Robustness</a:t>
            </a:r>
            <a:endParaRPr lang="en-US" sz="1800" b="1" dirty="0">
              <a:solidFill>
                <a:schemeClr val="accent2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Measure of the sensitivity of the model to (outlier) data (and violation of regression assumption)</a:t>
            </a:r>
            <a:endParaRPr lang="en-US" sz="1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IN" altLang="en-US" sz="1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    </a:t>
            </a:r>
            <a:r>
              <a:rPr lang="en-US" sz="1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M-statistics</a:t>
            </a:r>
            <a:endParaRPr lang="en-US" sz="1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chemeClr val="accent2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Ability to explain </a:t>
            </a:r>
            <a:endParaRPr lang="en-US" sz="18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Model that is easily explainable is preferred over complicated models</a:t>
            </a:r>
            <a:br>
              <a:rPr lang="en-US" sz="1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</a:br>
            <a:r>
              <a:rPr lang="en-US" sz="18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+mn-ea"/>
              </a:rPr>
              <a:t>model with fewer parameters are more stable, less sensitive to data distribution, robust</a:t>
            </a: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/>
              <p:cNvSpPr/>
              <p:nvPr/>
            </p:nvSpPr>
            <p:spPr>
              <a:xfrm>
                <a:off x="7892446" y="3233519"/>
                <a:ext cx="2720353" cy="7306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446" y="3233519"/>
                <a:ext cx="2720353" cy="730649"/>
              </a:xfrm>
              <a:prstGeom prst="rect">
                <a:avLst/>
              </a:prstGeom>
              <a:blipFill rotWithShape="1">
                <a:blip r:embed="rId1"/>
                <a:stretch>
                  <a:fillRect l="-1" t="-14" r="2" b="-323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 noChangeArrowheads="1"/>
          </p:cNvSpPr>
          <p:nvPr>
            <p:ph type="ctrTitle"/>
          </p:nvPr>
        </p:nvSpPr>
        <p:spPr>
          <a:xfrm>
            <a:off x="806450" y="1265555"/>
            <a:ext cx="10942955" cy="2353945"/>
          </a:xfrm>
        </p:spPr>
        <p:txBody>
          <a:bodyPr/>
          <a:p>
            <a:pPr algn="ctr">
              <a:lnSpc>
                <a:spcPct val="90000"/>
              </a:lnSpc>
            </a:pPr>
            <a:r>
              <a:rPr lang="en-IN" altLang="en-US" sz="5000" b="1">
                <a:solidFill>
                  <a:srgbClr val="FF0000"/>
                </a:solidFill>
              </a:rPr>
              <a:t>THANK YOU FOR YOUR</a:t>
            </a:r>
            <a:br>
              <a:rPr lang="en-IN" altLang="en-US" sz="5000" b="1">
                <a:solidFill>
                  <a:srgbClr val="FF0000"/>
                </a:solidFill>
              </a:rPr>
            </a:br>
            <a:r>
              <a:rPr lang="en-IN" altLang="en-US" sz="5000" b="1">
                <a:solidFill>
                  <a:srgbClr val="FF0000"/>
                </a:solidFill>
              </a:rPr>
              <a:t>ATTENTION</a:t>
            </a:r>
            <a:endParaRPr lang="en-IN" altLang="en-US" sz="5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EA2B996A095145A431990D8746F65D" ma:contentTypeVersion="12" ma:contentTypeDescription="Create a new document." ma:contentTypeScope="" ma:versionID="b52efeacc52cdb0921dd3ecf044e49d6">
  <xsd:schema xmlns:xsd="http://www.w3.org/2001/XMLSchema" xmlns:xs="http://www.w3.org/2001/XMLSchema" xmlns:p="http://schemas.microsoft.com/office/2006/metadata/properties" xmlns:ns2="0ae31940-ca4a-45c5-b162-138273e95632" xmlns:ns3="931ab5c8-92b0-45e1-8bc3-523e2cbedd9f" targetNamespace="http://schemas.microsoft.com/office/2006/metadata/properties" ma:root="true" ma:fieldsID="f46cc9a8ff8ed0d34fdacf23a8b0da3b" ns2:_="" ns3:_="">
    <xsd:import namespace="0ae31940-ca4a-45c5-b162-138273e95632"/>
    <xsd:import namespace="931ab5c8-92b0-45e1-8bc3-523e2cbedd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31940-ca4a-45c5-b162-138273e956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0b75c2f-733a-428e-8724-a6f3929c24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1ab5c8-92b0-45e1-8bc3-523e2cbedd9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981f5be-6e3e-4d6c-a653-15253177344c}" ma:internalName="TaxCatchAll" ma:showField="CatchAllData" ma:web="931ab5c8-92b0-45e1-8bc3-523e2cbedd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ae31940-ca4a-45c5-b162-138273e95632">
      <Terms xmlns="http://schemas.microsoft.com/office/infopath/2007/PartnerControls"/>
    </lcf76f155ced4ddcb4097134ff3c332f>
    <TaxCatchAll xmlns="931ab5c8-92b0-45e1-8bc3-523e2cbedd9f" xsi:nil="true"/>
  </documentManagement>
</p:properties>
</file>

<file path=customXml/itemProps1.xml><?xml version="1.0" encoding="utf-8"?>
<ds:datastoreItem xmlns:ds="http://schemas.openxmlformats.org/officeDocument/2006/customXml" ds:itemID="{0E435701-9F35-475C-A34B-466E049B1ADE}"/>
</file>

<file path=customXml/itemProps2.xml><?xml version="1.0" encoding="utf-8"?>
<ds:datastoreItem xmlns:ds="http://schemas.openxmlformats.org/officeDocument/2006/customXml" ds:itemID="{F14AA3A9-4CC2-44B5-A1FF-E1FD948D3A63}"/>
</file>

<file path=customXml/itemProps3.xml><?xml version="1.0" encoding="utf-8"?>
<ds:datastoreItem xmlns:ds="http://schemas.openxmlformats.org/officeDocument/2006/customXml" ds:itemID="{E9D4AD7B-E117-4E9B-851F-3B9F855B097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5791</Words>
  <Application>WPS Presentation</Application>
  <PresentationFormat>Widescreen</PresentationFormat>
  <Paragraphs>191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Verdana</vt:lpstr>
      <vt:lpstr>Cambria Math</vt:lpstr>
      <vt:lpstr>Times New Roman</vt:lpstr>
      <vt:lpstr>MS Mincho</vt:lpstr>
      <vt:lpstr>Segoe Print</vt:lpstr>
      <vt:lpstr>Microsoft YaHei</vt:lpstr>
      <vt:lpstr>Arial Unicode MS</vt:lpstr>
      <vt:lpstr>Calibri</vt:lpstr>
      <vt:lpstr>Blue Waves</vt:lpstr>
      <vt:lpstr>Excel.Sheet.12</vt:lpstr>
      <vt:lpstr>Excel.Sheet.12</vt:lpstr>
      <vt:lpstr>Regression</vt:lpstr>
      <vt:lpstr>Regression</vt:lpstr>
      <vt:lpstr>Regression : Explanation</vt:lpstr>
      <vt:lpstr>Linear Vs Nonlinear</vt:lpstr>
      <vt:lpstr>Regression : Model types</vt:lpstr>
      <vt:lpstr>Regression : General Methodology</vt:lpstr>
      <vt:lpstr>Regression : some common models</vt:lpstr>
      <vt:lpstr>Linear Regression</vt:lpstr>
      <vt:lpstr>Linear Regression - Univariate</vt:lpstr>
      <vt:lpstr>Linear Regression - Univariate</vt:lpstr>
      <vt:lpstr>Assumptions of linear regression</vt:lpstr>
      <vt:lpstr>Linear Regression - Multivariate</vt:lpstr>
      <vt:lpstr>Linear Regression - Multivariate</vt:lpstr>
      <vt:lpstr>Linear Regression – Model Quality</vt:lpstr>
      <vt:lpstr>THANK YOU FOR YOUR ATTENTATION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</dc:title>
  <dc:creator/>
  <cp:lastModifiedBy>Dell</cp:lastModifiedBy>
  <cp:revision>18</cp:revision>
  <dcterms:created xsi:type="dcterms:W3CDTF">2022-12-26T07:26:00Z</dcterms:created>
  <dcterms:modified xsi:type="dcterms:W3CDTF">2023-01-12T06:32:10Z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A5EE772A5BCD410A95ACD16DB683225F</vt:lpwstr>
  </property>
  <property fmtid="{D5CDD505-2E9C-101B-9397-08002B2CF9AE}" pid="3" name="KSOProductBuildVer">
    <vt:lpwstr>1033-11.2.0.11388</vt:lpwstr>
  </property>
  <property fmtid="{D5CDD505-2E9C-101B-9397-08002B2CF9AE}" pid="4" name="ContentTypeId">
    <vt:lpwstr>0x0101006DEA2B996A095145A431990D8746F65D</vt:lpwstr>
  </property>
</Properties>
</file>