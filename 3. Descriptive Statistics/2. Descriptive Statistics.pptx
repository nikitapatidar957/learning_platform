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77" r:id="rId15"/>
    <p:sldId id="269" r:id="rId16"/>
    <p:sldId id="270" r:id="rId17"/>
    <p:sldId id="271" r:id="rId18"/>
    <p:sldId id="272" r:id="rId19"/>
    <p:sldId id="287" r:id="rId20"/>
    <p:sldId id="273" r:id="rId21"/>
    <p:sldId id="274" r:id="rId22"/>
    <p:sldId id="275" r:id="rId23"/>
    <p:sldId id="288" r:id="rId24"/>
    <p:sldId id="28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26" Type="http://schemas.openxmlformats.org/officeDocument/2006/relationships/presProps" Target="presProps.xml"/><Relationship Id="rId18" Type="http://schemas.openxmlformats.org/officeDocument/2006/relationships/slide" Target="slides/slide16.xml"/><Relationship Id="rId13" Type="http://schemas.openxmlformats.org/officeDocument/2006/relationships/slide" Target="slides/slide1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25" Type="http://schemas.openxmlformats.org/officeDocument/2006/relationships/slide" Target="slides/slide23.xml"/><Relationship Id="rId17" Type="http://schemas.openxmlformats.org/officeDocument/2006/relationships/slide" Target="slides/slide15.xml"/><Relationship Id="rId12" Type="http://schemas.openxmlformats.org/officeDocument/2006/relationships/slide" Target="slides/slide10.xml"/><Relationship Id="rId20" Type="http://schemas.openxmlformats.org/officeDocument/2006/relationships/slide" Target="slides/slide18.xml"/><Relationship Id="rId2" Type="http://schemas.openxmlformats.org/officeDocument/2006/relationships/theme" Target="theme/theme1.xml"/><Relationship Id="rId16" Type="http://schemas.openxmlformats.org/officeDocument/2006/relationships/slide" Target="slides/slide14.xml"/><Relationship Id="rId29" Type="http://schemas.openxmlformats.org/officeDocument/2006/relationships/customXml" Target="../customXml/item1.xml"/><Relationship Id="rId6" Type="http://schemas.openxmlformats.org/officeDocument/2006/relationships/slide" Target="slides/slide4.xml"/><Relationship Id="rId24" Type="http://schemas.openxmlformats.org/officeDocument/2006/relationships/slide" Target="slides/slide22.xml"/><Relationship Id="rId11" Type="http://schemas.openxmlformats.org/officeDocument/2006/relationships/slide" Target="slides/slide9.xml"/><Relationship Id="rId1" Type="http://schemas.openxmlformats.org/officeDocument/2006/relationships/slideMaster" Target="slideMasters/slideMaster1.xml"/><Relationship Id="rId5" Type="http://schemas.openxmlformats.org/officeDocument/2006/relationships/slide" Target="slides/slide3.xml"/><Relationship Id="rId28" Type="http://schemas.openxmlformats.org/officeDocument/2006/relationships/tableStyles" Target="tableStyles.xml"/><Relationship Id="rId23" Type="http://schemas.openxmlformats.org/officeDocument/2006/relationships/slide" Target="slides/slide21.xml"/><Relationship Id="rId15" Type="http://schemas.openxmlformats.org/officeDocument/2006/relationships/slide" Target="slides/slide13.xml"/><Relationship Id="rId19" Type="http://schemas.openxmlformats.org/officeDocument/2006/relationships/slide" Target="slides/slide17.xml"/><Relationship Id="rId10" Type="http://schemas.openxmlformats.org/officeDocument/2006/relationships/slide" Target="slides/slide8.xml"/><Relationship Id="rId31" Type="http://schemas.openxmlformats.org/officeDocument/2006/relationships/customXml" Target="../customXml/item3.xml"/><Relationship Id="rId9" Type="http://schemas.openxmlformats.org/officeDocument/2006/relationships/slide" Target="slides/slide7.xml"/><Relationship Id="rId4" Type="http://schemas.openxmlformats.org/officeDocument/2006/relationships/slide" Target="slides/slide2.xml"/><Relationship Id="rId27" Type="http://schemas.openxmlformats.org/officeDocument/2006/relationships/viewProps" Target="viewProps.xml"/><Relationship Id="rId22" Type="http://schemas.openxmlformats.org/officeDocument/2006/relationships/slide" Target="slides/slide20.xml"/><Relationship Id="rId14" Type="http://schemas.openxmlformats.org/officeDocument/2006/relationships/slide" Target="slides/slide12.xml"/><Relationship Id="rId30"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3"/>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4417" y="1670050"/>
            <a:ext cx="10943167" cy="1082675"/>
          </a:xfrm>
        </p:spPr>
        <p:txBody>
          <a:bodyPr/>
          <a:lstStyle/>
          <a:p>
            <a:r>
              <a:rPr lang="de-DE" sz="5000" b="1" dirty="0">
                <a:solidFill>
                  <a:srgbClr val="FF0000"/>
                </a:solidFill>
                <a:sym typeface="+mn-ea"/>
              </a:rPr>
              <a:t>Descriptive </a:t>
            </a:r>
            <a:r>
              <a:rPr lang="en-US" sz="5000" b="1" dirty="0">
                <a:solidFill>
                  <a:srgbClr val="FF0000"/>
                </a:solidFill>
                <a:sym typeface="+mn-ea"/>
              </a:rPr>
              <a:t>Statistics</a:t>
            </a:r>
            <a:endParaRPr lang="en-US" sz="5000" b="1" dirty="0">
              <a:solidFill>
                <a:srgbClr val="FF0000"/>
              </a:solidFill>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Descriptive Statistics</a:t>
            </a:r>
            <a:endParaRPr lang="en-US" b="1" dirty="0">
              <a:solidFill>
                <a:schemeClr val="accent6"/>
              </a:solidFill>
              <a:sym typeface="+mn-ea"/>
            </a:endParaRPr>
          </a:p>
        </p:txBody>
      </p:sp>
      <p:sp>
        <p:nvSpPr>
          <p:cNvPr id="3" name="Content Placeholder 2"/>
          <p:cNvSpPr>
            <a:spLocks noGrp="1"/>
          </p:cNvSpPr>
          <p:nvPr>
            <p:ph idx="1"/>
          </p:nvPr>
        </p:nvSpPr>
        <p:spPr/>
        <p:txBody>
          <a:bodyPr/>
          <a:p>
            <a:pPr marL="285750" indent="-285750">
              <a:buFont typeface="Arial" panose="020B0604020202020204" pitchFamily="34" charset="0"/>
              <a:buChar char="•"/>
            </a:pPr>
            <a:r>
              <a:rPr lang="en-US" sz="1800" b="1" dirty="0">
                <a:sym typeface="+mn-ea"/>
              </a:rPr>
              <a:t>Descriptive statistics</a:t>
            </a:r>
            <a:r>
              <a:rPr lang="en-US" sz="1800" dirty="0">
                <a:sym typeface="+mn-ea"/>
              </a:rPr>
              <a:t> are used to describe the basic features of the data in a study. </a:t>
            </a:r>
            <a:endParaRPr lang="en-US" sz="1800" dirty="0"/>
          </a:p>
          <a:p>
            <a:pPr marL="285750" indent="-285750">
              <a:buFont typeface="Arial" panose="020B0604020202020204" pitchFamily="34" charset="0"/>
              <a:buChar char="•"/>
            </a:pPr>
            <a:r>
              <a:rPr lang="en-US" sz="1800" dirty="0">
                <a:sym typeface="+mn-ea"/>
              </a:rPr>
              <a:t>Descriptive statistics avoid inference but, they help us to get a feel of the data.</a:t>
            </a:r>
            <a:endParaRPr lang="en-US" sz="1800" dirty="0"/>
          </a:p>
          <a:p>
            <a:pPr marL="285750" indent="-285750">
              <a:buFont typeface="Arial" panose="020B0604020202020204" pitchFamily="34" charset="0"/>
              <a:buChar char="•"/>
            </a:pPr>
            <a:r>
              <a:rPr lang="en-US" sz="1800" dirty="0">
                <a:sym typeface="+mn-ea"/>
              </a:rPr>
              <a:t>In Descriptive statistics we generate the statements based on the data we have and present the data in more meaningful ways.</a:t>
            </a:r>
            <a:endParaRPr lang="en-US" sz="1800" dirty="0"/>
          </a:p>
          <a:p>
            <a:pPr marL="285750" indent="-285750">
              <a:buFont typeface="Arial" panose="020B0604020202020204" pitchFamily="34" charset="0"/>
              <a:buChar char="•"/>
            </a:pPr>
            <a:r>
              <a:rPr lang="en-US" sz="1800" dirty="0">
                <a:sym typeface="+mn-ea"/>
              </a:rPr>
              <a:t>Quantitatively describing the data in three diff ways :-</a:t>
            </a:r>
            <a:endParaRPr lang="en-US" sz="1800" dirty="0"/>
          </a:p>
          <a:p>
            <a:pPr marL="285750" lvl="0" indent="-285750">
              <a:buFont typeface="Wingdings" panose="05000000000000000000" pitchFamily="2" charset="2"/>
              <a:buChar char="Ø"/>
            </a:pPr>
            <a:r>
              <a:rPr lang="en-US" sz="1800" dirty="0">
                <a:sym typeface="+mn-ea"/>
              </a:rPr>
              <a:t>Graphical Representation</a:t>
            </a:r>
            <a:endParaRPr lang="en-US" sz="1800" dirty="0"/>
          </a:p>
          <a:p>
            <a:pPr marL="285750" lvl="0" indent="-285750">
              <a:buFont typeface="Wingdings" panose="05000000000000000000" pitchFamily="2" charset="2"/>
              <a:buChar char="Ø"/>
            </a:pPr>
            <a:r>
              <a:rPr lang="en-US" sz="1800" dirty="0">
                <a:sym typeface="+mn-ea"/>
              </a:rPr>
              <a:t>Tabular representation</a:t>
            </a:r>
            <a:endParaRPr lang="en-US" sz="1800" dirty="0"/>
          </a:p>
          <a:p>
            <a:pPr marL="285750" lvl="0" indent="-285750">
              <a:lnSpc>
                <a:spcPct val="110000"/>
              </a:lnSpc>
              <a:buFont typeface="Wingdings" panose="05000000000000000000" pitchFamily="2" charset="2"/>
              <a:buChar char="Ø"/>
            </a:pPr>
            <a:r>
              <a:rPr lang="en-US" sz="1800" dirty="0">
                <a:sym typeface="+mn-ea"/>
              </a:rPr>
              <a:t>Summarized representation</a:t>
            </a:r>
            <a:endParaRPr lang="en-US" sz="1800" dirty="0"/>
          </a:p>
          <a:p>
            <a:endParaRPr 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latin typeface="Times New Roman" panose="02020603050405020304" pitchFamily="18" charset="0"/>
                <a:sym typeface="+mn-ea"/>
              </a:rPr>
              <a:t>Which Group is Smarter?</a:t>
            </a:r>
            <a:endParaRPr lang="en-US" b="1" dirty="0">
              <a:solidFill>
                <a:schemeClr val="accent6"/>
              </a:solidFill>
              <a:latin typeface="Times New Roman" panose="02020603050405020304" pitchFamily="18" charset="0"/>
              <a:sym typeface="+mn-ea"/>
            </a:endParaRPr>
          </a:p>
        </p:txBody>
      </p:sp>
      <p:sp>
        <p:nvSpPr>
          <p:cNvPr id="3" name="Content Placeholder 2"/>
          <p:cNvSpPr>
            <a:spLocks noGrp="1"/>
          </p:cNvSpPr>
          <p:nvPr>
            <p:ph idx="1"/>
          </p:nvPr>
        </p:nvSpPr>
        <p:spPr/>
        <p:txBody>
          <a:bodyPr/>
          <a:p>
            <a:pPr>
              <a:buFont typeface="Wingdings" panose="05000000000000000000" pitchFamily="2" charset="2"/>
              <a:buNone/>
            </a:pPr>
            <a:r>
              <a:rPr lang="en-US" sz="1800" dirty="0">
                <a:sym typeface="+mn-ea"/>
              </a:rPr>
              <a:t>Class A--  IQs of 13 Students	</a:t>
            </a:r>
            <a:endParaRPr lang="en-US" sz="1800" dirty="0"/>
          </a:p>
          <a:p>
            <a:pPr>
              <a:buFont typeface="Wingdings" panose="05000000000000000000" pitchFamily="2" charset="2"/>
              <a:buNone/>
            </a:pPr>
            <a:r>
              <a:rPr lang="en-US" sz="1800" dirty="0">
                <a:sym typeface="+mn-ea"/>
              </a:rPr>
              <a:t>102, 115,128,109,131,89,98,106,140,119,93,97,110</a:t>
            </a:r>
            <a:endParaRPr lang="en-US" sz="1800" dirty="0"/>
          </a:p>
          <a:p>
            <a:pPr>
              <a:buFont typeface="Wingdings" panose="05000000000000000000" pitchFamily="2" charset="2"/>
              <a:buNone/>
            </a:pPr>
            <a:endParaRPr lang="en-US" sz="1800" dirty="0"/>
          </a:p>
          <a:p>
            <a:pPr lvl="0" fontAlgn="base">
              <a:spcAft>
                <a:spcPct val="0"/>
              </a:spcAft>
              <a:buClr>
                <a:srgbClr val="330066"/>
              </a:buClr>
              <a:buSzPct val="70000"/>
              <a:buNone/>
            </a:pPr>
            <a:r>
              <a:rPr lang="en-US" sz="1800" kern="0" noProof="0" dirty="0">
                <a:ln>
                  <a:noFill/>
                </a:ln>
                <a:solidFill>
                  <a:srgbClr val="000000"/>
                </a:solidFill>
                <a:effectLst/>
                <a:uLnTx/>
                <a:uFillTx/>
                <a:sym typeface="+mn-ea"/>
              </a:rPr>
              <a:t>Class B--  IQs of 13 Students</a:t>
            </a:r>
            <a:endParaRPr kumimoji="0" lang="en-US" sz="1800" b="0" i="0" u="none" strike="noStrike" kern="0" cap="none" spc="0" normalizeH="0" baseline="0" noProof="0" dirty="0">
              <a:ln>
                <a:noFill/>
              </a:ln>
              <a:solidFill>
                <a:srgbClr val="000000"/>
              </a:solidFill>
              <a:effectLst/>
              <a:uLnTx/>
              <a:uFillTx/>
              <a:ea typeface="+mn-ea"/>
              <a:cs typeface="+mn-cs"/>
            </a:endParaRPr>
          </a:p>
          <a:p>
            <a:pPr lvl="0" fontAlgn="base">
              <a:spcAft>
                <a:spcPct val="0"/>
              </a:spcAft>
              <a:buClr>
                <a:srgbClr val="330066"/>
              </a:buClr>
              <a:buSzPct val="70000"/>
              <a:buNone/>
            </a:pPr>
            <a:r>
              <a:rPr lang="en-US" sz="1800" kern="0" noProof="0" dirty="0">
                <a:ln>
                  <a:noFill/>
                </a:ln>
                <a:solidFill>
                  <a:srgbClr val="000000"/>
                </a:solidFill>
                <a:effectLst/>
                <a:uLnTx/>
                <a:uFillTx/>
                <a:sym typeface="+mn-ea"/>
              </a:rPr>
              <a:t>127</a:t>
            </a:r>
            <a:r>
              <a:rPr lang="en-US" sz="1800" kern="0" dirty="0">
                <a:solidFill>
                  <a:srgbClr val="000000"/>
                </a:solidFill>
                <a:sym typeface="+mn-ea"/>
              </a:rPr>
              <a:t>,</a:t>
            </a:r>
            <a:r>
              <a:rPr lang="en-US" sz="1800" kern="0" noProof="0" dirty="0">
                <a:ln>
                  <a:noFill/>
                </a:ln>
                <a:solidFill>
                  <a:srgbClr val="000000"/>
                </a:solidFill>
                <a:effectLst/>
                <a:uLnTx/>
                <a:uFillTx/>
                <a:sym typeface="+mn-ea"/>
              </a:rPr>
              <a:t>162,131,103,96,111,80,109,93,87,120,105,109</a:t>
            </a:r>
            <a:endParaRPr kumimoji="0" lang="en-US" sz="1800" b="0" i="0" u="none" strike="noStrike" kern="0" cap="none" spc="0" normalizeH="0" baseline="0" noProof="0" dirty="0">
              <a:ln>
                <a:noFill/>
              </a:ln>
              <a:solidFill>
                <a:srgbClr val="000000"/>
              </a:solidFill>
              <a:effectLst/>
              <a:uLnTx/>
              <a:uFillTx/>
            </a:endParaRPr>
          </a:p>
          <a:p>
            <a:pPr lvl="0" fontAlgn="base">
              <a:spcAft>
                <a:spcPct val="0"/>
              </a:spcAft>
              <a:buClr>
                <a:srgbClr val="330066"/>
              </a:buClr>
              <a:buSzPct val="70000"/>
              <a:buNone/>
            </a:pPr>
            <a:endParaRPr kumimoji="0" lang="en-US" sz="1800" b="0" i="0" u="none" strike="noStrike" kern="0" cap="none" spc="0" normalizeH="0" baseline="0" noProof="0" dirty="0">
              <a:ln>
                <a:noFill/>
              </a:ln>
              <a:solidFill>
                <a:srgbClr val="000000"/>
              </a:solidFill>
              <a:effectLst/>
              <a:uLnTx/>
              <a:uFillTx/>
            </a:endParaRPr>
          </a:p>
          <a:p>
            <a:pPr lvl="0" fontAlgn="base">
              <a:spcAft>
                <a:spcPct val="0"/>
              </a:spcAft>
              <a:buClr>
                <a:srgbClr val="330066"/>
              </a:buClr>
              <a:buSzPct val="70000"/>
              <a:buNone/>
            </a:pPr>
            <a:endParaRPr lang="en-US" sz="1800" kern="0" dirty="0">
              <a:solidFill>
                <a:srgbClr val="000000"/>
              </a:solidFill>
              <a:latin typeface="Arial" panose="020B0604020202020204"/>
            </a:endParaRPr>
          </a:p>
          <a:p>
            <a:pPr>
              <a:buFont typeface="Wingdings" panose="05000000000000000000" pitchFamily="2" charset="2"/>
              <a:buNone/>
            </a:pPr>
            <a:r>
              <a:rPr lang="en-US" sz="1800" b="1" dirty="0">
                <a:sym typeface="+mn-ea"/>
              </a:rPr>
              <a:t>Class A-- Average IQ</a:t>
            </a:r>
            <a:r>
              <a:rPr lang="en-US" sz="1800" dirty="0">
                <a:sym typeface="+mn-ea"/>
              </a:rPr>
              <a:t>		     </a:t>
            </a:r>
            <a:r>
              <a:rPr lang="en-US" sz="1800" b="1" dirty="0">
                <a:sym typeface="+mn-ea"/>
              </a:rPr>
              <a:t>Class B-- Average IQ</a:t>
            </a:r>
            <a:endParaRPr lang="en-US" sz="1800" b="1" dirty="0"/>
          </a:p>
          <a:p>
            <a:pPr>
              <a:buFont typeface="Wingdings" panose="05000000000000000000" pitchFamily="2" charset="2"/>
              <a:buNone/>
            </a:pPr>
            <a:endParaRPr lang="en-US" sz="1800" dirty="0"/>
          </a:p>
          <a:p>
            <a:pPr>
              <a:buFont typeface="Wingdings" panose="05000000000000000000" pitchFamily="2" charset="2"/>
              <a:buNone/>
            </a:pPr>
            <a:r>
              <a:rPr lang="en-US" sz="1800" dirty="0">
                <a:sym typeface="+mn-ea"/>
              </a:rPr>
              <a:t>         110.54				  110.23</a:t>
            </a:r>
            <a:endParaRPr lang="en-US" sz="1800" dirty="0">
              <a:sym typeface="+mn-ea"/>
            </a:endParaRPr>
          </a:p>
          <a:p>
            <a:endParaRPr lang="en-US" sz="1800" dirty="0">
              <a:sym typeface="+mn-ea"/>
            </a:endParaRPr>
          </a:p>
          <a:p>
            <a:pPr marL="0" indent="0">
              <a:buNone/>
            </a:pPr>
            <a:endParaRPr lang="en-US" sz="1800" dirty="0">
              <a:sym typeface="+mn-ea"/>
            </a:endParaRPr>
          </a:p>
          <a:p>
            <a:r>
              <a:rPr lang="en-US" sz="1800" dirty="0">
                <a:sym typeface="+mn-ea"/>
              </a:rPr>
              <a:t>They’re roughly the same!</a:t>
            </a:r>
            <a:endParaRPr lang="en-US" sz="1800" dirty="0">
              <a:sym typeface="+mn-ea"/>
            </a:endParaRPr>
          </a:p>
          <a:p>
            <a:r>
              <a:rPr lang="en-US" sz="1800" dirty="0">
                <a:sym typeface="+mn-ea"/>
              </a:rPr>
              <a:t>With a summary descriptive statistic, it is much easier to answer our question.</a:t>
            </a:r>
            <a:endParaRPr 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b="1" dirty="0">
                <a:solidFill>
                  <a:schemeClr val="accent6"/>
                </a:solidFill>
                <a:sym typeface="+mn-ea"/>
              </a:rPr>
              <a:t>Summarizing data through numbers</a:t>
            </a:r>
            <a:endParaRPr lang="en-IN" b="1" dirty="0">
              <a:solidFill>
                <a:schemeClr val="accent6"/>
              </a:solidFill>
              <a:sym typeface="+mn-ea"/>
            </a:endParaRPr>
          </a:p>
        </p:txBody>
      </p:sp>
      <p:sp>
        <p:nvSpPr>
          <p:cNvPr id="3" name="Content Placeholder 2"/>
          <p:cNvSpPr>
            <a:spLocks noGrp="1"/>
          </p:cNvSpPr>
          <p:nvPr>
            <p:ph idx="1"/>
          </p:nvPr>
        </p:nvSpPr>
        <p:spPr>
          <a:xfrm>
            <a:off x="609600" y="963295"/>
            <a:ext cx="10972800" cy="5324475"/>
          </a:xfrm>
        </p:spPr>
        <p:txBody>
          <a:bodyPr/>
          <a:p>
            <a:pPr marL="514350" indent="-514350">
              <a:buFont typeface="Wingdings" panose="05000000000000000000" pitchFamily="2" charset="2"/>
              <a:buAutoNum type="arabicPeriod"/>
            </a:pPr>
            <a:r>
              <a:rPr lang="en-IN" sz="1800" dirty="0">
                <a:sym typeface="+mn-ea"/>
              </a:rPr>
              <a:t>Measures of Central Tendency: </a:t>
            </a:r>
            <a:endParaRPr lang="en-IN" sz="1800" dirty="0">
              <a:sym typeface="+mn-ea"/>
            </a:endParaRPr>
          </a:p>
          <a:p>
            <a:pPr lvl="1">
              <a:buFont typeface="Arial" panose="020B0604020202020204" pitchFamily="34" charset="0"/>
              <a:buChar char="•"/>
            </a:pPr>
            <a:r>
              <a:rPr lang="en-IN" sz="1575" dirty="0"/>
              <a:t>The data values for most numerical variables tend to group around a specific value</a:t>
            </a:r>
            <a:endParaRPr lang="en-IN" sz="1575" dirty="0"/>
          </a:p>
          <a:p>
            <a:pPr lvl="1">
              <a:buFont typeface="Arial" panose="020B0604020202020204" pitchFamily="34" charset="0"/>
              <a:buChar char="•"/>
            </a:pPr>
            <a:r>
              <a:rPr lang="en-IN" sz="1575" dirty="0"/>
              <a:t>Measure of centre help us to describe what extent this pattern holds for a specific numerical variable</a:t>
            </a:r>
            <a:endParaRPr lang="en-IN" sz="1575" dirty="0"/>
          </a:p>
          <a:p>
            <a:pPr lvl="1">
              <a:buFont typeface="Arial" panose="020B0604020202020204" pitchFamily="34" charset="0"/>
              <a:buChar char="•"/>
            </a:pPr>
            <a:r>
              <a:rPr lang="en-IN" sz="1575" dirty="0"/>
              <a:t>Three commonly-used measures of centre:</a:t>
            </a:r>
            <a:endParaRPr lang="en-IN" sz="1575" dirty="0"/>
          </a:p>
          <a:p>
            <a:pPr marL="914400" lvl="2" indent="0">
              <a:buNone/>
            </a:pPr>
            <a:r>
              <a:rPr lang="en-IN" sz="1400" b="1" dirty="0"/>
              <a:t>(a) Mean (also known as the arithmetic mean or average)</a:t>
            </a:r>
            <a:endParaRPr lang="en-IN" sz="1400" b="1" dirty="0"/>
          </a:p>
          <a:p>
            <a:pPr marL="914400" lvl="2" indent="0">
              <a:buNone/>
            </a:pPr>
            <a:r>
              <a:rPr lang="en-IN" sz="1400" b="1" dirty="0"/>
              <a:t>(b) Median  </a:t>
            </a:r>
            <a:endParaRPr lang="en-IN" sz="1400" b="1" dirty="0"/>
          </a:p>
          <a:p>
            <a:pPr marL="914400" lvl="2" indent="0">
              <a:buNone/>
            </a:pPr>
            <a:r>
              <a:rPr lang="en-IN" sz="1400" b="1" dirty="0"/>
              <a:t>(c) Mode</a:t>
            </a:r>
            <a:endParaRPr lang="en-IN" sz="1400" b="1" dirty="0"/>
          </a:p>
          <a:p>
            <a:pPr>
              <a:buAutoNum type="arabicPeriod"/>
            </a:pPr>
            <a:r>
              <a:rPr lang="en-IN" sz="1800" dirty="0">
                <a:sym typeface="+mn-ea"/>
              </a:rPr>
              <a:t>Measures of </a:t>
            </a:r>
            <a:r>
              <a:rPr lang="en-US" altLang="en-IN" sz="1800" dirty="0">
                <a:sym typeface="+mn-ea"/>
              </a:rPr>
              <a:t>Dispersion:</a:t>
            </a:r>
            <a:endParaRPr lang="en-IN" sz="1800" dirty="0">
              <a:sym typeface="+mn-ea"/>
            </a:endParaRPr>
          </a:p>
          <a:p>
            <a:pPr lvl="1">
              <a:buFont typeface="Arial" panose="020B0604020202020204" pitchFamily="34" charset="0"/>
              <a:buChar char="•"/>
            </a:pPr>
            <a:r>
              <a:rPr lang="en-IN" sz="1575" dirty="0">
                <a:sym typeface="+mn-ea"/>
              </a:rPr>
              <a:t>A measure of spread, sometimes also called a measure of dispersion or measure of variability is used to describe the variability in a sample or population.</a:t>
            </a:r>
            <a:endParaRPr lang="en-IN" sz="1575" dirty="0">
              <a:sym typeface="+mn-ea"/>
            </a:endParaRPr>
          </a:p>
          <a:p>
            <a:pPr lvl="1">
              <a:buFont typeface="Arial" panose="020B0604020202020204" pitchFamily="34" charset="0"/>
              <a:buChar char="•"/>
            </a:pPr>
            <a:r>
              <a:rPr lang="en-IN" sz="1575" dirty="0">
                <a:sym typeface="+mn-ea"/>
              </a:rPr>
              <a:t>It is usually used in conjunction with measure of central tendency, such as the mean or median, to provide an overall description of a set of data.</a:t>
            </a:r>
            <a:endParaRPr lang="en-IN" sz="1575" dirty="0">
              <a:sym typeface="+mn-ea"/>
            </a:endParaRPr>
          </a:p>
          <a:p>
            <a:pPr marL="914400" lvl="2" indent="0">
              <a:buNone/>
            </a:pPr>
            <a:r>
              <a:rPr lang="en-IN" altLang="en-US" sz="1400" b="1"/>
              <a:t>(a) </a:t>
            </a:r>
            <a:r>
              <a:rPr lang="en-US" sz="1400" b="1"/>
              <a:t>Range </a:t>
            </a:r>
            <a:endParaRPr lang="en-US" sz="1400" b="1"/>
          </a:p>
          <a:p>
            <a:pPr marL="914400" lvl="2" indent="0">
              <a:buNone/>
            </a:pPr>
            <a:r>
              <a:rPr lang="en-US" sz="1400" b="1"/>
              <a:t>(b) </a:t>
            </a:r>
            <a:r>
              <a:rPr lang="en-US" sz="1400" b="1">
                <a:sym typeface="+mn-ea"/>
              </a:rPr>
              <a:t>Variance</a:t>
            </a:r>
            <a:endParaRPr lang="en-US" sz="1400" b="1"/>
          </a:p>
          <a:p>
            <a:pPr marL="914400" lvl="2" indent="0">
              <a:buNone/>
            </a:pPr>
            <a:r>
              <a:rPr lang="en-US" sz="1400" b="1"/>
              <a:t>(c) </a:t>
            </a:r>
            <a:r>
              <a:rPr lang="en-US" sz="1400" b="1">
                <a:sym typeface="+mn-ea"/>
              </a:rPr>
              <a:t>Standard Deviation</a:t>
            </a:r>
            <a:endParaRPr lang="en-US" sz="1400" b="1">
              <a:sym typeface="+mn-ea"/>
            </a:endParaRPr>
          </a:p>
          <a:p>
            <a:pPr marL="457200" lvl="0" indent="-457200">
              <a:buAutoNum type="arabicPeriod"/>
            </a:pPr>
            <a:r>
              <a:rPr lang="en-IN" sz="1860" dirty="0">
                <a:sym typeface="+mn-ea"/>
              </a:rPr>
              <a:t>Measures of </a:t>
            </a:r>
            <a:r>
              <a:rPr lang="en-US" altLang="en-IN" sz="1860" dirty="0">
                <a:sym typeface="+mn-ea"/>
              </a:rPr>
              <a:t>Distributions</a:t>
            </a:r>
            <a:r>
              <a:rPr lang="en-US" altLang="en-IN" sz="1860" dirty="0">
                <a:sym typeface="+mn-ea"/>
              </a:rPr>
              <a:t>:</a:t>
            </a:r>
            <a:endParaRPr lang="en-US" sz="1400" b="1"/>
          </a:p>
          <a:p>
            <a:pPr marL="914400" lvl="2" indent="0">
              <a:buNone/>
            </a:pPr>
            <a:r>
              <a:rPr lang="en-US" sz="1400" b="1"/>
              <a:t>(f) Skewness</a:t>
            </a:r>
            <a:endParaRPr lang="en-US" sz="1400" b="1"/>
          </a:p>
          <a:p>
            <a:pPr marL="914400" lvl="2" indent="0">
              <a:buNone/>
            </a:pPr>
            <a:r>
              <a:rPr lang="en-US" sz="1400" b="1"/>
              <a:t>(g) Kurtosis</a:t>
            </a:r>
            <a:endParaRPr lang="en-US" sz="14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Measures of Central Tendency</a:t>
            </a:r>
            <a:endParaRPr lang="en-US" b="1" dirty="0">
              <a:solidFill>
                <a:schemeClr val="accent6"/>
              </a:solidFill>
              <a:sym typeface="+mn-ea"/>
            </a:endParaRPr>
          </a:p>
        </p:txBody>
      </p:sp>
      <p:sp>
        <p:nvSpPr>
          <p:cNvPr id="3" name="Content Placeholder 2"/>
          <p:cNvSpPr>
            <a:spLocks noGrp="1"/>
          </p:cNvSpPr>
          <p:nvPr>
            <p:ph idx="1"/>
          </p:nvPr>
        </p:nvSpPr>
        <p:spPr>
          <a:xfrm>
            <a:off x="609600" y="996950"/>
            <a:ext cx="10972800" cy="5073015"/>
          </a:xfrm>
        </p:spPr>
        <p:txBody>
          <a:bodyPr/>
          <a:p>
            <a:pPr marL="342900" indent="-342900">
              <a:buFont typeface="Arial" panose="020B0604020202020204" pitchFamily="34" charset="0"/>
              <a:buChar char="•"/>
            </a:pPr>
            <a:r>
              <a:rPr lang="en-US" sz="1800" dirty="0">
                <a:sym typeface="+mn-ea"/>
              </a:rPr>
              <a:t>A measure of central tendency is a descriptive statistic that describes the average, or typical value of a set of scores.</a:t>
            </a:r>
            <a:endParaRPr lang="en-US" sz="1800" dirty="0"/>
          </a:p>
          <a:p>
            <a:pPr marL="342900" indent="-342900">
              <a:buFont typeface="Arial" panose="020B0604020202020204" pitchFamily="34" charset="0"/>
              <a:buChar char="•"/>
            </a:pPr>
            <a:r>
              <a:rPr lang="en-US" sz="1800" dirty="0">
                <a:sym typeface="+mn-ea"/>
              </a:rPr>
              <a:t>It is also defined as a single value that is used to describe the </a:t>
            </a:r>
            <a:r>
              <a:rPr lang="en-US" sz="1800" b="1" dirty="0">
                <a:solidFill>
                  <a:schemeClr val="tx2"/>
                </a:solidFill>
                <a:sym typeface="+mn-ea"/>
              </a:rPr>
              <a:t>“center”</a:t>
            </a:r>
            <a:r>
              <a:rPr lang="en-US" sz="1800" dirty="0">
                <a:sym typeface="+mn-ea"/>
              </a:rPr>
              <a:t> of the data.</a:t>
            </a:r>
            <a:endParaRPr lang="en-US" sz="1800" dirty="0"/>
          </a:p>
          <a:p>
            <a:pPr marL="342900" indent="-342900">
              <a:buFont typeface="Arial" panose="020B0604020202020204" pitchFamily="34" charset="0"/>
              <a:buChar char="•"/>
            </a:pPr>
            <a:r>
              <a:rPr lang="en-US" sz="1800" dirty="0">
                <a:sym typeface="+mn-ea"/>
              </a:rPr>
              <a:t>There are three common measures of central tendency:</a:t>
            </a:r>
            <a:endParaRPr lang="en-US" sz="1800" dirty="0"/>
          </a:p>
          <a:p>
            <a:pPr lvl="1">
              <a:buFont typeface="Arial" panose="020B0604020202020204" pitchFamily="34" charset="0"/>
              <a:buChar char="•"/>
            </a:pPr>
            <a:r>
              <a:rPr lang="en-US" sz="1800" dirty="0">
                <a:sym typeface="+mn-ea"/>
              </a:rPr>
              <a:t>Mean</a:t>
            </a:r>
            <a:endParaRPr lang="en-US" sz="1800" dirty="0"/>
          </a:p>
          <a:p>
            <a:pPr lvl="1">
              <a:buFont typeface="Arial" panose="020B0604020202020204" pitchFamily="34" charset="0"/>
              <a:buChar char="•"/>
            </a:pPr>
            <a:r>
              <a:rPr lang="en-US" sz="1800" dirty="0">
                <a:sym typeface="+mn-ea"/>
              </a:rPr>
              <a:t>Median</a:t>
            </a:r>
            <a:endParaRPr lang="en-US" sz="1800" dirty="0"/>
          </a:p>
          <a:p>
            <a:pPr lvl="1">
              <a:buFont typeface="Arial" panose="020B0604020202020204" pitchFamily="34" charset="0"/>
              <a:buChar char="•"/>
            </a:pPr>
            <a:r>
              <a:rPr lang="en-US" sz="1800" dirty="0">
                <a:sym typeface="+mn-ea"/>
              </a:rPr>
              <a:t>Mode</a:t>
            </a:r>
            <a:endParaRPr lang="en-US" sz="1800" dirty="0">
              <a:sym typeface="+mn-ea"/>
            </a:endParaRPr>
          </a:p>
          <a:p>
            <a:pPr marL="457200" lvl="1" indent="0">
              <a:buFont typeface="Arial" panose="020B0604020202020204" pitchFamily="34" charset="0"/>
              <a:buNone/>
            </a:pPr>
            <a:endParaRPr lang="en-US" sz="1800" dirty="0"/>
          </a:p>
          <a:p>
            <a:r>
              <a:rPr lang="en-US" sz="1800" dirty="0">
                <a:sym typeface="+mn-ea"/>
              </a:rPr>
              <a:t>** The mean, median and mode are all valid measures of central tendency, but under different conditions, some measures of central tendency become more appropriate to use than others.</a:t>
            </a:r>
            <a:endParaRPr lang="en-US" sz="1800" dirty="0">
              <a:sym typeface="+mn-ea"/>
            </a:endParaRPr>
          </a:p>
          <a:p>
            <a:endParaRPr 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MEAN</a:t>
            </a:r>
            <a:endParaRPr lang="en-US" b="1" dirty="0">
              <a:solidFill>
                <a:schemeClr val="accent6"/>
              </a:solidFill>
              <a:sym typeface="+mn-ea"/>
            </a:endParaRPr>
          </a:p>
        </p:txBody>
      </p:sp>
      <p:sp>
        <p:nvSpPr>
          <p:cNvPr id="3" name="Content Placeholder 2"/>
          <p:cNvSpPr>
            <a:spLocks noGrp="1"/>
          </p:cNvSpPr>
          <p:nvPr>
            <p:ph idx="1"/>
          </p:nvPr>
        </p:nvSpPr>
        <p:spPr/>
        <p:txBody>
          <a:bodyPr/>
          <a:p>
            <a:pPr marL="342900" indent="-342900">
              <a:buFont typeface="Arial" panose="020B0604020202020204" pitchFamily="34" charset="0"/>
              <a:buChar char="•"/>
            </a:pPr>
            <a:r>
              <a:rPr lang="en-US" sz="1800" dirty="0">
                <a:sym typeface="+mn-ea"/>
              </a:rPr>
              <a:t>The mean (or average) is the most popular and well known measure of central tendency.</a:t>
            </a:r>
            <a:endParaRPr lang="en-US" sz="1800" dirty="0"/>
          </a:p>
          <a:p>
            <a:pPr marL="342900" indent="-342900">
              <a:buFont typeface="Arial" panose="020B0604020202020204" pitchFamily="34" charset="0"/>
              <a:buChar char="•"/>
            </a:pPr>
            <a:r>
              <a:rPr lang="en-US" sz="1800" dirty="0">
                <a:sym typeface="+mn-ea"/>
              </a:rPr>
              <a:t>The </a:t>
            </a:r>
            <a:r>
              <a:rPr lang="en-US" sz="1800" b="1" dirty="0">
                <a:sym typeface="+mn-ea"/>
              </a:rPr>
              <a:t>mean</a:t>
            </a:r>
            <a:r>
              <a:rPr lang="en-US" sz="1800" dirty="0">
                <a:sym typeface="+mn-ea"/>
              </a:rPr>
              <a:t> is the average of the numbers. It is easy to calculate: add up all the numbers, then divide by how many numbers there are. In other words it is the sum divided by the count.</a:t>
            </a:r>
            <a:endParaRPr lang="en-US" sz="1800" dirty="0"/>
          </a:p>
          <a:p>
            <a:endParaRPr lang="en-US" sz="1800" dirty="0"/>
          </a:p>
          <a:p>
            <a:pPr marL="0" indent="0">
              <a:buNone/>
            </a:pPr>
            <a:endParaRPr lang="en-US" sz="1800"/>
          </a:p>
          <a:p>
            <a:pPr marL="0" indent="0">
              <a:buNone/>
            </a:pPr>
            <a:endParaRPr lang="en-US" sz="1800"/>
          </a:p>
          <a:p>
            <a:pPr marL="0" indent="0">
              <a:buNone/>
            </a:pPr>
            <a:endParaRPr lang="en-US" sz="1800"/>
          </a:p>
          <a:p>
            <a:pPr marL="0" indent="0">
              <a:buNone/>
            </a:pPr>
            <a:endParaRPr lang="en-US" sz="1800"/>
          </a:p>
          <a:p>
            <a:pPr marL="0" indent="0">
              <a:buNone/>
            </a:pPr>
            <a:endParaRPr lang="en-US" sz="1800"/>
          </a:p>
          <a:p>
            <a:pPr marL="0" indent="0">
              <a:buNone/>
            </a:pPr>
            <a:endParaRPr lang="en-US" sz="1800"/>
          </a:p>
          <a:p>
            <a:r>
              <a:rPr lang="el-GR" sz="1800" b="1" dirty="0">
                <a:sym typeface="+mn-ea"/>
              </a:rPr>
              <a:t>Σ</a:t>
            </a:r>
            <a:r>
              <a:rPr lang="el-GR" sz="1800" dirty="0">
                <a:sym typeface="+mn-ea"/>
              </a:rPr>
              <a:t> </a:t>
            </a:r>
            <a:r>
              <a:rPr lang="en-US" sz="1800" dirty="0">
                <a:sym typeface="+mn-ea"/>
              </a:rPr>
              <a:t>X= the sum of numbers</a:t>
            </a:r>
            <a:endParaRPr lang="en-US" sz="1800" dirty="0"/>
          </a:p>
          <a:p>
            <a:r>
              <a:rPr lang="en-US" sz="1800" dirty="0">
                <a:sym typeface="+mn-ea"/>
              </a:rPr>
              <a:t>N  =  Number of data </a:t>
            </a:r>
            <a:endParaRPr lang="en-US" sz="1800"/>
          </a:p>
        </p:txBody>
      </p:sp>
      <p:pic>
        <p:nvPicPr>
          <p:cNvPr id="5" name="Picture 4" descr="Image result for formula of mea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01110" y="2485390"/>
            <a:ext cx="3074035" cy="15392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MEAN</a:t>
            </a:r>
            <a:endParaRPr lang="en-US" b="1" dirty="0">
              <a:solidFill>
                <a:schemeClr val="accent6"/>
              </a:solidFill>
              <a:sym typeface="+mn-ea"/>
            </a:endParaRPr>
          </a:p>
        </p:txBody>
      </p:sp>
      <p:sp>
        <p:nvSpPr>
          <p:cNvPr id="3" name="Content Placeholder 2"/>
          <p:cNvSpPr>
            <a:spLocks noGrp="1"/>
          </p:cNvSpPr>
          <p:nvPr>
            <p:ph idx="1"/>
          </p:nvPr>
        </p:nvSpPr>
        <p:spPr/>
        <p:txBody>
          <a:bodyPr/>
          <a:p>
            <a:r>
              <a:rPr lang="en-US" sz="1800" b="1" dirty="0">
                <a:sym typeface="+mn-ea"/>
              </a:rPr>
              <a:t>Example</a:t>
            </a:r>
            <a:r>
              <a:rPr lang="en-IN" altLang="en-US" sz="1800" b="1" dirty="0">
                <a:sym typeface="+mn-ea"/>
              </a:rPr>
              <a:t> 1</a:t>
            </a:r>
            <a:r>
              <a:rPr lang="en-US" sz="1800" b="1" dirty="0">
                <a:sym typeface="+mn-ea"/>
              </a:rPr>
              <a:t> :</a:t>
            </a:r>
            <a:endParaRPr lang="en-US" sz="1800" b="1" dirty="0"/>
          </a:p>
          <a:p>
            <a:r>
              <a:rPr lang="en-US" sz="1800" dirty="0">
                <a:sym typeface="+mn-ea"/>
              </a:rPr>
              <a:t>Scores of 15 students in Mathematics quiz consist of 25 items. The highest score is 25 and the lowest score is 10. </a:t>
            </a:r>
            <a:endParaRPr lang="en-US" sz="1800" dirty="0"/>
          </a:p>
          <a:p>
            <a:r>
              <a:rPr lang="en-US" sz="1800" dirty="0">
                <a:sym typeface="+mn-ea"/>
              </a:rPr>
              <a:t>Here are the scores:  25,20,18,18,17,15,15,14,14,13,12,12,10,10. </a:t>
            </a:r>
            <a:endParaRPr lang="en-US" sz="1800" dirty="0"/>
          </a:p>
          <a:p>
            <a:r>
              <a:rPr lang="en-US" sz="1800" dirty="0">
                <a:sym typeface="+mn-ea"/>
              </a:rPr>
              <a:t>Find the mean in the following scores.</a:t>
            </a:r>
            <a:endParaRPr lang="en-US" sz="1800" dirty="0">
              <a:sym typeface="+mn-ea"/>
            </a:endParaRPr>
          </a:p>
          <a:p>
            <a:pPr marL="0" indent="0">
              <a:buNone/>
            </a:pPr>
            <a:endParaRPr lang="en-US" sz="1800" dirty="0"/>
          </a:p>
          <a:p>
            <a:pPr marL="0" indent="0">
              <a:buNone/>
            </a:pPr>
            <a:r>
              <a:rPr lang="en-US" sz="1800" b="1" dirty="0">
                <a:sym typeface="+mn-ea"/>
              </a:rPr>
              <a:t>x(Scores)</a:t>
            </a:r>
            <a:endParaRPr lang="en-US" sz="1800" dirty="0"/>
          </a:p>
          <a:p>
            <a:pPr marL="0" indent="0">
              <a:buNone/>
            </a:pPr>
            <a:r>
              <a:rPr lang="en-US" sz="1800" dirty="0">
                <a:sym typeface="+mn-ea"/>
              </a:rPr>
              <a:t>25	14</a:t>
            </a:r>
            <a:endParaRPr lang="en-US" sz="1800" dirty="0"/>
          </a:p>
          <a:p>
            <a:pPr marL="0" indent="0">
              <a:buNone/>
            </a:pPr>
            <a:r>
              <a:rPr lang="en-US" sz="1800" dirty="0">
                <a:sym typeface="+mn-ea"/>
              </a:rPr>
              <a:t>20	13</a:t>
            </a:r>
            <a:endParaRPr lang="en-US" sz="1800" dirty="0"/>
          </a:p>
          <a:p>
            <a:pPr marL="0" indent="0">
              <a:buNone/>
            </a:pPr>
            <a:r>
              <a:rPr lang="en-US" sz="1800" dirty="0">
                <a:sym typeface="+mn-ea"/>
              </a:rPr>
              <a:t>18	13</a:t>
            </a:r>
            <a:endParaRPr lang="en-US" sz="1800" dirty="0"/>
          </a:p>
          <a:p>
            <a:pPr marL="0" indent="0">
              <a:buNone/>
            </a:pPr>
            <a:r>
              <a:rPr lang="en-US" sz="1800" dirty="0">
                <a:sym typeface="+mn-ea"/>
              </a:rPr>
              <a:t>18	12</a:t>
            </a:r>
            <a:endParaRPr lang="en-US" sz="1800" dirty="0"/>
          </a:p>
          <a:p>
            <a:pPr marL="0" indent="0">
              <a:buNone/>
            </a:pPr>
            <a:r>
              <a:rPr lang="en-US" sz="1800" dirty="0">
                <a:sym typeface="+mn-ea"/>
              </a:rPr>
              <a:t>17	12</a:t>
            </a:r>
            <a:endParaRPr lang="en-US" sz="1800" dirty="0"/>
          </a:p>
          <a:p>
            <a:pPr marL="0" indent="0">
              <a:buNone/>
            </a:pPr>
            <a:r>
              <a:rPr lang="en-US" sz="1800" dirty="0">
                <a:sym typeface="+mn-ea"/>
              </a:rPr>
              <a:t>15	10</a:t>
            </a:r>
            <a:endParaRPr lang="en-US" sz="1800" dirty="0"/>
          </a:p>
          <a:p>
            <a:pPr marL="514350" indent="-514350">
              <a:buAutoNum type="arabicPlain" startAt="15"/>
            </a:pPr>
            <a:r>
              <a:rPr lang="en-US" sz="1800" dirty="0">
                <a:sym typeface="+mn-ea"/>
              </a:rPr>
              <a:t>      10</a:t>
            </a:r>
            <a:endParaRPr lang="en-US" sz="1800" dirty="0"/>
          </a:p>
          <a:p>
            <a:pPr marL="0" indent="0">
              <a:buNone/>
            </a:pPr>
            <a:r>
              <a:rPr lang="en-US" sz="1800" dirty="0">
                <a:sym typeface="+mn-ea"/>
              </a:rPr>
              <a:t>14</a:t>
            </a:r>
            <a:endParaRPr lang="en-US" sz="1800" dirty="0"/>
          </a:p>
          <a:p>
            <a:pPr marL="514350" indent="-514350">
              <a:buAutoNum type="arabicPlain" startAt="15"/>
            </a:pPr>
            <a:endParaRPr lang="en-US" sz="1400" dirty="0"/>
          </a:p>
          <a:p>
            <a:endParaRPr lang="en-US" sz="1400"/>
          </a:p>
        </p:txBody>
      </p:sp>
      <p:sp>
        <p:nvSpPr>
          <p:cNvPr id="5" name="Content Placeholder 2"/>
          <p:cNvSpPr txBox="1"/>
          <p:nvPr/>
        </p:nvSpPr>
        <p:spPr>
          <a:xfrm>
            <a:off x="4518660" y="3521710"/>
            <a:ext cx="5486400" cy="146367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400" dirty="0"/>
              <a:t>Sum of scores(</a:t>
            </a:r>
            <a:r>
              <a:rPr lang="el-GR" sz="2400" b="1" dirty="0"/>
              <a:t>Σ</a:t>
            </a:r>
            <a:r>
              <a:rPr lang="el-GR" sz="2400" dirty="0"/>
              <a:t> </a:t>
            </a:r>
            <a:r>
              <a:rPr lang="en-US" sz="2400" dirty="0"/>
              <a:t>X)		228</a:t>
            </a:r>
            <a:endParaRPr lang="en-US" sz="2400" dirty="0"/>
          </a:p>
          <a:p>
            <a:pPr marL="0" indent="0">
              <a:buNone/>
            </a:pPr>
            <a:r>
              <a:rPr lang="en-US" sz="2400" dirty="0"/>
              <a:t>Number of students(N)	15</a:t>
            </a:r>
            <a:endParaRPr lang="en-US" sz="2400" dirty="0"/>
          </a:p>
          <a:p>
            <a:pPr marL="0" indent="0">
              <a:buNone/>
            </a:pPr>
            <a:r>
              <a:rPr lang="en-US" sz="2400" dirty="0"/>
              <a:t>Mean	  =&gt;	 228/15  	15.2</a:t>
            </a:r>
            <a:endParaRPr lang="en-US" sz="2400" dirty="0"/>
          </a:p>
          <a:p>
            <a:endParaRPr lang="en-US" sz="2400" dirty="0"/>
          </a:p>
          <a:p>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MEAN</a:t>
            </a:r>
            <a:endParaRPr lang="en-US" b="1" dirty="0">
              <a:solidFill>
                <a:schemeClr val="accent6"/>
              </a:solidFill>
              <a:sym typeface="+mn-ea"/>
            </a:endParaRPr>
          </a:p>
        </p:txBody>
      </p:sp>
      <p:sp>
        <p:nvSpPr>
          <p:cNvPr id="3" name="Content Placeholder 2"/>
          <p:cNvSpPr>
            <a:spLocks noGrp="1"/>
          </p:cNvSpPr>
          <p:nvPr>
            <p:ph idx="1"/>
          </p:nvPr>
        </p:nvSpPr>
        <p:spPr/>
        <p:txBody>
          <a:bodyPr/>
          <a:p>
            <a:pPr marL="0" indent="0">
              <a:buNone/>
            </a:pPr>
            <a:r>
              <a:rPr lang="en-US" sz="1800" b="1" dirty="0">
                <a:sym typeface="+mn-ea"/>
              </a:rPr>
              <a:t>Example</a:t>
            </a:r>
            <a:r>
              <a:rPr lang="en-IN" altLang="en-US" sz="1800" b="1" dirty="0">
                <a:sym typeface="+mn-ea"/>
              </a:rPr>
              <a:t> 2</a:t>
            </a:r>
            <a:r>
              <a:rPr lang="en-US" sz="1800" b="1" dirty="0">
                <a:sym typeface="+mn-ea"/>
              </a:rPr>
              <a:t> :</a:t>
            </a:r>
            <a:endParaRPr lang="en-US" sz="1800" b="1" dirty="0"/>
          </a:p>
          <a:p>
            <a:r>
              <a:rPr lang="en-US" sz="1800" dirty="0">
                <a:sym typeface="+mn-ea"/>
              </a:rPr>
              <a:t>Let’s say you wanted to work for a small law firm that paid an average salary of over $73,000 to its 11 employees. You might think there’s a good chance you’ll land a great paying job. But take a closer look at how the average is calculated for those eleven employees:</a:t>
            </a:r>
            <a:endParaRPr lang="en-US" sz="1800" dirty="0">
              <a:sym typeface="+mn-ea"/>
            </a:endParaRPr>
          </a:p>
          <a:p>
            <a:endParaRPr lang="en-US" sz="1800" dirty="0"/>
          </a:p>
          <a:p>
            <a:pPr marL="457200" lvl="1" indent="0">
              <a:buNone/>
            </a:pPr>
            <a:r>
              <a:rPr lang="en-US" sz="1600" b="1" dirty="0">
                <a:sym typeface="+mn-ea"/>
              </a:rPr>
              <a:t>Employee	Salary</a:t>
            </a:r>
            <a:endParaRPr lang="en-US" sz="1400" dirty="0"/>
          </a:p>
          <a:p>
            <a:pPr marL="457200" lvl="1" indent="0">
              <a:buNone/>
            </a:pPr>
            <a:r>
              <a:rPr lang="en-US" sz="1400" dirty="0">
                <a:sym typeface="+mn-ea"/>
              </a:rPr>
              <a:t>Samuel	$28,000</a:t>
            </a:r>
            <a:endParaRPr lang="en-US" sz="1400" dirty="0"/>
          </a:p>
          <a:p>
            <a:pPr marL="457200" lvl="1" indent="0">
              <a:buNone/>
            </a:pPr>
            <a:r>
              <a:rPr lang="en-US" sz="1400" dirty="0">
                <a:sym typeface="+mn-ea"/>
              </a:rPr>
              <a:t>Candice	$17,400</a:t>
            </a:r>
            <a:endParaRPr lang="en-US" sz="1400" dirty="0"/>
          </a:p>
          <a:p>
            <a:pPr marL="457200" lvl="1" indent="0">
              <a:buNone/>
            </a:pPr>
            <a:r>
              <a:rPr lang="en-US" sz="1400" dirty="0">
                <a:sym typeface="+mn-ea"/>
              </a:rPr>
              <a:t>Thomas	$22,000</a:t>
            </a:r>
            <a:endParaRPr lang="en-US" sz="1400" dirty="0"/>
          </a:p>
          <a:p>
            <a:pPr marL="457200" lvl="1" indent="0">
              <a:buNone/>
            </a:pPr>
            <a:r>
              <a:rPr lang="en-US" sz="1400" dirty="0">
                <a:sym typeface="+mn-ea"/>
              </a:rPr>
              <a:t>Ted	</a:t>
            </a:r>
            <a:r>
              <a:rPr lang="en-IN" altLang="en-US" sz="1400" dirty="0">
                <a:sym typeface="+mn-ea"/>
              </a:rPr>
              <a:t>	</a:t>
            </a:r>
            <a:r>
              <a:rPr lang="en-US" sz="1400" dirty="0">
                <a:sym typeface="+mn-ea"/>
              </a:rPr>
              <a:t>$300,000</a:t>
            </a:r>
            <a:endParaRPr lang="en-US" sz="1400" dirty="0"/>
          </a:p>
          <a:p>
            <a:pPr marL="457200" lvl="1" indent="0">
              <a:buNone/>
            </a:pPr>
            <a:r>
              <a:rPr lang="en-US" sz="1400" dirty="0">
                <a:sym typeface="+mn-ea"/>
              </a:rPr>
              <a:t>Carly	</a:t>
            </a:r>
            <a:r>
              <a:rPr lang="en-IN" altLang="en-US" sz="1400" dirty="0">
                <a:sym typeface="+mn-ea"/>
              </a:rPr>
              <a:t>	</a:t>
            </a:r>
            <a:r>
              <a:rPr lang="en-US" sz="1400" dirty="0">
                <a:sym typeface="+mn-ea"/>
              </a:rPr>
              <a:t>$300,000</a:t>
            </a:r>
            <a:endParaRPr lang="en-US" sz="1400" dirty="0"/>
          </a:p>
          <a:p>
            <a:pPr marL="457200" lvl="1" indent="0">
              <a:buNone/>
            </a:pPr>
            <a:r>
              <a:rPr lang="en-US" sz="1400" dirty="0">
                <a:sym typeface="+mn-ea"/>
              </a:rPr>
              <a:t>Shawanna	$20,500</a:t>
            </a:r>
            <a:endParaRPr lang="en-US" sz="1400" dirty="0"/>
          </a:p>
          <a:p>
            <a:pPr marL="457200" lvl="1" indent="0">
              <a:buNone/>
            </a:pPr>
            <a:r>
              <a:rPr lang="en-US" sz="1400" dirty="0">
                <a:sym typeface="+mn-ea"/>
              </a:rPr>
              <a:t>Chan	</a:t>
            </a:r>
            <a:r>
              <a:rPr lang="en-IN" altLang="en-US" sz="1400" dirty="0">
                <a:sym typeface="+mn-ea"/>
              </a:rPr>
              <a:t>	</a:t>
            </a:r>
            <a:r>
              <a:rPr lang="en-US" sz="1400" dirty="0">
                <a:sym typeface="+mn-ea"/>
              </a:rPr>
              <a:t>$18,500</a:t>
            </a:r>
            <a:endParaRPr lang="en-US" sz="1400" dirty="0"/>
          </a:p>
          <a:p>
            <a:pPr marL="457200" lvl="1" indent="0">
              <a:buNone/>
            </a:pPr>
            <a:r>
              <a:rPr lang="en-US" sz="1400" dirty="0">
                <a:sym typeface="+mn-ea"/>
              </a:rPr>
              <a:t>Janine	$27,000</a:t>
            </a:r>
            <a:endParaRPr lang="en-US" sz="1400" dirty="0"/>
          </a:p>
          <a:p>
            <a:pPr marL="457200" lvl="1" indent="0">
              <a:buNone/>
            </a:pPr>
            <a:r>
              <a:rPr lang="en-US" sz="1400" dirty="0">
                <a:sym typeface="+mn-ea"/>
              </a:rPr>
              <a:t>Barbara	$21,000</a:t>
            </a:r>
            <a:endParaRPr lang="en-US" sz="1400" dirty="0"/>
          </a:p>
          <a:p>
            <a:pPr marL="457200" lvl="1" indent="0">
              <a:buNone/>
            </a:pPr>
            <a:r>
              <a:rPr lang="en-US" sz="1400" dirty="0">
                <a:sym typeface="+mn-ea"/>
              </a:rPr>
              <a:t>Anna	</a:t>
            </a:r>
            <a:r>
              <a:rPr lang="en-IN" altLang="en-US" sz="1400" dirty="0">
                <a:sym typeface="+mn-ea"/>
              </a:rPr>
              <a:t>	</a:t>
            </a:r>
            <a:r>
              <a:rPr lang="en-US" sz="1400" dirty="0">
                <a:sym typeface="+mn-ea"/>
              </a:rPr>
              <a:t>$29,000</a:t>
            </a:r>
            <a:endParaRPr lang="en-US" sz="1400" dirty="0"/>
          </a:p>
          <a:p>
            <a:pPr marL="457200" lvl="1" indent="0">
              <a:buNone/>
            </a:pPr>
            <a:r>
              <a:rPr lang="en-US" sz="1400" dirty="0">
                <a:sym typeface="+mn-ea"/>
              </a:rPr>
              <a:t>Jim	</a:t>
            </a:r>
            <a:r>
              <a:rPr lang="en-IN" altLang="en-US" sz="1400" dirty="0">
                <a:sym typeface="+mn-ea"/>
              </a:rPr>
              <a:t>	</a:t>
            </a:r>
            <a:r>
              <a:rPr lang="en-US" sz="1400" dirty="0">
                <a:sym typeface="+mn-ea"/>
              </a:rPr>
              <a:t>$20,000</a:t>
            </a:r>
            <a:endParaRPr lang="en-US" sz="1400" dirty="0"/>
          </a:p>
          <a:p>
            <a:pPr marL="0" indent="0">
              <a:buNone/>
            </a:pPr>
            <a:endParaRPr lang="en-US" sz="1400"/>
          </a:p>
        </p:txBody>
      </p:sp>
      <p:sp>
        <p:nvSpPr>
          <p:cNvPr id="5" name="TextBox 3"/>
          <p:cNvSpPr txBox="1"/>
          <p:nvPr/>
        </p:nvSpPr>
        <p:spPr>
          <a:xfrm>
            <a:off x="3777811" y="2944197"/>
            <a:ext cx="7696200" cy="1845310"/>
          </a:xfrm>
          <a:prstGeom prst="rect">
            <a:avLst/>
          </a:prstGeom>
          <a:noFill/>
        </p:spPr>
        <p:txBody>
          <a:bodyPr wrap="square" rtlCol="0">
            <a:spAutoFit/>
          </a:bodyPr>
          <a:p>
            <a:r>
              <a:rPr lang="en-US" dirty="0"/>
              <a:t>Average (Mean) =&gt;</a:t>
            </a:r>
            <a:endParaRPr lang="en-US" dirty="0"/>
          </a:p>
          <a:p>
            <a:r>
              <a:rPr lang="en-US" sz="2000" dirty="0"/>
              <a:t>($28,000 + $17,400 + $22,000 + $300,000 + $300,000 + $20,500 + $18,500 + $27,000 + $21,000 + $29,000 + $20,000) / 11 </a:t>
            </a:r>
            <a:endParaRPr lang="en-US" sz="2000" dirty="0"/>
          </a:p>
          <a:p>
            <a:endParaRPr lang="en-US" sz="2000" dirty="0"/>
          </a:p>
          <a:p>
            <a:r>
              <a:rPr lang="en-US" dirty="0"/>
              <a:t> =&gt;  $73,000</a:t>
            </a:r>
            <a:endParaRPr lang="en-US" dirty="0"/>
          </a:p>
          <a:p>
            <a:endParaRPr lang="en-US" sz="1800" dirty="0">
              <a:latin typeface="Verdana" panose="020B0604030504040204" pitchFamily="34" charset="0"/>
              <a:ea typeface="Verdana" panose="020B0604030504040204" pitchFamily="34" charset="0"/>
              <a:cs typeface="Verdana" panose="020B0604030504040204" pitchFamily="34" charset="0"/>
            </a:endParaRPr>
          </a:p>
        </p:txBody>
      </p:sp>
      <p:sp>
        <p:nvSpPr>
          <p:cNvPr id="6" name="TextBox 4"/>
          <p:cNvSpPr txBox="1"/>
          <p:nvPr/>
        </p:nvSpPr>
        <p:spPr>
          <a:xfrm>
            <a:off x="4277360" y="5089484"/>
            <a:ext cx="5660340" cy="707886"/>
          </a:xfrm>
          <a:prstGeom prst="rect">
            <a:avLst/>
          </a:prstGeom>
          <a:noFill/>
        </p:spPr>
        <p:txBody>
          <a:bodyPr wrap="square" rtlCol="0">
            <a:spAutoFit/>
          </a:bodyPr>
          <a:p>
            <a:r>
              <a:rPr lang="en-US" sz="2000" dirty="0">
                <a:latin typeface="Verdana" panose="020B0604030504040204" pitchFamily="34" charset="0"/>
                <a:ea typeface="Verdana" panose="020B0604030504040204" pitchFamily="34" charset="0"/>
                <a:cs typeface="Verdana" panose="020B0604030504040204" pitchFamily="34" charset="0"/>
              </a:rPr>
              <a:t>See how the </a:t>
            </a:r>
            <a:r>
              <a:rPr lang="en-US" sz="2000" b="1" dirty="0">
                <a:latin typeface="Verdana" panose="020B0604030504040204" pitchFamily="34" charset="0"/>
                <a:ea typeface="Verdana" panose="020B0604030504040204" pitchFamily="34" charset="0"/>
                <a:cs typeface="Verdana" panose="020B0604030504040204" pitchFamily="34" charset="0"/>
              </a:rPr>
              <a:t>“average” </a:t>
            </a:r>
            <a:r>
              <a:rPr lang="en-US" sz="2000" dirty="0">
                <a:latin typeface="Verdana" panose="020B0604030504040204" pitchFamily="34" charset="0"/>
                <a:ea typeface="Verdana" panose="020B0604030504040204" pitchFamily="34" charset="0"/>
                <a:cs typeface="Verdana" panose="020B0604030504040204" pitchFamily="34" charset="0"/>
              </a:rPr>
              <a:t>can be misleading?</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arn(inVertical)">
                                      <p:cBhvr>
                                        <p:cTn id="10" dur="500"/>
                                        <p:tgtEl>
                                          <p:spTgt spid="5">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barn(inVertical)">
                                      <p:cBhvr>
                                        <p:cTn id="13" dur="500"/>
                                        <p:tgtEl>
                                          <p:spTgt spid="5">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barn(inVertical)">
                                      <p:cBhvr>
                                        <p:cTn id="18"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MEDIAN</a:t>
            </a:r>
            <a:endParaRPr lang="en-US" b="1" dirty="0">
              <a:solidFill>
                <a:schemeClr val="accent6"/>
              </a:solidFill>
              <a:sym typeface="+mn-ea"/>
            </a:endParaRPr>
          </a:p>
        </p:txBody>
      </p:sp>
      <p:sp>
        <p:nvSpPr>
          <p:cNvPr id="3" name="Content Placeholder 2"/>
          <p:cNvSpPr>
            <a:spLocks noGrp="1"/>
          </p:cNvSpPr>
          <p:nvPr>
            <p:ph idx="1"/>
          </p:nvPr>
        </p:nvSpPr>
        <p:spPr/>
        <p:txBody>
          <a:bodyPr/>
          <a:p>
            <a:pPr marL="457200" indent="-457200">
              <a:buFont typeface="Arial" panose="020B0604020202020204" pitchFamily="34" charset="0"/>
              <a:buChar char="•"/>
            </a:pPr>
            <a:r>
              <a:rPr lang="en-US" sz="1800" dirty="0">
                <a:sym typeface="+mn-ea"/>
              </a:rPr>
              <a:t>The median is the value separating the higher half from the lower half of a data sample.</a:t>
            </a:r>
            <a:endParaRPr lang="en-US" sz="1800" dirty="0"/>
          </a:p>
          <a:p>
            <a:pPr marL="457200" indent="-457200">
              <a:buFont typeface="Arial" panose="020B0604020202020204" pitchFamily="34" charset="0"/>
              <a:buChar char="•"/>
            </a:pPr>
            <a:r>
              <a:rPr lang="en-US" sz="1800" dirty="0">
                <a:sym typeface="+mn-ea"/>
              </a:rPr>
              <a:t>For a data set, it may be thought of as the "middle"</a:t>
            </a:r>
            <a:r>
              <a:rPr lang="en-IN" altLang="en-US" sz="1800" dirty="0">
                <a:sym typeface="+mn-ea"/>
              </a:rPr>
              <a:t> </a:t>
            </a:r>
            <a:r>
              <a:rPr lang="en-US" sz="1800" dirty="0">
                <a:sym typeface="+mn-ea"/>
              </a:rPr>
              <a:t>value. </a:t>
            </a:r>
            <a:endParaRPr lang="en-US" sz="1800" dirty="0"/>
          </a:p>
          <a:p>
            <a:pPr marL="457200" indent="-457200">
              <a:buFont typeface="Arial" panose="020B0604020202020204" pitchFamily="34" charset="0"/>
              <a:buChar char="•"/>
            </a:pPr>
            <a:r>
              <a:rPr lang="en-US" sz="1800" dirty="0">
                <a:sym typeface="+mn-ea"/>
              </a:rPr>
              <a:t>The “Median” of a dataset is dependent on whether the number of elements in the data set is odd or even. Calculation:</a:t>
            </a:r>
            <a:endParaRPr lang="en-US" sz="1800" dirty="0"/>
          </a:p>
          <a:p>
            <a:pPr lvl="1">
              <a:buFont typeface="Arial" panose="020B0604020202020204" pitchFamily="34" charset="0"/>
              <a:buChar char="•"/>
            </a:pPr>
            <a:r>
              <a:rPr lang="en-US" sz="1800" dirty="0">
                <a:sym typeface="+mn-ea"/>
              </a:rPr>
              <a:t> First reorder the data set from the smallest to the largest.</a:t>
            </a:r>
            <a:endParaRPr lang="en-US" sz="1800" dirty="0"/>
          </a:p>
          <a:p>
            <a:pPr lvl="1">
              <a:buFont typeface="Arial" panose="020B0604020202020204" pitchFamily="34" charset="0"/>
              <a:buChar char="•"/>
            </a:pPr>
            <a:r>
              <a:rPr lang="en-US" sz="1800" dirty="0">
                <a:sym typeface="+mn-ea"/>
              </a:rPr>
              <a:t> Mark off the high and low values until you reach the </a:t>
            </a:r>
            <a:r>
              <a:rPr lang="en-US" sz="1800" b="1" dirty="0">
                <a:solidFill>
                  <a:schemeClr val="tx1">
                    <a:lumMod val="75000"/>
                    <a:lumOff val="25000"/>
                  </a:schemeClr>
                </a:solidFill>
                <a:sym typeface="+mn-ea"/>
              </a:rPr>
              <a:t>middle</a:t>
            </a:r>
            <a:r>
              <a:rPr lang="en-US" sz="1800" dirty="0">
                <a:sym typeface="+mn-ea"/>
              </a:rPr>
              <a:t>.</a:t>
            </a:r>
            <a:endParaRPr lang="en-US" sz="1800" dirty="0"/>
          </a:p>
          <a:p>
            <a:pPr lvl="1">
              <a:buFont typeface="Arial" panose="020B0604020202020204" pitchFamily="34" charset="0"/>
              <a:buChar char="•"/>
            </a:pPr>
            <a:r>
              <a:rPr lang="en-US" sz="1800" dirty="0">
                <a:sym typeface="+mn-ea"/>
              </a:rPr>
              <a:t> If there 2 middles, add them and </a:t>
            </a:r>
            <a:r>
              <a:rPr lang="en-US" sz="1800" b="1" dirty="0">
                <a:solidFill>
                  <a:schemeClr val="tx1">
                    <a:lumMod val="75000"/>
                    <a:lumOff val="25000"/>
                  </a:schemeClr>
                </a:solidFill>
                <a:sym typeface="+mn-ea"/>
              </a:rPr>
              <a:t>divide</a:t>
            </a:r>
            <a:r>
              <a:rPr lang="en-US" sz="1800" dirty="0">
                <a:sym typeface="+mn-ea"/>
              </a:rPr>
              <a:t> by 2.</a:t>
            </a:r>
            <a:endParaRPr lang="en-US" sz="1800" dirty="0"/>
          </a:p>
          <a:p>
            <a:endParaRPr lang="en-US" sz="1800" dirty="0"/>
          </a:p>
          <a:p>
            <a:endParaRPr lang="en-US"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MEDIAN</a:t>
            </a:r>
            <a:endParaRPr lang="en-US" b="1" dirty="0">
              <a:solidFill>
                <a:schemeClr val="accent6"/>
              </a:solidFill>
              <a:sym typeface="+mn-ea"/>
            </a:endParaRPr>
          </a:p>
        </p:txBody>
      </p:sp>
      <p:sp>
        <p:nvSpPr>
          <p:cNvPr id="3" name="Content Placeholder 2"/>
          <p:cNvSpPr>
            <a:spLocks noGrp="1"/>
          </p:cNvSpPr>
          <p:nvPr>
            <p:ph idx="1"/>
          </p:nvPr>
        </p:nvSpPr>
        <p:spPr/>
        <p:txBody>
          <a:bodyPr/>
          <a:p>
            <a:r>
              <a:rPr lang="en-US" sz="2000" b="1" dirty="0">
                <a:solidFill>
                  <a:schemeClr val="tx1">
                    <a:lumMod val="75000"/>
                    <a:lumOff val="25000"/>
                  </a:schemeClr>
                </a:solidFill>
                <a:sym typeface="+mn-ea"/>
              </a:rPr>
              <a:t>Examples:</a:t>
            </a:r>
            <a:r>
              <a:rPr lang="en-US" sz="1800" dirty="0">
                <a:solidFill>
                  <a:schemeClr val="tx1">
                    <a:lumMod val="75000"/>
                    <a:lumOff val="25000"/>
                  </a:schemeClr>
                </a:solidFill>
                <a:sym typeface="+mn-ea"/>
              </a:rPr>
              <a:t> </a:t>
            </a:r>
            <a:endParaRPr lang="en-US" sz="1800" dirty="0">
              <a:solidFill>
                <a:schemeClr val="tx1">
                  <a:lumMod val="75000"/>
                  <a:lumOff val="25000"/>
                </a:schemeClr>
              </a:solidFill>
              <a:sym typeface="+mn-ea"/>
            </a:endParaRPr>
          </a:p>
          <a:p>
            <a:endParaRPr lang="en-US" sz="1800" dirty="0">
              <a:solidFill>
                <a:schemeClr val="tx1">
                  <a:lumMod val="75000"/>
                  <a:lumOff val="25000"/>
                </a:schemeClr>
              </a:solidFill>
            </a:endParaRPr>
          </a:p>
          <a:p>
            <a:pPr marL="342900" indent="-342900">
              <a:buAutoNum type="arabicPeriod"/>
            </a:pPr>
            <a:r>
              <a:rPr lang="en-US" sz="1800" dirty="0">
                <a:sym typeface="+mn-ea"/>
              </a:rPr>
              <a:t>Odd Number of Elements </a:t>
            </a:r>
            <a:endParaRPr lang="en-US" sz="1800" dirty="0"/>
          </a:p>
          <a:p>
            <a:pPr marL="644525" lvl="1">
              <a:buFont typeface="Arial" panose="020B0604020202020204" pitchFamily="34" charset="0"/>
              <a:buChar char="•"/>
            </a:pPr>
            <a:r>
              <a:rPr lang="en-US" sz="1800" dirty="0">
                <a:sym typeface="+mn-ea"/>
              </a:rPr>
              <a:t>Dataset	2,5,9,3,5,4,7</a:t>
            </a:r>
            <a:endParaRPr lang="en-US" sz="1800" dirty="0"/>
          </a:p>
          <a:p>
            <a:pPr marL="644525" lvl="1">
              <a:buFont typeface="Arial" panose="020B0604020202020204" pitchFamily="34" charset="0"/>
              <a:buChar char="•"/>
            </a:pPr>
            <a:r>
              <a:rPr lang="en-US" sz="1800" dirty="0">
                <a:sym typeface="+mn-ea"/>
              </a:rPr>
              <a:t>Reordered	2,3,4,</a:t>
            </a:r>
            <a:r>
              <a:rPr lang="en-US" sz="1800" b="1" dirty="0">
                <a:sym typeface="+mn-ea"/>
              </a:rPr>
              <a:t>5</a:t>
            </a:r>
            <a:r>
              <a:rPr lang="en-US" sz="1800" dirty="0">
                <a:sym typeface="+mn-ea"/>
              </a:rPr>
              <a:t>,5,7,9</a:t>
            </a:r>
            <a:endParaRPr lang="en-US" sz="1800" dirty="0"/>
          </a:p>
          <a:p>
            <a:pPr marL="644525" lvl="1">
              <a:buFont typeface="Arial" panose="020B0604020202020204" pitchFamily="34" charset="0"/>
              <a:buChar char="•"/>
            </a:pPr>
            <a:r>
              <a:rPr lang="en-US" sz="1800" dirty="0">
                <a:sym typeface="+mn-ea"/>
              </a:rPr>
              <a:t>Median	 5</a:t>
            </a:r>
            <a:endParaRPr lang="en-US" sz="1800" dirty="0"/>
          </a:p>
          <a:p>
            <a:pPr marL="1028700" lvl="1">
              <a:buNone/>
            </a:pPr>
            <a:endParaRPr lang="en-US" sz="1800" dirty="0"/>
          </a:p>
          <a:p>
            <a:pPr marL="342900" indent="-342900">
              <a:buAutoNum type="arabicPeriod" startAt="2"/>
            </a:pPr>
            <a:r>
              <a:rPr lang="en-US" sz="1800" dirty="0">
                <a:sym typeface="+mn-ea"/>
              </a:rPr>
              <a:t>Even Number of Elements</a:t>
            </a:r>
            <a:endParaRPr lang="en-US" sz="1800" dirty="0"/>
          </a:p>
          <a:p>
            <a:pPr marL="701675" lvl="1" indent="-342900">
              <a:buFont typeface="Arial" panose="020B0604020202020204" pitchFamily="34" charset="0"/>
              <a:buChar char="•"/>
            </a:pPr>
            <a:r>
              <a:rPr lang="en-US" sz="1800" dirty="0">
                <a:sym typeface="+mn-ea"/>
              </a:rPr>
              <a:t>Dataset	2,5,9,3,5,4</a:t>
            </a:r>
            <a:endParaRPr lang="en-US" sz="1800" dirty="0"/>
          </a:p>
          <a:p>
            <a:pPr marL="701675" lvl="1" indent="-342900">
              <a:buFont typeface="Arial" panose="020B0604020202020204" pitchFamily="34" charset="0"/>
              <a:buChar char="•"/>
            </a:pPr>
            <a:r>
              <a:rPr lang="en-US" sz="1800" dirty="0">
                <a:sym typeface="+mn-ea"/>
              </a:rPr>
              <a:t>Reordered	2,3,</a:t>
            </a:r>
            <a:r>
              <a:rPr lang="en-US" sz="1800" b="1" dirty="0">
                <a:sym typeface="+mn-ea"/>
              </a:rPr>
              <a:t>4,5</a:t>
            </a:r>
            <a:r>
              <a:rPr lang="en-US" sz="1800" dirty="0">
                <a:sym typeface="+mn-ea"/>
              </a:rPr>
              <a:t>,5,9</a:t>
            </a:r>
            <a:endParaRPr lang="en-US" sz="1800" dirty="0"/>
          </a:p>
          <a:p>
            <a:pPr marL="701675" lvl="1" indent="-342900">
              <a:buFont typeface="Arial" panose="020B0604020202020204" pitchFamily="34" charset="0"/>
              <a:buChar char="•"/>
            </a:pPr>
            <a:r>
              <a:rPr lang="en-US" sz="1800" dirty="0">
                <a:sym typeface="+mn-ea"/>
              </a:rPr>
              <a:t>Median	(4+5)/2  =&gt; 4.5</a:t>
            </a:r>
            <a:endParaRPr lang="en-US" sz="1800" dirty="0"/>
          </a:p>
          <a:p>
            <a:pPr marL="1028700" lvl="1">
              <a:buNone/>
            </a:pPr>
            <a:endParaRPr lang="en-US" sz="1800" dirty="0"/>
          </a:p>
          <a:p>
            <a:pPr marL="701675" lvl="1" indent="-342900"/>
            <a:endParaRPr lang="en-US" sz="1800" dirty="0"/>
          </a:p>
          <a:p>
            <a:endParaRPr lang="en-US"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MODE</a:t>
            </a:r>
            <a:endParaRPr lang="en-US" b="1" dirty="0">
              <a:solidFill>
                <a:schemeClr val="accent6"/>
              </a:solidFill>
              <a:sym typeface="+mn-ea"/>
            </a:endParaRPr>
          </a:p>
        </p:txBody>
      </p:sp>
      <p:sp>
        <p:nvSpPr>
          <p:cNvPr id="3" name="Content Placeholder 2"/>
          <p:cNvSpPr>
            <a:spLocks noGrp="1"/>
          </p:cNvSpPr>
          <p:nvPr>
            <p:ph idx="1"/>
          </p:nvPr>
        </p:nvSpPr>
        <p:spPr/>
        <p:txBody>
          <a:bodyPr/>
          <a:p>
            <a:pPr marL="285750" indent="-285750">
              <a:buFont typeface="Arial" panose="020B0604020202020204" pitchFamily="34" charset="0"/>
              <a:buChar char="•"/>
            </a:pPr>
            <a:r>
              <a:rPr lang="en-US" sz="1800" dirty="0">
                <a:sym typeface="+mn-ea"/>
              </a:rPr>
              <a:t>The mode is simply the number which appears </a:t>
            </a:r>
            <a:r>
              <a:rPr lang="en-US" sz="1800" b="1" dirty="0">
                <a:sym typeface="+mn-ea"/>
              </a:rPr>
              <a:t>most often</a:t>
            </a:r>
            <a:r>
              <a:rPr lang="en-US" sz="1800" dirty="0">
                <a:sym typeface="+mn-ea"/>
              </a:rPr>
              <a:t>.</a:t>
            </a:r>
            <a:endParaRPr lang="en-US" sz="1800" dirty="0"/>
          </a:p>
          <a:p>
            <a:pPr lvl="0" defTabSz="914400" eaLnBrk="0" fontAlgn="base" hangingPunct="0">
              <a:spcBef>
                <a:spcPct val="0"/>
              </a:spcBef>
              <a:spcAft>
                <a:spcPct val="0"/>
              </a:spcAft>
            </a:pPr>
            <a:r>
              <a:rPr lang="en-US" altLang="en-US" sz="1800" dirty="0">
                <a:solidFill>
                  <a:schemeClr val="tx1">
                    <a:lumMod val="75000"/>
                    <a:lumOff val="25000"/>
                  </a:schemeClr>
                </a:solidFill>
                <a:sym typeface="+mn-ea"/>
              </a:rPr>
              <a:t>Example:</a:t>
            </a:r>
            <a:endParaRPr lang="en-US" altLang="en-US" sz="1800" dirty="0">
              <a:solidFill>
                <a:schemeClr val="tx1">
                  <a:lumMod val="75000"/>
                  <a:lumOff val="25000"/>
                </a:schemeClr>
              </a:solidFill>
            </a:endParaRPr>
          </a:p>
          <a:p>
            <a:pPr lvl="0" defTabSz="914400" eaLnBrk="0" fontAlgn="base" hangingPunct="0">
              <a:spcBef>
                <a:spcPct val="0"/>
              </a:spcBef>
              <a:spcAft>
                <a:spcPct val="0"/>
              </a:spcAft>
            </a:pPr>
            <a:r>
              <a:rPr lang="en-US" altLang="en-US" sz="1800" dirty="0">
                <a:solidFill>
                  <a:srgbClr val="333333"/>
                </a:solidFill>
                <a:sym typeface="+mn-ea"/>
              </a:rPr>
              <a:t>In {6, 3, 9, 6, 6, 5, 9, 3} </a:t>
            </a:r>
            <a:r>
              <a:rPr lang="en-US" altLang="en-US" sz="1800" b="1" dirty="0">
                <a:solidFill>
                  <a:srgbClr val="333333"/>
                </a:solidFill>
                <a:sym typeface="+mn-ea"/>
              </a:rPr>
              <a:t>the Mode is 6</a:t>
            </a:r>
            <a:r>
              <a:rPr lang="en-US" altLang="en-US" sz="1800" dirty="0">
                <a:solidFill>
                  <a:srgbClr val="333333"/>
                </a:solidFill>
                <a:sym typeface="+mn-ea"/>
              </a:rPr>
              <a:t>, as it occurs most often.</a:t>
            </a:r>
            <a:endParaRPr lang="en-US" altLang="en-US" sz="1800" dirty="0">
              <a:solidFill>
                <a:srgbClr val="333333"/>
              </a:solidFill>
            </a:endParaRPr>
          </a:p>
          <a:p>
            <a:r>
              <a:rPr lang="en-US" sz="1800" b="1" dirty="0">
                <a:sym typeface="+mn-ea"/>
              </a:rPr>
              <a:t>More Than One Mode</a:t>
            </a:r>
            <a:endParaRPr lang="en-US" sz="1800" b="1" dirty="0"/>
          </a:p>
          <a:p>
            <a:r>
              <a:rPr lang="en-US" sz="1800" dirty="0">
                <a:sym typeface="+mn-ea"/>
              </a:rPr>
              <a:t>We can have more than one mode.</a:t>
            </a:r>
            <a:endParaRPr lang="en-US" sz="1800" dirty="0"/>
          </a:p>
          <a:p>
            <a:r>
              <a:rPr lang="en-US" sz="1800" dirty="0">
                <a:solidFill>
                  <a:schemeClr val="tx1">
                    <a:lumMod val="75000"/>
                    <a:lumOff val="25000"/>
                  </a:schemeClr>
                </a:solidFill>
                <a:sym typeface="+mn-ea"/>
              </a:rPr>
              <a:t>Example</a:t>
            </a:r>
            <a:r>
              <a:rPr lang="en-US" sz="1800" dirty="0">
                <a:sym typeface="+mn-ea"/>
              </a:rPr>
              <a:t>:  In {1, 3, 3, 3, 4, 4, 6, 6, 6, 9}</a:t>
            </a:r>
            <a:r>
              <a:rPr lang="en-IN" altLang="en-US" sz="1800" dirty="0">
                <a:sym typeface="+mn-ea"/>
              </a:rPr>
              <a:t> </a:t>
            </a:r>
            <a:r>
              <a:rPr lang="en-US" sz="1800" dirty="0">
                <a:sym typeface="+mn-ea"/>
              </a:rPr>
              <a:t>3 appears three times, as does 6.</a:t>
            </a:r>
            <a:endParaRPr lang="en-US" sz="1800" dirty="0"/>
          </a:p>
          <a:p>
            <a:r>
              <a:rPr lang="en-US" sz="1800" dirty="0">
                <a:sym typeface="+mn-ea"/>
              </a:rPr>
              <a:t>So there are two modes: at </a:t>
            </a:r>
            <a:r>
              <a:rPr lang="en-US" sz="1800" b="1" dirty="0">
                <a:sym typeface="+mn-ea"/>
              </a:rPr>
              <a:t>3</a:t>
            </a:r>
            <a:r>
              <a:rPr lang="en-US" sz="1800" dirty="0">
                <a:sym typeface="+mn-ea"/>
              </a:rPr>
              <a:t> and </a:t>
            </a:r>
            <a:r>
              <a:rPr lang="en-US" sz="1800" b="1" dirty="0">
                <a:sym typeface="+mn-ea"/>
              </a:rPr>
              <a:t>6</a:t>
            </a:r>
            <a:endParaRPr lang="en-US" sz="1800" dirty="0"/>
          </a:p>
          <a:p>
            <a:r>
              <a:rPr lang="en-US" sz="1800" dirty="0">
                <a:sym typeface="+mn-ea"/>
              </a:rPr>
              <a:t>Having two modes is called </a:t>
            </a:r>
            <a:r>
              <a:rPr lang="en-US" sz="1800" b="1" dirty="0">
                <a:sym typeface="+mn-ea"/>
              </a:rPr>
              <a:t>"bimodal"</a:t>
            </a:r>
            <a:r>
              <a:rPr lang="en-US" sz="1800" dirty="0">
                <a:sym typeface="+mn-ea"/>
              </a:rPr>
              <a:t>.</a:t>
            </a:r>
            <a:endParaRPr lang="en-US" sz="1800" dirty="0"/>
          </a:p>
          <a:p>
            <a:r>
              <a:rPr lang="en-US" sz="1800" dirty="0">
                <a:sym typeface="+mn-ea"/>
              </a:rPr>
              <a:t>Having more than two modes is called </a:t>
            </a:r>
            <a:r>
              <a:rPr lang="en-US" sz="1800" b="1" dirty="0">
                <a:sym typeface="+mn-ea"/>
              </a:rPr>
              <a:t>"multimodal"</a:t>
            </a:r>
            <a:r>
              <a:rPr lang="en-US" sz="1800" dirty="0">
                <a:sym typeface="+mn-ea"/>
              </a:rPr>
              <a:t>.</a:t>
            </a:r>
            <a:endParaRPr lang="en-US" sz="1800" dirty="0"/>
          </a:p>
          <a:p>
            <a:pPr lvl="0" defTabSz="914400" eaLnBrk="0" fontAlgn="base" hangingPunct="0">
              <a:spcBef>
                <a:spcPct val="0"/>
              </a:spcBef>
              <a:spcAft>
                <a:spcPct val="0"/>
              </a:spcAft>
            </a:pPr>
            <a:endParaRPr lang="en-US" sz="1800" dirty="0"/>
          </a:p>
          <a:p>
            <a:endParaRPr 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b="1" dirty="0">
                <a:solidFill>
                  <a:schemeClr val="accent6"/>
                </a:solidFill>
                <a:sym typeface="+mn-ea"/>
              </a:rPr>
              <a:t>When to use Mode </a:t>
            </a:r>
            <a:endParaRPr lang="en-IN" b="1" dirty="0">
              <a:solidFill>
                <a:schemeClr val="accent6"/>
              </a:solidFill>
              <a:sym typeface="+mn-ea"/>
            </a:endParaRPr>
          </a:p>
        </p:txBody>
      </p:sp>
      <p:sp>
        <p:nvSpPr>
          <p:cNvPr id="3" name="Content Placeholder 2"/>
          <p:cNvSpPr>
            <a:spLocks noGrp="1"/>
          </p:cNvSpPr>
          <p:nvPr>
            <p:ph idx="1"/>
          </p:nvPr>
        </p:nvSpPr>
        <p:spPr>
          <a:xfrm>
            <a:off x="609600" y="831215"/>
            <a:ext cx="10972800" cy="5706110"/>
          </a:xfrm>
        </p:spPr>
        <p:txBody>
          <a:bodyPr/>
          <a:p>
            <a:pPr algn="just"/>
            <a:r>
              <a:rPr lang="en-IN" sz="1800" dirty="0">
                <a:sym typeface="+mn-ea"/>
              </a:rPr>
              <a:t>Suppose we have a road as shown in picture at right side. We have to decide where to place the garbage can on the road. To determine that place, a survey is conducted and the following results are obtained.</a:t>
            </a:r>
            <a:endParaRPr lang="en-IN" sz="1800" dirty="0"/>
          </a:p>
          <a:p>
            <a:pPr lvl="1" algn="just">
              <a:buFont typeface="Arial" panose="020B0604020202020204" pitchFamily="34" charset="0"/>
              <a:buChar char="•"/>
            </a:pPr>
            <a:r>
              <a:rPr lang="en-IN" sz="1575" dirty="0">
                <a:sym typeface="+mn-ea"/>
              </a:rPr>
              <a:t>1.40 % of people said the garbage can </a:t>
            </a:r>
            <a:r>
              <a:rPr lang="en-IN" sz="1575" dirty="0" err="1">
                <a:sym typeface="+mn-ea"/>
              </a:rPr>
              <a:t>can</a:t>
            </a:r>
            <a:r>
              <a:rPr lang="en-IN" sz="1575" dirty="0">
                <a:sym typeface="+mn-ea"/>
              </a:rPr>
              <a:t> be placed at 25</a:t>
            </a:r>
            <a:r>
              <a:rPr lang="en-IN" sz="1575" baseline="30000" dirty="0">
                <a:sym typeface="+mn-ea"/>
              </a:rPr>
              <a:t>th</a:t>
            </a:r>
            <a:r>
              <a:rPr lang="en-IN" sz="1575" dirty="0">
                <a:sym typeface="+mn-ea"/>
              </a:rPr>
              <a:t> meter.</a:t>
            </a:r>
            <a:endParaRPr lang="en-IN" sz="1575" dirty="0"/>
          </a:p>
          <a:p>
            <a:pPr lvl="1" algn="just">
              <a:buFont typeface="Arial" panose="020B0604020202020204" pitchFamily="34" charset="0"/>
              <a:buChar char="•"/>
            </a:pPr>
            <a:r>
              <a:rPr lang="en-IN" sz="1575" dirty="0">
                <a:sym typeface="+mn-ea"/>
              </a:rPr>
              <a:t>2.45 % of people said the garbage can </a:t>
            </a:r>
            <a:r>
              <a:rPr lang="en-IN" sz="1575" dirty="0" err="1">
                <a:sym typeface="+mn-ea"/>
              </a:rPr>
              <a:t>can</a:t>
            </a:r>
            <a:r>
              <a:rPr lang="en-IN" sz="1575" dirty="0">
                <a:sym typeface="+mn-ea"/>
              </a:rPr>
              <a:t> be placed at 75</a:t>
            </a:r>
            <a:r>
              <a:rPr lang="en-IN" sz="1575" baseline="30000" dirty="0">
                <a:sym typeface="+mn-ea"/>
              </a:rPr>
              <a:t>th</a:t>
            </a:r>
            <a:r>
              <a:rPr lang="en-IN" sz="1575" dirty="0">
                <a:sym typeface="+mn-ea"/>
              </a:rPr>
              <a:t> meter.</a:t>
            </a:r>
            <a:endParaRPr lang="en-IN" sz="1575" dirty="0"/>
          </a:p>
          <a:p>
            <a:pPr lvl="1" algn="just">
              <a:buFont typeface="Arial" panose="020B0604020202020204" pitchFamily="34" charset="0"/>
              <a:buChar char="•"/>
            </a:pPr>
            <a:r>
              <a:rPr lang="en-IN" sz="1575" dirty="0">
                <a:sym typeface="+mn-ea"/>
              </a:rPr>
              <a:t>3. 15% of people said the garbage can </a:t>
            </a:r>
            <a:r>
              <a:rPr lang="en-IN" sz="1575" dirty="0" err="1">
                <a:sym typeface="+mn-ea"/>
              </a:rPr>
              <a:t>can</a:t>
            </a:r>
            <a:r>
              <a:rPr lang="en-IN" sz="1575" dirty="0">
                <a:sym typeface="+mn-ea"/>
              </a:rPr>
              <a:t> be placed anywhere between 0-100.</a:t>
            </a:r>
            <a:endParaRPr lang="en-GB" sz="1575" dirty="0"/>
          </a:p>
          <a:p>
            <a:pPr algn="just"/>
            <a:endParaRPr lang="en-US" sz="1800"/>
          </a:p>
          <a:p>
            <a:pPr algn="just"/>
            <a:endParaRPr lang="en-US" sz="1800"/>
          </a:p>
          <a:p>
            <a:pPr algn="just"/>
            <a:endParaRPr lang="en-US" sz="1800"/>
          </a:p>
          <a:p>
            <a:pPr algn="just"/>
            <a:endParaRPr lang="en-US" sz="1800"/>
          </a:p>
          <a:p>
            <a:pPr algn="just"/>
            <a:endParaRPr lang="en-US" sz="1800"/>
          </a:p>
          <a:p>
            <a:pPr algn="just"/>
            <a:endParaRPr lang="en-US" sz="1800"/>
          </a:p>
          <a:p>
            <a:pPr algn="just"/>
            <a:endParaRPr lang="en-US" sz="1800"/>
          </a:p>
          <a:p>
            <a:pPr marL="342900" indent="-342900">
              <a:buFont typeface="Arial" panose="020B0604020202020204" pitchFamily="34" charset="0"/>
              <a:buChar char="•"/>
            </a:pPr>
            <a:r>
              <a:rPr lang="en-IN" sz="1800" dirty="0">
                <a:sym typeface="+mn-ea"/>
              </a:rPr>
              <a:t>In this case if we calculate the mean and median, it will give an central value, which no one preferred. </a:t>
            </a:r>
            <a:endParaRPr lang="en-IN" sz="1800" dirty="0"/>
          </a:p>
          <a:p>
            <a:pPr marL="342900" indent="-342900">
              <a:buFont typeface="Arial" panose="020B0604020202020204" pitchFamily="34" charset="0"/>
              <a:buChar char="•"/>
            </a:pPr>
            <a:r>
              <a:rPr lang="en-IN" sz="1800" dirty="0">
                <a:sym typeface="+mn-ea"/>
              </a:rPr>
              <a:t>Thus mean and median do not appear more interesting to us. Whereas the Mode will give the value which is preferred by most of the people.</a:t>
            </a:r>
            <a:endParaRPr lang="en-IN" sz="1800" dirty="0"/>
          </a:p>
          <a:p>
            <a:pPr marL="342900" indent="-342900">
              <a:buFont typeface="Arial" panose="020B0604020202020204" pitchFamily="34" charset="0"/>
              <a:buChar char="•"/>
            </a:pPr>
            <a:r>
              <a:rPr lang="en-IN" sz="1800" dirty="0">
                <a:sym typeface="+mn-ea"/>
              </a:rPr>
              <a:t>Thus in this type of scenario Mode is useful.</a:t>
            </a:r>
            <a:endParaRPr lang="en-US" sz="1800"/>
          </a:p>
          <a:p>
            <a:pPr algn="just"/>
            <a:endParaRPr lang="en-US" sz="1800"/>
          </a:p>
          <a:p>
            <a:pPr algn="just"/>
            <a:endParaRPr lang="en-US" sz="1800"/>
          </a:p>
          <a:p>
            <a:pPr algn="just"/>
            <a:endParaRPr lang="en-US" sz="1800"/>
          </a:p>
          <a:p>
            <a:pPr algn="just"/>
            <a:endParaRPr lang="en-US" sz="180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57755" y="3034030"/>
            <a:ext cx="6261100" cy="16313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noChangeArrowheads="1"/>
          </p:cNvSpPr>
          <p:nvPr>
            <p:ph type="ctrTitle"/>
          </p:nvPr>
        </p:nvSpPr>
        <p:spPr>
          <a:xfrm>
            <a:off x="624417" y="1691005"/>
            <a:ext cx="10943167" cy="1082675"/>
          </a:xfrm>
        </p:spPr>
        <p:txBody>
          <a:bodyPr/>
          <a:p>
            <a:r>
              <a:rPr lang="en-US" sz="5000" b="1" dirty="0">
                <a:solidFill>
                  <a:srgbClr val="FF0000"/>
                </a:solidFill>
                <a:sym typeface="+mn-ea"/>
              </a:rPr>
              <a:t>Measures of Dispersion</a:t>
            </a:r>
            <a:endParaRPr lang="en-US" sz="5000" b="1" dirty="0">
              <a:solidFill>
                <a:srgbClr val="FF0000"/>
              </a:solidFill>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Measure of Dispersion</a:t>
            </a:r>
            <a:endParaRPr lang="en-US" b="1" dirty="0">
              <a:solidFill>
                <a:schemeClr val="accent6"/>
              </a:solidFill>
              <a:sym typeface="+mn-ea"/>
            </a:endParaRPr>
          </a:p>
        </p:txBody>
      </p:sp>
      <p:sp>
        <p:nvSpPr>
          <p:cNvPr id="3" name="Content Placeholder 2"/>
          <p:cNvSpPr>
            <a:spLocks noGrp="1"/>
          </p:cNvSpPr>
          <p:nvPr>
            <p:ph idx="1"/>
          </p:nvPr>
        </p:nvSpPr>
        <p:spPr/>
        <p:txBody>
          <a:bodyPr/>
          <a:p>
            <a:pPr marL="285750" indent="-285750">
              <a:buFont typeface="Arial" panose="020B0604020202020204" pitchFamily="34" charset="0"/>
              <a:buChar char="•"/>
            </a:pPr>
            <a:r>
              <a:rPr lang="en-US" sz="1800" dirty="0">
                <a:sym typeface="+mn-ea"/>
              </a:rPr>
              <a:t>The measure of dispersion shows the scatterings of the data. </a:t>
            </a:r>
            <a:endParaRPr lang="en-US" sz="1800" dirty="0"/>
          </a:p>
          <a:p>
            <a:pPr marL="285750" indent="-285750">
              <a:buFont typeface="Arial" panose="020B0604020202020204" pitchFamily="34" charset="0"/>
              <a:buChar char="•"/>
            </a:pPr>
            <a:r>
              <a:rPr lang="en-US" sz="1800" dirty="0">
                <a:sym typeface="+mn-ea"/>
              </a:rPr>
              <a:t>It tells the variation of the data from one another and gives a clear idea about the distribution of the data. </a:t>
            </a:r>
            <a:endParaRPr lang="en-US" sz="1800" dirty="0"/>
          </a:p>
          <a:p>
            <a:pPr marL="285750" indent="-285750">
              <a:buFont typeface="Arial" panose="020B0604020202020204" pitchFamily="34" charset="0"/>
              <a:buChar char="•"/>
            </a:pPr>
            <a:r>
              <a:rPr lang="en-US" sz="1800" dirty="0">
                <a:sym typeface="+mn-ea"/>
              </a:rPr>
              <a:t>The measure of dispersion shows the homogeneity or the heterogeneity of the distribution of the observations.</a:t>
            </a:r>
            <a:endParaRPr lang="en-US" sz="1800" dirty="0"/>
          </a:p>
          <a:p>
            <a:endParaRPr lang="en-US" sz="1800"/>
          </a:p>
        </p:txBody>
      </p:sp>
      <p:pic>
        <p:nvPicPr>
          <p:cNvPr id="1029" name="Picture 5" descr="https://upload.wikimedia.org/wikipedia/commons/thumb/f/f9/Comparison_standard_deviations.svg/800px-Comparison_standard_deviations.svg.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89835" y="3079115"/>
            <a:ext cx="6236677" cy="2895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Range</a:t>
            </a:r>
            <a:endParaRPr lang="en-US" b="1" dirty="0">
              <a:solidFill>
                <a:schemeClr val="accent6"/>
              </a:solidFill>
              <a:sym typeface="+mn-ea"/>
            </a:endParaRPr>
          </a:p>
        </p:txBody>
      </p:sp>
      <p:sp>
        <p:nvSpPr>
          <p:cNvPr id="3" name="Content Placeholder 2"/>
          <p:cNvSpPr>
            <a:spLocks noGrp="1"/>
          </p:cNvSpPr>
          <p:nvPr>
            <p:ph idx="1"/>
          </p:nvPr>
        </p:nvSpPr>
        <p:spPr/>
        <p:txBody>
          <a:bodyPr/>
          <a:p>
            <a:pPr marL="285750" indent="-285750">
              <a:buFont typeface="Arial" panose="020B0604020202020204" pitchFamily="34" charset="0"/>
              <a:buChar char="•"/>
            </a:pPr>
            <a:r>
              <a:rPr lang="en-US" sz="1800" dirty="0">
                <a:sym typeface="+mn-ea"/>
              </a:rPr>
              <a:t>A range is the most common and easily understandable measure of dispersion. </a:t>
            </a:r>
            <a:endParaRPr lang="en-US" sz="1800" dirty="0"/>
          </a:p>
          <a:p>
            <a:pPr marL="285750" indent="-285750">
              <a:buFont typeface="Arial" panose="020B0604020202020204" pitchFamily="34" charset="0"/>
              <a:buChar char="•"/>
            </a:pPr>
            <a:r>
              <a:rPr lang="en-US" sz="1800" dirty="0">
                <a:sym typeface="+mn-ea"/>
              </a:rPr>
              <a:t>It is the difference between two extreme observations of the data set.</a:t>
            </a:r>
            <a:endParaRPr lang="en-US" sz="1800" dirty="0"/>
          </a:p>
          <a:p>
            <a:pPr marL="285750" indent="-285750">
              <a:buFont typeface="Arial" panose="020B0604020202020204" pitchFamily="34" charset="0"/>
              <a:buChar char="•"/>
            </a:pPr>
            <a:r>
              <a:rPr lang="en-US" sz="1800" dirty="0">
                <a:sym typeface="+mn-ea"/>
              </a:rPr>
              <a:t> If </a:t>
            </a:r>
            <a:r>
              <a:rPr lang="en-US" sz="1800" dirty="0" err="1">
                <a:sym typeface="+mn-ea"/>
              </a:rPr>
              <a:t>X</a:t>
            </a:r>
            <a:r>
              <a:rPr lang="en-US" sz="1800" baseline="-25000" dirty="0" err="1">
                <a:sym typeface="+mn-ea"/>
              </a:rPr>
              <a:t>max</a:t>
            </a:r>
            <a:r>
              <a:rPr lang="en-US" sz="1800" baseline="-25000" dirty="0">
                <a:sym typeface="+mn-ea"/>
              </a:rPr>
              <a:t>  </a:t>
            </a:r>
            <a:r>
              <a:rPr lang="en-US" sz="1800" dirty="0">
                <a:sym typeface="+mn-ea"/>
              </a:rPr>
              <a:t>and </a:t>
            </a:r>
            <a:r>
              <a:rPr lang="en-US" sz="1800" dirty="0" err="1">
                <a:sym typeface="+mn-ea"/>
              </a:rPr>
              <a:t>X</a:t>
            </a:r>
            <a:r>
              <a:rPr lang="en-US" sz="1800" baseline="-25000" dirty="0" err="1">
                <a:sym typeface="+mn-ea"/>
              </a:rPr>
              <a:t>min</a:t>
            </a:r>
            <a:r>
              <a:rPr lang="en-US" sz="1800" dirty="0">
                <a:sym typeface="+mn-ea"/>
              </a:rPr>
              <a:t> are the two extreme observations then</a:t>
            </a:r>
            <a:endParaRPr lang="en-US" sz="1800" dirty="0"/>
          </a:p>
          <a:p>
            <a:pPr lvl="8" indent="0">
              <a:buNone/>
            </a:pPr>
            <a:r>
              <a:rPr lang="fr-FR" sz="1800" dirty="0">
                <a:sym typeface="+mn-ea"/>
              </a:rPr>
              <a:t>          Range = X </a:t>
            </a:r>
            <a:r>
              <a:rPr lang="fr-FR" sz="1800" baseline="-25000" dirty="0">
                <a:sym typeface="+mn-ea"/>
              </a:rPr>
              <a:t>max</a:t>
            </a:r>
            <a:r>
              <a:rPr lang="fr-FR" sz="1800" dirty="0">
                <a:sym typeface="+mn-ea"/>
              </a:rPr>
              <a:t> – X </a:t>
            </a:r>
            <a:r>
              <a:rPr lang="fr-FR" sz="1800" baseline="-25000" dirty="0">
                <a:sym typeface="+mn-ea"/>
              </a:rPr>
              <a:t>min</a:t>
            </a:r>
            <a:endParaRPr lang="en-US" sz="1800" baseline="-25000" dirty="0"/>
          </a:p>
          <a:p>
            <a:endParaRPr lang="fr-FR" sz="1800" baseline="-25000" dirty="0"/>
          </a:p>
          <a:p>
            <a:endParaRPr lang="en-US" sz="1800"/>
          </a:p>
          <a:p>
            <a:pPr marL="0" indent="0">
              <a:buNone/>
            </a:pPr>
            <a:r>
              <a:rPr lang="en-US" sz="1800" b="1" dirty="0">
                <a:sym typeface="+mn-ea"/>
              </a:rPr>
              <a:t>Merits of Range</a:t>
            </a:r>
            <a:endParaRPr lang="en-US" sz="1800" b="1" dirty="0"/>
          </a:p>
          <a:p>
            <a:pPr marL="342900" indent="-342900">
              <a:buFont typeface="Arial" panose="020B0604020202020204" pitchFamily="34" charset="0"/>
              <a:buChar char="•"/>
            </a:pPr>
            <a:r>
              <a:rPr lang="en-US" sz="1800" dirty="0">
                <a:sym typeface="+mn-ea"/>
              </a:rPr>
              <a:t>It is the simplest of the measure of dispersion</a:t>
            </a:r>
            <a:endParaRPr lang="en-US" sz="1800" dirty="0"/>
          </a:p>
          <a:p>
            <a:pPr marL="342900" indent="-342900">
              <a:buFont typeface="Arial" panose="020B0604020202020204" pitchFamily="34" charset="0"/>
              <a:buChar char="•"/>
            </a:pPr>
            <a:r>
              <a:rPr lang="en-US" sz="1800" dirty="0">
                <a:sym typeface="+mn-ea"/>
              </a:rPr>
              <a:t>Easy to calculate</a:t>
            </a:r>
            <a:endParaRPr lang="en-US" sz="1800" dirty="0"/>
          </a:p>
          <a:p>
            <a:pPr marL="342900" indent="-342900">
              <a:buFont typeface="Arial" panose="020B0604020202020204" pitchFamily="34" charset="0"/>
              <a:buChar char="•"/>
            </a:pPr>
            <a:r>
              <a:rPr lang="en-US" sz="1800" dirty="0">
                <a:sym typeface="+mn-ea"/>
              </a:rPr>
              <a:t>Easy to understand</a:t>
            </a:r>
            <a:endParaRPr lang="en-US" sz="1800" dirty="0"/>
          </a:p>
          <a:p>
            <a:pPr marL="342900" indent="-342900">
              <a:buFont typeface="Arial" panose="020B0604020202020204" pitchFamily="34" charset="0"/>
              <a:buChar char="•"/>
            </a:pPr>
            <a:r>
              <a:rPr lang="en-US" sz="1800" dirty="0">
                <a:sym typeface="+mn-ea"/>
              </a:rPr>
              <a:t>Independent of change of origin</a:t>
            </a:r>
            <a:endParaRPr lang="en-US" sz="1800"/>
          </a:p>
        </p:txBody>
      </p:sp>
      <p:sp>
        <p:nvSpPr>
          <p:cNvPr id="4" name="Text Box 3"/>
          <p:cNvSpPr txBox="1"/>
          <p:nvPr/>
        </p:nvSpPr>
        <p:spPr>
          <a:xfrm>
            <a:off x="6209665" y="3015615"/>
            <a:ext cx="3962400" cy="2030095"/>
          </a:xfrm>
          <a:prstGeom prst="rect">
            <a:avLst/>
          </a:prstGeom>
          <a:noFill/>
        </p:spPr>
        <p:txBody>
          <a:bodyPr wrap="square" rtlCol="0">
            <a:spAutoFit/>
          </a:bodyPr>
          <a:p>
            <a:r>
              <a:rPr lang="en-US" b="1" dirty="0">
                <a:sym typeface="+mn-ea"/>
              </a:rPr>
              <a:t>Demerits of Range</a:t>
            </a:r>
            <a:endParaRPr lang="en-US" b="1" dirty="0"/>
          </a:p>
          <a:p>
            <a:pPr marL="342900" indent="-342900">
              <a:buFont typeface="Arial" panose="020B0604020202020204" pitchFamily="34" charset="0"/>
              <a:buChar char="•"/>
            </a:pPr>
            <a:r>
              <a:rPr lang="en-US" dirty="0">
                <a:sym typeface="+mn-ea"/>
              </a:rPr>
              <a:t>It is based on two extreme observations. Hence, get affected by fluctuations</a:t>
            </a:r>
            <a:endParaRPr lang="en-US" dirty="0"/>
          </a:p>
          <a:p>
            <a:pPr marL="342900" indent="-342900">
              <a:buFont typeface="Arial" panose="020B0604020202020204" pitchFamily="34" charset="0"/>
              <a:buChar char="•"/>
            </a:pPr>
            <a:r>
              <a:rPr lang="en-US" dirty="0">
                <a:sym typeface="+mn-ea"/>
              </a:rPr>
              <a:t>A range is not a reliable measure of dispersion</a:t>
            </a:r>
            <a:endParaRPr lang="en-US" dirty="0"/>
          </a:p>
          <a:p>
            <a:pPr marL="342900" indent="-342900">
              <a:buFont typeface="Arial" panose="020B0604020202020204" pitchFamily="34" charset="0"/>
              <a:buChar char="•"/>
            </a:pPr>
            <a:r>
              <a:rPr lang="en-US" dirty="0">
                <a:sym typeface="+mn-ea"/>
              </a:rPr>
              <a:t>Dependent on change of scale</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Variance</a:t>
            </a:r>
            <a:endParaRPr lang="en-US" b="1" dirty="0">
              <a:solidFill>
                <a:schemeClr val="accent6"/>
              </a:solidFill>
              <a:sym typeface="+mn-ea"/>
            </a:endParaRPr>
          </a:p>
        </p:txBody>
      </p:sp>
      <p:sp>
        <p:nvSpPr>
          <p:cNvPr id="3" name="Content Placeholder 2"/>
          <p:cNvSpPr>
            <a:spLocks noGrp="1"/>
          </p:cNvSpPr>
          <p:nvPr>
            <p:ph idx="1"/>
          </p:nvPr>
        </p:nvSpPr>
        <p:spPr/>
        <p:txBody>
          <a:bodyPr/>
          <a:p>
            <a:pPr marL="285750" indent="-285750">
              <a:buFont typeface="Arial" panose="020B0604020202020204" pitchFamily="34" charset="0"/>
              <a:buChar char="•"/>
            </a:pPr>
            <a:r>
              <a:rPr lang="en-US" sz="1800" dirty="0">
                <a:sym typeface="+mn-ea"/>
              </a:rPr>
              <a:t>The Variance is a measure of how spread out numbers are.</a:t>
            </a:r>
            <a:endParaRPr lang="en-US" sz="1800" dirty="0"/>
          </a:p>
          <a:p>
            <a:pPr marL="285750" indent="-285750">
              <a:buFont typeface="Arial" panose="020B0604020202020204" pitchFamily="34" charset="0"/>
              <a:buChar char="•"/>
            </a:pPr>
            <a:r>
              <a:rPr lang="en-US" sz="1800" dirty="0">
                <a:sym typeface="+mn-ea"/>
              </a:rPr>
              <a:t>The average of the </a:t>
            </a:r>
            <a:r>
              <a:rPr lang="en-US" sz="1800" b="1" dirty="0">
                <a:sym typeface="+mn-ea"/>
              </a:rPr>
              <a:t>squared</a:t>
            </a:r>
            <a:r>
              <a:rPr lang="en-US" sz="1800" dirty="0">
                <a:sym typeface="+mn-ea"/>
              </a:rPr>
              <a:t> differences from the Mean.</a:t>
            </a:r>
            <a:endParaRPr lang="en-US" sz="1800" dirty="0"/>
          </a:p>
          <a:p>
            <a:pPr marL="285750" indent="-285750">
              <a:buFont typeface="Arial" panose="020B0604020202020204" pitchFamily="34" charset="0"/>
              <a:buChar char="•"/>
            </a:pPr>
            <a:r>
              <a:rPr lang="en-US" sz="1800" dirty="0">
                <a:sym typeface="+mn-ea"/>
              </a:rPr>
              <a:t>Variance is denoted by the Greek letter sigma(</a:t>
            </a:r>
            <a:r>
              <a:rPr lang="el-GR" sz="1800" dirty="0">
                <a:sym typeface="+mn-ea"/>
              </a:rPr>
              <a:t>σ2</a:t>
            </a:r>
            <a:r>
              <a:rPr lang="en-US" sz="1800" dirty="0">
                <a:sym typeface="+mn-ea"/>
              </a:rPr>
              <a:t>)</a:t>
            </a:r>
            <a:endParaRPr lang="en-US" sz="1800" dirty="0"/>
          </a:p>
          <a:p>
            <a:endParaRPr lang="en-US" sz="1800"/>
          </a:p>
          <a:p>
            <a:endParaRPr lang="en-US" sz="1800"/>
          </a:p>
          <a:p>
            <a:endParaRPr lang="en-US" sz="1800"/>
          </a:p>
          <a:p>
            <a:endParaRPr lang="en-US" sz="1800"/>
          </a:p>
          <a:p>
            <a:endParaRPr lang="en-US" sz="1800"/>
          </a:p>
          <a:p>
            <a:pPr marL="0" lvl="0" indent="0" algn="just" defTabSz="914400" eaLnBrk="0" fontAlgn="base" hangingPunct="0">
              <a:spcBef>
                <a:spcPct val="0"/>
              </a:spcBef>
              <a:spcAft>
                <a:spcPct val="0"/>
              </a:spcAft>
              <a:buNone/>
            </a:pPr>
            <a:r>
              <a:rPr lang="en-US" altLang="en-US" sz="1800" dirty="0">
                <a:solidFill>
                  <a:srgbClr val="000000"/>
                </a:solidFill>
                <a:cs typeface="Arial" panose="020B0604020202020204" pitchFamily="34" charset="0"/>
                <a:sym typeface="+mn-ea"/>
              </a:rPr>
              <a:t>Where,</a:t>
            </a:r>
            <a:endParaRPr lang="en-US" altLang="en-US" sz="1800" dirty="0">
              <a:latin typeface="+mn-lt"/>
            </a:endParaRPr>
          </a:p>
          <a:p>
            <a:pPr marL="0" lvl="0" indent="0" algn="just" defTabSz="914400" eaLnBrk="0" fontAlgn="base" hangingPunct="0">
              <a:spcBef>
                <a:spcPct val="0"/>
              </a:spcBef>
              <a:spcAft>
                <a:spcPct val="0"/>
              </a:spcAft>
              <a:buNone/>
            </a:pPr>
            <a:r>
              <a:rPr lang="en-US" altLang="en-US" sz="1800" dirty="0">
                <a:solidFill>
                  <a:srgbClr val="000000"/>
                </a:solidFill>
                <a:ea typeface="MathJax_Math-italic"/>
                <a:cs typeface="Arial" panose="020B0604020202020204" pitchFamily="34" charset="0"/>
                <a:sym typeface="+mn-ea"/>
              </a:rPr>
              <a:t>σ</a:t>
            </a:r>
            <a:r>
              <a:rPr lang="en-US" altLang="en-US" sz="1800" dirty="0">
                <a:solidFill>
                  <a:srgbClr val="000000"/>
                </a:solidFill>
                <a:ea typeface="MathJax_Main"/>
                <a:cs typeface="Arial" panose="020B0604020202020204" pitchFamily="34" charset="0"/>
                <a:sym typeface="+mn-ea"/>
              </a:rPr>
              <a:t>2</a:t>
            </a:r>
            <a:r>
              <a:rPr lang="en-US" altLang="en-US" sz="1800" dirty="0">
                <a:solidFill>
                  <a:srgbClr val="000000"/>
                </a:solidFill>
                <a:cs typeface="Arial" panose="020B0604020202020204" pitchFamily="34" charset="0"/>
                <a:sym typeface="+mn-ea"/>
              </a:rPr>
              <a:t> = Variance</a:t>
            </a:r>
            <a:endParaRPr lang="en-US" altLang="en-US" sz="1800" dirty="0">
              <a:latin typeface="+mn-lt"/>
            </a:endParaRPr>
          </a:p>
          <a:p>
            <a:pPr marL="0" lvl="0" indent="0" algn="just" defTabSz="914400" eaLnBrk="0" fontAlgn="base" hangingPunct="0">
              <a:spcBef>
                <a:spcPct val="0"/>
              </a:spcBef>
              <a:spcAft>
                <a:spcPct val="0"/>
              </a:spcAft>
              <a:buNone/>
            </a:pPr>
            <a:r>
              <a:rPr lang="en-US" altLang="en-US" sz="1800" dirty="0">
                <a:solidFill>
                  <a:srgbClr val="000000"/>
                </a:solidFill>
                <a:ea typeface="MathJax_Math-italic"/>
                <a:cs typeface="Arial" panose="020B0604020202020204" pitchFamily="34" charset="0"/>
                <a:sym typeface="+mn-ea"/>
              </a:rPr>
              <a:t>x</a:t>
            </a:r>
            <a:r>
              <a:rPr lang="en-US" altLang="en-US" sz="1800" dirty="0">
                <a:solidFill>
                  <a:srgbClr val="000000"/>
                </a:solidFill>
                <a:cs typeface="Arial" panose="020B0604020202020204" pitchFamily="34" charset="0"/>
                <a:sym typeface="+mn-ea"/>
              </a:rPr>
              <a:t> = Item given in the data</a:t>
            </a:r>
            <a:endParaRPr lang="en-US" altLang="en-US" sz="1800" dirty="0">
              <a:latin typeface="+mn-lt"/>
            </a:endParaRPr>
          </a:p>
          <a:p>
            <a:pPr marL="0" lvl="0" indent="0" algn="just" defTabSz="914400" eaLnBrk="0" fontAlgn="base" hangingPunct="0">
              <a:spcBef>
                <a:spcPct val="0"/>
              </a:spcBef>
              <a:spcAft>
                <a:spcPct val="0"/>
              </a:spcAft>
              <a:buNone/>
            </a:pPr>
            <a:r>
              <a:rPr lang="en-US" sz="1800" dirty="0">
                <a:solidFill>
                  <a:srgbClr val="222222"/>
                </a:solidFill>
                <a:latin typeface="Arial" panose="020B0604020202020204" pitchFamily="34" charset="0"/>
                <a:sym typeface="+mn-ea"/>
              </a:rPr>
              <a:t>x̅</a:t>
            </a:r>
            <a:r>
              <a:rPr lang="en-US" altLang="en-US" sz="1800" dirty="0">
                <a:solidFill>
                  <a:srgbClr val="000000"/>
                </a:solidFill>
                <a:cs typeface="Arial" panose="020B0604020202020204" pitchFamily="34" charset="0"/>
                <a:sym typeface="+mn-ea"/>
              </a:rPr>
              <a:t> = Mean of the data</a:t>
            </a:r>
            <a:endParaRPr lang="en-US" altLang="en-US" sz="1800" dirty="0">
              <a:latin typeface="+mn-lt"/>
            </a:endParaRPr>
          </a:p>
          <a:p>
            <a:pPr marL="0" lvl="0" indent="0" algn="just" defTabSz="914400" eaLnBrk="0" fontAlgn="base" hangingPunct="0">
              <a:spcBef>
                <a:spcPct val="0"/>
              </a:spcBef>
              <a:spcAft>
                <a:spcPct val="0"/>
              </a:spcAft>
              <a:buNone/>
            </a:pPr>
            <a:r>
              <a:rPr lang="en-US" altLang="en-US" sz="1800" dirty="0">
                <a:solidFill>
                  <a:srgbClr val="000000"/>
                </a:solidFill>
                <a:ea typeface="MathJax_Math-italic"/>
                <a:cs typeface="Arial" panose="020B0604020202020204" pitchFamily="34" charset="0"/>
                <a:sym typeface="+mn-ea"/>
              </a:rPr>
              <a:t>n</a:t>
            </a:r>
            <a:r>
              <a:rPr lang="en-US" altLang="en-US" sz="1800" dirty="0">
                <a:solidFill>
                  <a:srgbClr val="000000"/>
                </a:solidFill>
                <a:cs typeface="Arial" panose="020B0604020202020204" pitchFamily="34" charset="0"/>
                <a:sym typeface="+mn-ea"/>
              </a:rPr>
              <a:t> = Total number of items.</a:t>
            </a:r>
            <a:endParaRPr lang="en-US" altLang="en-US" sz="1800" dirty="0">
              <a:latin typeface="+mn-lt"/>
            </a:endParaRPr>
          </a:p>
          <a:p>
            <a:pPr marL="0" indent="0">
              <a:buNone/>
            </a:pPr>
            <a:endParaRPr lang="en-US" sz="1800"/>
          </a:p>
        </p:txBody>
      </p:sp>
      <p:pic>
        <p:nvPicPr>
          <p:cNvPr id="2050" name="Picture 2" descr="Population Variance Formul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67480" y="2435225"/>
            <a:ext cx="2669789" cy="8048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Standard Deviation</a:t>
            </a:r>
            <a:endParaRPr lang="en-US" b="1" dirty="0">
              <a:solidFill>
                <a:schemeClr val="accent6"/>
              </a:solidFill>
              <a:sym typeface="+mn-ea"/>
            </a:endParaRPr>
          </a:p>
        </p:txBody>
      </p:sp>
      <p:sp>
        <p:nvSpPr>
          <p:cNvPr id="3" name="Content Placeholder 2"/>
          <p:cNvSpPr>
            <a:spLocks noGrp="1"/>
          </p:cNvSpPr>
          <p:nvPr>
            <p:ph idx="1"/>
          </p:nvPr>
        </p:nvSpPr>
        <p:spPr/>
        <p:txBody>
          <a:bodyPr/>
          <a:p>
            <a:pPr marL="285750" lvl="0" indent="-285750" defTabSz="914400" eaLnBrk="0" fontAlgn="base" hangingPunct="0">
              <a:spcBef>
                <a:spcPct val="0"/>
              </a:spcBef>
              <a:spcAft>
                <a:spcPct val="0"/>
              </a:spcAft>
              <a:buFont typeface="Arial" panose="020B0604020202020204" pitchFamily="34" charset="0"/>
              <a:buChar char="•"/>
            </a:pPr>
            <a:r>
              <a:rPr lang="en-US" altLang="en-US" sz="1800" dirty="0">
                <a:solidFill>
                  <a:srgbClr val="333333"/>
                </a:solidFill>
                <a:sym typeface="+mn-ea"/>
              </a:rPr>
              <a:t>Deviation just means how far from the normal.</a:t>
            </a:r>
            <a:endParaRPr lang="en-US" altLang="en-US" sz="1800" dirty="0">
              <a:solidFill>
                <a:srgbClr val="333333"/>
              </a:solidFill>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sz="1800" b="1" dirty="0">
                <a:solidFill>
                  <a:srgbClr val="333333"/>
                </a:solidFill>
                <a:ea typeface="champ"/>
                <a:sym typeface="+mn-ea"/>
              </a:rPr>
              <a:t>Standard deviation</a:t>
            </a:r>
            <a:r>
              <a:rPr lang="en-US" altLang="en-US" sz="1800" dirty="0">
                <a:solidFill>
                  <a:srgbClr val="333333"/>
                </a:solidFill>
                <a:ea typeface="champ"/>
                <a:sym typeface="+mn-ea"/>
              </a:rPr>
              <a:t> is square root of the variance.</a:t>
            </a:r>
            <a:endParaRPr lang="en-US" altLang="en-US" sz="1800" b="1" dirty="0">
              <a:solidFill>
                <a:srgbClr val="FF0000"/>
              </a:solidFill>
              <a:ea typeface="champ"/>
            </a:endParaRPr>
          </a:p>
          <a:p>
            <a:pPr marL="285750" lvl="0" indent="-285750" defTabSz="914400" eaLnBrk="0" fontAlgn="base" hangingPunct="0">
              <a:spcBef>
                <a:spcPct val="0"/>
              </a:spcBef>
              <a:spcAft>
                <a:spcPct val="0"/>
              </a:spcAft>
              <a:buFont typeface="Arial" panose="020B0604020202020204" pitchFamily="34" charset="0"/>
              <a:buChar char="•"/>
            </a:pPr>
            <a:r>
              <a:rPr lang="en-US" sz="1800" dirty="0">
                <a:sym typeface="+mn-ea"/>
              </a:rPr>
              <a:t>The symbol for Standard Deviation is </a:t>
            </a:r>
            <a:r>
              <a:rPr lang="en-US" sz="1800" b="1" dirty="0">
                <a:sym typeface="+mn-ea"/>
              </a:rPr>
              <a:t>σ</a:t>
            </a:r>
            <a:r>
              <a:rPr lang="en-US" sz="1800" dirty="0">
                <a:sym typeface="+mn-ea"/>
              </a:rPr>
              <a:t> (the Greek letter sigma).</a:t>
            </a:r>
            <a:endParaRPr lang="en-US" altLang="en-US" sz="1800" dirty="0">
              <a:latin typeface="Arial" panose="020B0604020202020204" pitchFamily="34" charset="0"/>
            </a:endParaRPr>
          </a:p>
          <a:p>
            <a:endParaRPr lang="en-US" sz="1800"/>
          </a:p>
          <a:p>
            <a:endParaRPr lang="en-US" sz="1800"/>
          </a:p>
          <a:p>
            <a:endParaRPr lang="en-US" sz="1800"/>
          </a:p>
          <a:p>
            <a:endParaRPr lang="en-US" sz="1800"/>
          </a:p>
          <a:p>
            <a:endParaRPr lang="en-US" sz="1800"/>
          </a:p>
          <a:p>
            <a:pPr marL="0" indent="0">
              <a:buNone/>
            </a:pPr>
            <a:r>
              <a:rPr lang="en-US" sz="1800"/>
              <a:t>where</a:t>
            </a:r>
            <a:endParaRPr lang="en-US" sz="1800"/>
          </a:p>
          <a:p>
            <a:pPr marL="0" indent="0">
              <a:buNone/>
            </a:pPr>
            <a:r>
              <a:rPr lang="en-US" sz="1800" dirty="0">
                <a:latin typeface="Arial" panose="020B0604020202020204" pitchFamily="34" charset="0"/>
                <a:sym typeface="+mn-ea"/>
              </a:rPr>
              <a:t>µ= The mean of the xi </a:t>
            </a:r>
            <a:endParaRPr lang="en-US" sz="1800" dirty="0">
              <a:latin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sym typeface="+mn-ea"/>
              </a:rPr>
              <a:t>Xi= Each of the values of the data</a:t>
            </a: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sym typeface="+mn-ea"/>
              </a:rPr>
              <a:t>N= Number of data points</a:t>
            </a:r>
            <a:endParaRPr lang="en-US" sz="1800"/>
          </a:p>
        </p:txBody>
      </p:sp>
      <p:pic>
        <p:nvPicPr>
          <p:cNvPr id="1031" name="Picture 7" descr="square root of [ (1/N) times Sigma i=1 to N of (xi - mu)^2 ]"/>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97680" y="2359199"/>
            <a:ext cx="2438400" cy="9885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noChangeArrowheads="1"/>
          </p:cNvSpPr>
          <p:nvPr>
            <p:ph type="ctrTitle"/>
          </p:nvPr>
        </p:nvSpPr>
        <p:spPr>
          <a:xfrm>
            <a:off x="625052" y="1653540"/>
            <a:ext cx="10943167" cy="1082675"/>
          </a:xfrm>
        </p:spPr>
        <p:txBody>
          <a:bodyPr/>
          <a:p>
            <a:r>
              <a:rPr lang="en-US" sz="5000" b="1" dirty="0">
                <a:solidFill>
                  <a:srgbClr val="FF0000"/>
                </a:solidFill>
                <a:sym typeface="+mn-ea"/>
              </a:rPr>
              <a:t>Measures of Distributions</a:t>
            </a:r>
            <a:endParaRPr lang="en-US" sz="5000" b="1" dirty="0">
              <a:solidFill>
                <a:srgbClr val="FF0000"/>
              </a:solidFill>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Skewness</a:t>
            </a:r>
            <a:endParaRPr lang="en-US" b="1" dirty="0">
              <a:solidFill>
                <a:schemeClr val="accent6"/>
              </a:solidFill>
              <a:sym typeface="+mn-ea"/>
            </a:endParaRPr>
          </a:p>
        </p:txBody>
      </p:sp>
      <p:sp>
        <p:nvSpPr>
          <p:cNvPr id="3" name="Content Placeholder 2"/>
          <p:cNvSpPr>
            <a:spLocks noGrp="1"/>
          </p:cNvSpPr>
          <p:nvPr>
            <p:ph idx="1"/>
          </p:nvPr>
        </p:nvSpPr>
        <p:spPr/>
        <p:txBody>
          <a:bodyPr/>
          <a:p>
            <a:pPr marL="285750" indent="-285750">
              <a:buFont typeface="Arial" panose="020B0604020202020204" pitchFamily="34" charset="0"/>
              <a:buChar char="•"/>
            </a:pPr>
            <a:r>
              <a:rPr lang="en-US" sz="1800" b="1" dirty="0">
                <a:sym typeface="+mn-ea"/>
              </a:rPr>
              <a:t>Skewness in statistics</a:t>
            </a:r>
            <a:r>
              <a:rPr lang="en-US" sz="1800" dirty="0">
                <a:sym typeface="+mn-ea"/>
              </a:rPr>
              <a:t> represents an imbalance and asymmetry from the mean of a data distribution.</a:t>
            </a:r>
            <a:endParaRPr lang="en-US" sz="1800" dirty="0"/>
          </a:p>
          <a:p>
            <a:pPr marL="342900" indent="-342900">
              <a:buFont typeface="Arial" panose="020B0604020202020204" pitchFamily="34" charset="0"/>
              <a:buChar char="•"/>
            </a:pPr>
            <a:r>
              <a:rPr lang="en-US" sz="1800" dirty="0">
                <a:sym typeface="+mn-ea"/>
              </a:rPr>
              <a:t>In a symmetric bell curve, the mean, median, and mode are all the same value. But in a skewed distribution, the mean, median, and mode are all different values.</a:t>
            </a:r>
            <a:endParaRPr lang="en-US" sz="1800" dirty="0"/>
          </a:p>
          <a:p>
            <a:endParaRPr lang="en-US" sz="1800"/>
          </a:p>
        </p:txBody>
      </p:sp>
      <p:pic>
        <p:nvPicPr>
          <p:cNvPr id="2056" name="Picture 8" descr="Skewed distributio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6505" y="2461260"/>
            <a:ext cx="4857750" cy="2514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Right Skewed distribution</a:t>
            </a:r>
            <a:endParaRPr lang="en-US" b="1" dirty="0">
              <a:solidFill>
                <a:schemeClr val="accent6"/>
              </a:solidFill>
              <a:sym typeface="+mn-ea"/>
            </a:endParaRPr>
          </a:p>
        </p:txBody>
      </p:sp>
      <p:sp>
        <p:nvSpPr>
          <p:cNvPr id="3" name="Content Placeholder 2"/>
          <p:cNvSpPr>
            <a:spLocks noGrp="1"/>
          </p:cNvSpPr>
          <p:nvPr>
            <p:ph idx="1"/>
          </p:nvPr>
        </p:nvSpPr>
        <p:spPr/>
        <p:txBody>
          <a:bodyPr/>
          <a:p>
            <a:r>
              <a:rPr lang="en-US" sz="1800" dirty="0">
                <a:sym typeface="+mn-ea"/>
              </a:rPr>
              <a:t>A </a:t>
            </a:r>
            <a:r>
              <a:rPr lang="en-US" sz="1800" b="1" dirty="0">
                <a:sym typeface="+mn-ea"/>
              </a:rPr>
              <a:t>positively skewed distribution </a:t>
            </a:r>
            <a:r>
              <a:rPr lang="en-US" sz="1800" dirty="0">
                <a:sym typeface="+mn-ea"/>
              </a:rPr>
              <a:t>is one in which the tail of the distribution shifts towards the right, i.e., it has a tail on the positive direction of the curve.</a:t>
            </a:r>
            <a:endParaRPr lang="en-US" sz="1800" dirty="0"/>
          </a:p>
          <a:p>
            <a:r>
              <a:rPr lang="en-US" sz="1800" dirty="0">
                <a:sym typeface="+mn-ea"/>
              </a:rPr>
              <a:t>The reason for this skewness is that the mass of the distribution occurs on the left side of the positively skewed distribution curve. This means that most values of the distribution occur on the left side.</a:t>
            </a:r>
            <a:endParaRPr lang="en-US" sz="1800" dirty="0"/>
          </a:p>
          <a:p>
            <a:endParaRPr lang="en-US" sz="1800"/>
          </a:p>
        </p:txBody>
      </p:sp>
      <p:pic>
        <p:nvPicPr>
          <p:cNvPr id="4" name="Picture 3"/>
          <p:cNvPicPr/>
          <p:nvPr/>
        </p:nvPicPr>
        <p:blipFill rotWithShape="1">
          <a:blip r:embed="rId1">
            <a:extLst>
              <a:ext uri="{28A0092B-C50C-407E-A947-70E740481C1C}">
                <a14:useLocalDpi xmlns:a14="http://schemas.microsoft.com/office/drawing/2010/main" val="0"/>
              </a:ext>
            </a:extLst>
          </a:blip>
          <a:srcRect b="4500"/>
          <a:stretch>
            <a:fillRect/>
          </a:stretch>
        </p:blipFill>
        <p:spPr bwMode="auto">
          <a:xfrm>
            <a:off x="3017520" y="2631441"/>
            <a:ext cx="4876800" cy="367453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Left Skewed Distribution</a:t>
            </a:r>
            <a:endParaRPr lang="en-US" b="1" dirty="0">
              <a:solidFill>
                <a:schemeClr val="accent6"/>
              </a:solidFill>
              <a:sym typeface="+mn-ea"/>
            </a:endParaRPr>
          </a:p>
        </p:txBody>
      </p:sp>
      <p:sp>
        <p:nvSpPr>
          <p:cNvPr id="3" name="Content Placeholder 2"/>
          <p:cNvSpPr>
            <a:spLocks noGrp="1"/>
          </p:cNvSpPr>
          <p:nvPr>
            <p:ph idx="1"/>
          </p:nvPr>
        </p:nvSpPr>
        <p:spPr/>
        <p:txBody>
          <a:bodyPr/>
          <a:p>
            <a:r>
              <a:rPr lang="en-US" sz="1800" dirty="0">
                <a:sym typeface="+mn-ea"/>
              </a:rPr>
              <a:t>A left skewed distribution is sometimes called a negatively skewed distribution because it’s long tail is on the negative direction on a number line.</a:t>
            </a:r>
            <a:endParaRPr lang="en-US" sz="1800" dirty="0"/>
          </a:p>
          <a:p>
            <a:r>
              <a:rPr lang="en-US" sz="1800" dirty="0">
                <a:sym typeface="+mn-ea"/>
              </a:rPr>
              <a:t>In such a distribution, the left tail is the part where the extreme values occur, and these values are smaller in magnitude. Since the mean tends to shift towards the extreme values, it is smaller in magnitude. Both the mean and median are lower than the mode, and in most of such cases, the mean will also be lesser than the median.</a:t>
            </a:r>
            <a:endParaRPr lang="en-US" sz="1800" dirty="0"/>
          </a:p>
          <a:p>
            <a:endParaRPr lang="en-US" sz="1800"/>
          </a:p>
        </p:txBody>
      </p:sp>
      <p:pic>
        <p:nvPicPr>
          <p:cNvPr id="7" name="Picture 6"/>
          <p:cNvPicPr/>
          <p:nvPr/>
        </p:nvPicPr>
        <p:blipFill>
          <a:blip r:embed="rId1">
            <a:extLst>
              <a:ext uri="{28A0092B-C50C-407E-A947-70E740481C1C}">
                <a14:useLocalDpi xmlns:a14="http://schemas.microsoft.com/office/drawing/2010/main" val="0"/>
              </a:ext>
            </a:extLst>
          </a:blip>
          <a:srcRect/>
          <a:stretch>
            <a:fillRect/>
          </a:stretch>
        </p:blipFill>
        <p:spPr bwMode="auto">
          <a:xfrm>
            <a:off x="2809240" y="3048000"/>
            <a:ext cx="4762500" cy="339153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solidFill>
                  <a:schemeClr val="accent6"/>
                </a:solidFill>
                <a:sym typeface="+mn-ea"/>
              </a:rPr>
              <a:t>Kurtosis</a:t>
            </a:r>
            <a:endParaRPr lang="en-US" b="1" dirty="0">
              <a:solidFill>
                <a:schemeClr val="accent6"/>
              </a:solidFill>
              <a:sym typeface="+mn-ea"/>
            </a:endParaRPr>
          </a:p>
        </p:txBody>
      </p:sp>
      <p:sp>
        <p:nvSpPr>
          <p:cNvPr id="3" name="Content Placeholder 2"/>
          <p:cNvSpPr>
            <a:spLocks noGrp="1"/>
          </p:cNvSpPr>
          <p:nvPr>
            <p:ph idx="1"/>
          </p:nvPr>
        </p:nvSpPr>
        <p:spPr>
          <a:xfrm>
            <a:off x="609600" y="1018540"/>
            <a:ext cx="10972800" cy="5375275"/>
          </a:xfrm>
        </p:spPr>
        <p:txBody>
          <a:bodyPr/>
          <a:p>
            <a:pPr marL="342900" indent="-342900">
              <a:buFont typeface="Arial" panose="020B0604020202020204" pitchFamily="34" charset="0"/>
              <a:buChar char="•"/>
            </a:pPr>
            <a:r>
              <a:rPr lang="en-US" sz="1800" dirty="0">
                <a:sym typeface="+mn-ea"/>
              </a:rPr>
              <a:t>Kurtosis refers to a measure of the degree to which a given distribution is more or less ‘peaked’, relative to the normal distribution. </a:t>
            </a:r>
            <a:endParaRPr lang="en-US" sz="1800" dirty="0"/>
          </a:p>
          <a:p>
            <a:pPr marL="342900" indent="-342900">
              <a:buFont typeface="Arial" panose="020B0604020202020204" pitchFamily="34" charset="0"/>
              <a:buChar char="•"/>
            </a:pPr>
            <a:r>
              <a:rPr lang="en-US" sz="1800" dirty="0">
                <a:sym typeface="+mn-ea"/>
              </a:rPr>
              <a:t>In this regard, we have 3 categories of distributions:</a:t>
            </a:r>
            <a:endParaRPr lang="en-US" sz="1800" dirty="0"/>
          </a:p>
          <a:p>
            <a:pPr lvl="1">
              <a:buFont typeface="Arial" panose="020B0604020202020204" pitchFamily="34" charset="0"/>
              <a:buChar char="•"/>
            </a:pPr>
            <a:r>
              <a:rPr lang="en-US" sz="1800" dirty="0">
                <a:sym typeface="+mn-ea"/>
              </a:rPr>
              <a:t>Leptokurtic</a:t>
            </a:r>
            <a:endParaRPr lang="en-US" sz="1800" dirty="0"/>
          </a:p>
          <a:p>
            <a:pPr lvl="1">
              <a:buFont typeface="Arial" panose="020B0604020202020204" pitchFamily="34" charset="0"/>
              <a:buChar char="•"/>
            </a:pPr>
            <a:r>
              <a:rPr lang="en-US" sz="1800" dirty="0">
                <a:sym typeface="+mn-ea"/>
              </a:rPr>
              <a:t>Mesokurtic</a:t>
            </a:r>
            <a:endParaRPr lang="en-US" sz="1800" dirty="0"/>
          </a:p>
          <a:p>
            <a:pPr lvl="1">
              <a:buFont typeface="Arial" panose="020B0604020202020204" pitchFamily="34" charset="0"/>
              <a:buChar char="•"/>
            </a:pPr>
            <a:r>
              <a:rPr lang="en-US" sz="1800" dirty="0">
                <a:sym typeface="+mn-ea"/>
              </a:rPr>
              <a:t>Platykurtic</a:t>
            </a:r>
            <a:endParaRPr lang="en-US" sz="1800" dirty="0"/>
          </a:p>
          <a:p>
            <a:pPr>
              <a:buNone/>
            </a:pPr>
            <a:endParaRPr lang="en-US" sz="1800" dirty="0"/>
          </a:p>
          <a:p>
            <a:endParaRPr lang="en-US" sz="1800"/>
          </a:p>
        </p:txBody>
      </p:sp>
      <p:sp>
        <p:nvSpPr>
          <p:cNvPr id="4" name="Text Box 3"/>
          <p:cNvSpPr txBox="1"/>
          <p:nvPr/>
        </p:nvSpPr>
        <p:spPr>
          <a:xfrm>
            <a:off x="701040" y="3199765"/>
            <a:ext cx="5210175" cy="3138170"/>
          </a:xfrm>
          <a:prstGeom prst="rect">
            <a:avLst/>
          </a:prstGeom>
          <a:noFill/>
        </p:spPr>
        <p:txBody>
          <a:bodyPr wrap="square" rtlCol="0">
            <a:spAutoFit/>
          </a:bodyPr>
          <a:p>
            <a:pPr marL="342900" indent="-342900">
              <a:buAutoNum type="arabicPeriod"/>
            </a:pPr>
            <a:r>
              <a:rPr lang="en-US" b="1" dirty="0">
                <a:latin typeface="Verdana" panose="020B0604030504040204" pitchFamily="34" charset="0"/>
                <a:ea typeface="Verdana" panose="020B0604030504040204" pitchFamily="34" charset="0"/>
                <a:cs typeface="Verdana" panose="020B0604030504040204" pitchFamily="34" charset="0"/>
                <a:sym typeface="+mn-ea"/>
              </a:rPr>
              <a:t>Leptokurtic:</a:t>
            </a:r>
            <a:r>
              <a:rPr lang="en-US" dirty="0">
                <a:latin typeface="Verdana" panose="020B0604030504040204" pitchFamily="34" charset="0"/>
                <a:ea typeface="Verdana" panose="020B0604030504040204" pitchFamily="34" charset="0"/>
                <a:cs typeface="Verdana" panose="020B0604030504040204" pitchFamily="34" charset="0"/>
                <a:sym typeface="+mn-ea"/>
              </a:rPr>
              <a:t> </a:t>
            </a:r>
            <a:endParaRPr lang="en-US" dirty="0">
              <a:latin typeface="Verdana" panose="020B0604030504040204" pitchFamily="34" charset="0"/>
              <a:ea typeface="Verdana" panose="020B0604030504040204" pitchFamily="34" charset="0"/>
              <a:cs typeface="Verdana" panose="020B0604030504040204" pitchFamily="34" charset="0"/>
            </a:endParaRPr>
          </a:p>
          <a:p>
            <a:pPr marL="895350" lvl="1" indent="-285750">
              <a:buFont typeface="Arial" panose="020B0604020202020204" pitchFamily="34" charset="0"/>
              <a:buChar char="•"/>
            </a:pPr>
            <a:r>
              <a:rPr lang="en-US" dirty="0">
                <a:latin typeface="Calibri" panose="020F0502020204030204" charset="0"/>
                <a:ea typeface="DengXian" panose="02010600030101010101" pitchFamily="2" charset="-122"/>
                <a:sym typeface="+mn-ea"/>
              </a:rPr>
              <a:t>a “positive” or tall and thin distribution </a:t>
            </a:r>
            <a:endParaRPr lang="en-US" dirty="0">
              <a:latin typeface="Calibri" panose="020F0502020204030204" charset="0"/>
              <a:ea typeface="DengXian" panose="02010600030101010101" pitchFamily="2" charset="-122"/>
            </a:endParaRPr>
          </a:p>
          <a:p>
            <a:pPr lvl="1"/>
            <a:r>
              <a:rPr lang="en-US" dirty="0">
                <a:latin typeface="Calibri" panose="020F0502020204030204" charset="0"/>
                <a:ea typeface="DengXian" panose="02010600030101010101" pitchFamily="2" charset="-122"/>
                <a:sym typeface="+mn-ea"/>
              </a:rPr>
              <a:t>  	 (fatter tails).</a:t>
            </a:r>
            <a:endParaRPr lang="en-US" dirty="0">
              <a:latin typeface="Calibri" panose="020F0502020204030204" charset="0"/>
              <a:ea typeface="DengXian" panose="02010600030101010101" pitchFamily="2" charset="-122"/>
            </a:endParaRPr>
          </a:p>
          <a:p>
            <a:pPr marL="952500" lvl="1" indent="-342900">
              <a:buFont typeface="Arial" panose="020B0604020202020204" pitchFamily="34" charset="0"/>
              <a:buChar char="•"/>
            </a:pPr>
            <a:r>
              <a:rPr lang="en-US" dirty="0">
                <a:latin typeface="Calibri" panose="020F0502020204030204" charset="0"/>
                <a:ea typeface="DengXian" panose="02010600030101010101" pitchFamily="2" charset="-122"/>
                <a:cs typeface="Verdana" panose="020B0604030504040204" pitchFamily="34" charset="0"/>
                <a:sym typeface="+mn-ea"/>
              </a:rPr>
              <a:t>if the value is more than 3.</a:t>
            </a:r>
            <a:endParaRPr lang="en-US" dirty="0">
              <a:latin typeface="Calibri" panose="020F0502020204030204" charset="0"/>
              <a:ea typeface="DengXian" panose="02010600030101010101" pitchFamily="2" charset="-122"/>
              <a:cs typeface="Verdana" panose="020B0604030504040204" pitchFamily="34" charset="0"/>
            </a:endParaRPr>
          </a:p>
          <a:p>
            <a:pPr marL="342900" indent="-342900">
              <a:buAutoNum type="arabicPeriod"/>
            </a:pPr>
            <a:r>
              <a:rPr lang="en-US" b="1" dirty="0">
                <a:ea typeface="DengXian" panose="02010600030101010101" pitchFamily="2" charset="-122"/>
                <a:cs typeface="Verdana" panose="020B0604030504040204" pitchFamily="34" charset="0"/>
                <a:sym typeface="+mn-ea"/>
              </a:rPr>
              <a:t>Mesokurtic:</a:t>
            </a:r>
            <a:endParaRPr lang="en-US" b="1" dirty="0">
              <a:ea typeface="DengXian" panose="02010600030101010101" pitchFamily="2" charset="-122"/>
              <a:cs typeface="Verdana" panose="020B0604030504040204" pitchFamily="34" charset="0"/>
            </a:endParaRPr>
          </a:p>
          <a:p>
            <a:pPr marL="952500" lvl="1" indent="-342900">
              <a:buFont typeface="Arial" panose="020B0604020202020204" pitchFamily="34" charset="0"/>
              <a:buChar char="•"/>
            </a:pPr>
            <a:r>
              <a:rPr lang="en-US" dirty="0">
                <a:latin typeface="Calibri" panose="020F0502020204030204" charset="0"/>
                <a:ea typeface="DengXian" panose="02010600030101010101" pitchFamily="2" charset="-122"/>
                <a:cs typeface="Verdana" panose="020B0604030504040204" pitchFamily="34" charset="0"/>
                <a:sym typeface="+mn-ea"/>
              </a:rPr>
              <a:t>A normal distribution.</a:t>
            </a:r>
            <a:endParaRPr lang="en-US" dirty="0">
              <a:latin typeface="Calibri" panose="020F0502020204030204" charset="0"/>
              <a:ea typeface="DengXian" panose="02010600030101010101" pitchFamily="2" charset="-122"/>
              <a:cs typeface="Verdana" panose="020B0604030504040204" pitchFamily="34" charset="0"/>
            </a:endParaRPr>
          </a:p>
          <a:p>
            <a:pPr marL="952500" lvl="1" indent="-342900">
              <a:buFont typeface="Arial" panose="020B0604020202020204" pitchFamily="34" charset="0"/>
              <a:buChar char="•"/>
            </a:pPr>
            <a:r>
              <a:rPr lang="en-US" dirty="0">
                <a:latin typeface="Calibri" panose="020F0502020204030204" charset="0"/>
                <a:ea typeface="DengXian" panose="02010600030101010101" pitchFamily="2" charset="-122"/>
                <a:cs typeface="Verdana" panose="020B0604030504040204" pitchFamily="34" charset="0"/>
                <a:sym typeface="+mn-ea"/>
              </a:rPr>
              <a:t>if the value is 3.</a:t>
            </a:r>
            <a:endParaRPr lang="en-US" dirty="0">
              <a:latin typeface="Calibri" panose="020F0502020204030204" charset="0"/>
              <a:ea typeface="DengXian" panose="02010600030101010101" pitchFamily="2" charset="-122"/>
              <a:cs typeface="Verdana" panose="020B0604030504040204" pitchFamily="34" charset="0"/>
            </a:endParaRPr>
          </a:p>
          <a:p>
            <a:pPr marL="342900" indent="-342900">
              <a:buAutoNum type="arabicPeriod"/>
            </a:pPr>
            <a:r>
              <a:rPr lang="en-US" b="1" dirty="0">
                <a:ea typeface="DengXian" panose="02010600030101010101" pitchFamily="2" charset="-122"/>
                <a:cs typeface="Verdana" panose="020B0604030504040204" pitchFamily="34" charset="0"/>
                <a:sym typeface="+mn-ea"/>
              </a:rPr>
              <a:t>Platykurtic:</a:t>
            </a:r>
            <a:endParaRPr lang="en-US" b="1" dirty="0">
              <a:ea typeface="DengXian" panose="02010600030101010101" pitchFamily="2" charset="-122"/>
              <a:cs typeface="Verdana" panose="020B0604030504040204" pitchFamily="34" charset="0"/>
            </a:endParaRPr>
          </a:p>
          <a:p>
            <a:pPr marL="952500" lvl="1" indent="-342900">
              <a:buFont typeface="Arial" panose="020B0604020202020204" pitchFamily="34" charset="0"/>
              <a:buChar char="•"/>
            </a:pPr>
            <a:r>
              <a:rPr lang="en-US" dirty="0">
                <a:latin typeface="Calibri" panose="020F0502020204030204" charset="0"/>
                <a:ea typeface="DengXian" panose="02010600030101010101" pitchFamily="2" charset="-122"/>
                <a:cs typeface="Verdana" panose="020B0604030504040204" pitchFamily="34" charset="0"/>
                <a:sym typeface="+mn-ea"/>
              </a:rPr>
              <a:t>a “negative” or flat and wide distribution</a:t>
            </a:r>
            <a:endParaRPr lang="en-US" dirty="0">
              <a:latin typeface="Calibri" panose="020F0502020204030204" charset="0"/>
              <a:ea typeface="DengXian" panose="02010600030101010101" pitchFamily="2" charset="-122"/>
              <a:cs typeface="Verdana" panose="020B0604030504040204" pitchFamily="34" charset="0"/>
            </a:endParaRPr>
          </a:p>
          <a:p>
            <a:pPr lvl="1"/>
            <a:r>
              <a:rPr lang="en-US" dirty="0">
                <a:latin typeface="Calibri" panose="020F0502020204030204" charset="0"/>
                <a:ea typeface="DengXian" panose="02010600030101010101" pitchFamily="2" charset="-122"/>
                <a:cs typeface="Verdana" panose="020B0604030504040204" pitchFamily="34" charset="0"/>
                <a:sym typeface="+mn-ea"/>
              </a:rPr>
              <a:t>	(thin tails).</a:t>
            </a:r>
            <a:endParaRPr lang="en-US" dirty="0">
              <a:latin typeface="Calibri" panose="020F0502020204030204" charset="0"/>
              <a:ea typeface="DengXian" panose="02010600030101010101" pitchFamily="2" charset="-122"/>
              <a:cs typeface="Verdana" panose="020B0604030504040204" pitchFamily="34" charset="0"/>
            </a:endParaRPr>
          </a:p>
          <a:p>
            <a:pPr marL="952500" lvl="1" indent="-342900">
              <a:buFont typeface="Arial" panose="020B0604020202020204" pitchFamily="34" charset="0"/>
              <a:buChar char="•"/>
            </a:pPr>
            <a:r>
              <a:rPr lang="en-US" dirty="0">
                <a:latin typeface="Calibri" panose="020F0502020204030204" charset="0"/>
                <a:ea typeface="DengXian" panose="02010600030101010101" pitchFamily="2" charset="-122"/>
                <a:cs typeface="Verdana" panose="020B0604030504040204" pitchFamily="34" charset="0"/>
                <a:sym typeface="+mn-ea"/>
              </a:rPr>
              <a:t>if value of kurtosis is less than 3.</a:t>
            </a:r>
            <a:endParaRPr lang="en-US"/>
          </a:p>
        </p:txBody>
      </p:sp>
      <p:pic>
        <p:nvPicPr>
          <p:cNvPr id="10" name="Picture 9"/>
          <p:cNvPicPr>
            <a:picLocks noChangeAspect="1"/>
          </p:cNvPicPr>
          <p:nvPr/>
        </p:nvPicPr>
        <p:blipFill>
          <a:blip r:embed="rId1"/>
          <a:stretch>
            <a:fillRect/>
          </a:stretch>
        </p:blipFill>
        <p:spPr>
          <a:xfrm>
            <a:off x="6176645" y="3199765"/>
            <a:ext cx="3832225" cy="31940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noChangeArrowheads="1"/>
          </p:cNvSpPr>
          <p:nvPr>
            <p:ph type="ctrTitle"/>
          </p:nvPr>
        </p:nvSpPr>
        <p:spPr>
          <a:xfrm>
            <a:off x="806450" y="1265555"/>
            <a:ext cx="10942955" cy="2353945"/>
          </a:xfrm>
        </p:spPr>
        <p:txBody>
          <a:bodyPr/>
          <a:p>
            <a:pPr algn="ctr">
              <a:lnSpc>
                <a:spcPct val="90000"/>
              </a:lnSpc>
            </a:pPr>
            <a:r>
              <a:rPr lang="en-IN" altLang="en-US" sz="5000" b="1">
                <a:solidFill>
                  <a:srgbClr val="FF0000"/>
                </a:solidFill>
              </a:rPr>
              <a:t>THANK YOU FOR YOUR</a:t>
            </a:r>
            <a:br>
              <a:rPr lang="en-IN" altLang="en-US" sz="5000" b="1">
                <a:solidFill>
                  <a:srgbClr val="FF0000"/>
                </a:solidFill>
              </a:rPr>
            </a:br>
            <a:r>
              <a:rPr lang="en-IN" altLang="en-US" sz="5000" b="1">
                <a:solidFill>
                  <a:srgbClr val="FF0000"/>
                </a:solidFill>
              </a:rPr>
              <a:t>ATTENTATION</a:t>
            </a:r>
            <a:endParaRPr lang="en-IN" altLang="en-US" sz="5000" b="1">
              <a:solidFill>
                <a:srgbClr val="FF0000"/>
              </a:solidFill>
            </a:endParaRPr>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DEA2B996A095145A431990D8746F65D" ma:contentTypeVersion="12" ma:contentTypeDescription="Create a new document." ma:contentTypeScope="" ma:versionID="b52efeacc52cdb0921dd3ecf044e49d6">
  <xsd:schema xmlns:xsd="http://www.w3.org/2001/XMLSchema" xmlns:xs="http://www.w3.org/2001/XMLSchema" xmlns:p="http://schemas.microsoft.com/office/2006/metadata/properties" xmlns:ns2="0ae31940-ca4a-45c5-b162-138273e95632" xmlns:ns3="931ab5c8-92b0-45e1-8bc3-523e2cbedd9f" targetNamespace="http://schemas.microsoft.com/office/2006/metadata/properties" ma:root="true" ma:fieldsID="f46cc9a8ff8ed0d34fdacf23a8b0da3b" ns2:_="" ns3:_="">
    <xsd:import namespace="0ae31940-ca4a-45c5-b162-138273e95632"/>
    <xsd:import namespace="931ab5c8-92b0-45e1-8bc3-523e2cbedd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e31940-ca4a-45c5-b162-138273e956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0b75c2f-733a-428e-8724-a6f3929c24d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31ab5c8-92b0-45e1-8bc3-523e2cbedd9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981f5be-6e3e-4d6c-a653-15253177344c}" ma:internalName="TaxCatchAll" ma:showField="CatchAllData" ma:web="931ab5c8-92b0-45e1-8bc3-523e2cbedd9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ae31940-ca4a-45c5-b162-138273e95632">
      <Terms xmlns="http://schemas.microsoft.com/office/infopath/2007/PartnerControls"/>
    </lcf76f155ced4ddcb4097134ff3c332f>
    <TaxCatchAll xmlns="931ab5c8-92b0-45e1-8bc3-523e2cbedd9f" xsi:nil="true"/>
  </documentManagement>
</p:properties>
</file>

<file path=customXml/itemProps1.xml><?xml version="1.0" encoding="utf-8"?>
<ds:datastoreItem xmlns:ds="http://schemas.openxmlformats.org/officeDocument/2006/customXml" ds:itemID="{F621541F-04C9-4ACF-A6FA-27732E14F2DE}"/>
</file>

<file path=customXml/itemProps2.xml><?xml version="1.0" encoding="utf-8"?>
<ds:datastoreItem xmlns:ds="http://schemas.openxmlformats.org/officeDocument/2006/customXml" ds:itemID="{8B219E4E-FD87-4FC7-B60A-C8BEA07A8B21}"/>
</file>

<file path=customXml/itemProps3.xml><?xml version="1.0" encoding="utf-8"?>
<ds:datastoreItem xmlns:ds="http://schemas.openxmlformats.org/officeDocument/2006/customXml" ds:itemID="{9F567A96-E754-4DAB-A7F6-C91FF7B14829}"/>
</file>

<file path=docProps/app.xml><?xml version="1.0" encoding="utf-8"?>
<Properties xmlns="http://schemas.openxmlformats.org/officeDocument/2006/extended-properties" xmlns:vt="http://schemas.openxmlformats.org/officeDocument/2006/docPropsVTypes">
  <TotalTime>0</TotalTime>
  <Words>8190</Words>
  <Application>WPS Presentation</Application>
  <PresentationFormat>Widescreen</PresentationFormat>
  <Paragraphs>294</Paragraphs>
  <Slides>23</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23</vt:i4>
      </vt:variant>
    </vt:vector>
  </HeadingPairs>
  <TitlesOfParts>
    <vt:vector size="38" baseType="lpstr">
      <vt:lpstr>Arial</vt:lpstr>
      <vt:lpstr>SimSun</vt:lpstr>
      <vt:lpstr>Wingdings</vt:lpstr>
      <vt:lpstr>Times New Roman</vt:lpstr>
      <vt:lpstr>Arial</vt:lpstr>
      <vt:lpstr>Verdana</vt:lpstr>
      <vt:lpstr>Microsoft YaHei</vt:lpstr>
      <vt:lpstr>Arial Unicode MS</vt:lpstr>
      <vt:lpstr>Calibri</vt:lpstr>
      <vt:lpstr>MathJax_Math-italic</vt:lpstr>
      <vt:lpstr>Segoe Print</vt:lpstr>
      <vt:lpstr>MathJax_Main</vt:lpstr>
      <vt:lpstr>champ</vt:lpstr>
      <vt:lpstr>DengXian</vt:lpstr>
      <vt:lpstr>Blue Waves</vt:lpstr>
      <vt:lpstr>Descriptive Statistics</vt:lpstr>
      <vt:lpstr>Descriptive Statistics</vt:lpstr>
      <vt:lpstr>Which Group is Smarter?</vt:lpstr>
      <vt:lpstr>Summarizing data through numbers</vt:lpstr>
      <vt:lpstr>Measures of Central Tendency</vt:lpstr>
      <vt:lpstr>MEAN</vt:lpstr>
      <vt:lpstr>MEAN</vt:lpstr>
      <vt:lpstr>MEAN</vt:lpstr>
      <vt:lpstr>MEDIAN</vt:lpstr>
      <vt:lpstr>MEDIAN</vt:lpstr>
      <vt:lpstr>MODE</vt:lpstr>
      <vt:lpstr>When to use Mode </vt:lpstr>
      <vt:lpstr>Measures of Dispersion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 FOR YOUR ATTENTATION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Statistics</dc:title>
  <dc:creator/>
  <cp:lastModifiedBy>Dell</cp:lastModifiedBy>
  <cp:revision>19</cp:revision>
  <dcterms:created xsi:type="dcterms:W3CDTF">2022-12-22T10:22:00Z</dcterms:created>
  <dcterms:modified xsi:type="dcterms:W3CDTF">2022-12-23T06:02:56Z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F9547EAB91254919839771B501C8F07E</vt:lpwstr>
  </property>
  <property fmtid="{D5CDD505-2E9C-101B-9397-08002B2CF9AE}" pid="3" name="KSOProductBuildVer">
    <vt:lpwstr>1033-11.2.0.11388</vt:lpwstr>
  </property>
  <property fmtid="{D5CDD505-2E9C-101B-9397-08002B2CF9AE}" pid="4" name="ContentTypeId">
    <vt:lpwstr>0x0101006DEA2B996A095145A431990D8746F65D</vt:lpwstr>
  </property>
</Properties>
</file>