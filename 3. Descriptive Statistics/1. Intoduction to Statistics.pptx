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1" r:id="rId5"/>
    <p:sldId id="262" r:id="rId6"/>
    <p:sldId id="263" r:id="rId7"/>
    <p:sldId id="264" r:id="rId8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59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ustomXml" Target="../customXml/item2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customXml" Target="../customXml/item1.xml"/><Relationship Id="rId2" Type="http://schemas.openxmlformats.org/officeDocument/2006/relationships/theme" Target="theme/theme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4" Type="http://schemas.openxmlformats.org/officeDocument/2006/relationships/slide" Target="slides/slide2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lvl="0"/>
            <a:endParaRPr lang="zh-CN" altLang="en-US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8313" y="1628775"/>
            <a:ext cx="8207375" cy="1082675"/>
          </a:xfrm>
        </p:spPr>
        <p:txBody>
          <a:bodyPr/>
          <a:p>
            <a:r>
              <a:rPr lang="en-IN" altLang="en-US" sz="5000" b="1">
                <a:solidFill>
                  <a:srgbClr val="FF0000"/>
                </a:solidFill>
              </a:rPr>
              <a:t>Introduction to Statistics</a:t>
            </a:r>
            <a:endParaRPr lang="en-IN" altLang="en-US" sz="50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9090"/>
            <a:ext cx="8229600" cy="6139815"/>
          </a:xfrm>
        </p:spPr>
        <p:txBody>
          <a:bodyPr/>
          <a:p>
            <a:r>
              <a:rPr lang="en-US" sz="2800">
                <a:solidFill>
                  <a:schemeClr val="accent6"/>
                </a:solidFill>
                <a:sym typeface="+mn-ea"/>
              </a:rPr>
              <a:t>What is statistics?</a:t>
            </a:r>
            <a:endParaRPr lang="en-US" sz="1800"/>
          </a:p>
          <a:p>
            <a:pPr lvl="1"/>
            <a:r>
              <a:rPr lang="en-US" sz="1800" b="1"/>
              <a:t>Statistics is the science of collecting, organizing, presenting, analyzing and interpreting data for specific purpose to help in making more effective decision.</a:t>
            </a:r>
            <a:endParaRPr lang="en-US" sz="1800" b="1"/>
          </a:p>
          <a:p>
            <a:r>
              <a:rPr lang="en-US" sz="2800">
                <a:solidFill>
                  <a:schemeClr val="accent6"/>
                </a:solidFill>
              </a:rPr>
              <a:t>Why study statistics</a:t>
            </a:r>
            <a:r>
              <a:rPr lang="en-IN" altLang="en-US" sz="2800">
                <a:solidFill>
                  <a:schemeClr val="accent6"/>
                </a:solidFill>
              </a:rPr>
              <a:t>?</a:t>
            </a:r>
            <a:endParaRPr lang="en-IN" altLang="en-US" sz="1800">
              <a:solidFill>
                <a:schemeClr val="accent6"/>
              </a:solidFill>
            </a:endParaRPr>
          </a:p>
          <a:p>
            <a:pPr lvl="1"/>
            <a:r>
              <a:rPr lang="en-IN" altLang="en-US" sz="1800" b="1"/>
              <a:t>To make more effective decision for the betterment of individual, society, business, nature and so on.</a:t>
            </a:r>
            <a:endParaRPr lang="en-IN" altLang="en-US" sz="1800" b="1"/>
          </a:p>
          <a:p>
            <a:pPr lvl="0"/>
            <a:r>
              <a:rPr lang="en-IN" altLang="en-US" sz="2800">
                <a:solidFill>
                  <a:schemeClr val="accent6"/>
                </a:solidFill>
              </a:rPr>
              <a:t>What is Statistical Analysis?</a:t>
            </a:r>
            <a:endParaRPr lang="en-IN" altLang="en-US" sz="2800">
              <a:solidFill>
                <a:schemeClr val="accent6"/>
              </a:solidFill>
            </a:endParaRPr>
          </a:p>
          <a:p>
            <a:pPr lvl="1"/>
            <a:r>
              <a:rPr lang="en-IN" altLang="en-US" sz="1795" b="1"/>
              <a:t>Statistical analysis is implemented to manipulate, summarize, and investigate data, so that useful decision making information results are obtained.</a:t>
            </a:r>
            <a:endParaRPr lang="en-IN" altLang="en-US" sz="1795" b="1"/>
          </a:p>
          <a:p>
            <a:pPr lvl="0"/>
            <a:r>
              <a:rPr lang="en-IN" altLang="en-US" sz="2800">
                <a:solidFill>
                  <a:schemeClr val="accent6"/>
                </a:solidFill>
              </a:rPr>
              <a:t>Types of statistics?</a:t>
            </a:r>
            <a:endParaRPr lang="en-IN" altLang="en-US" sz="2800">
              <a:solidFill>
                <a:schemeClr val="accent6"/>
              </a:solidFill>
            </a:endParaRPr>
          </a:p>
          <a:p>
            <a:pPr lvl="1"/>
            <a:r>
              <a:rPr lang="en-IN" altLang="en-US" sz="1800" b="1"/>
              <a:t>1. Descriptive Statistics (used to describe the basic features of the data)</a:t>
            </a:r>
            <a:endParaRPr lang="en-IN" altLang="en-US" sz="1800" b="1"/>
          </a:p>
          <a:p>
            <a:pPr lvl="1"/>
            <a:r>
              <a:rPr lang="en-IN" altLang="en-US" sz="1800" b="1"/>
              <a:t>2. Inferential statistics (aims at learning characteristics of the population from a sample)</a:t>
            </a:r>
            <a:endParaRPr lang="en-IN" altLang="en-US" sz="1800" b="1"/>
          </a:p>
          <a:p>
            <a:endParaRPr lang="en-US" sz="1800"/>
          </a:p>
          <a:p>
            <a:endParaRPr 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4775"/>
            <a:ext cx="8229600" cy="6678295"/>
          </a:xfrm>
        </p:spPr>
        <p:txBody>
          <a:bodyPr/>
          <a:p>
            <a:pPr marL="514350" indent="-514350">
              <a:buFont typeface="+mj-lt"/>
              <a:buAutoNum type="arabicPeriod"/>
            </a:pPr>
            <a:r>
              <a:rPr lang="en-US" sz="2800" b="1" u="sng">
                <a:solidFill>
                  <a:schemeClr val="accent6"/>
                </a:solidFill>
              </a:rPr>
              <a:t>Data and its Types</a:t>
            </a:r>
            <a:endParaRPr lang="en-US" sz="2800" b="1" u="sng">
              <a:solidFill>
                <a:schemeClr val="accent6"/>
              </a:solidFill>
            </a:endParaRPr>
          </a:p>
          <a:p>
            <a:r>
              <a:rPr lang="en-US" sz="2400">
                <a:solidFill>
                  <a:schemeClr val="accent6"/>
                </a:solidFill>
              </a:rPr>
              <a:t>What is data?</a:t>
            </a:r>
            <a:endParaRPr lang="en-US" sz="2800">
              <a:solidFill>
                <a:schemeClr val="accent6"/>
              </a:solidFill>
            </a:endParaRPr>
          </a:p>
          <a:p>
            <a:pPr lvl="1"/>
            <a:r>
              <a:rPr lang="en-US" sz="1800"/>
              <a:t>Data is a set of collected or recorded facts of particular subject.</a:t>
            </a:r>
            <a:endParaRPr lang="en-US" sz="1800"/>
          </a:p>
          <a:p>
            <a:pPr lvl="1"/>
            <a:r>
              <a:rPr lang="en-US" sz="1800"/>
              <a:t>Data in general terms refer to facts and statistics collected together for reference or analysis.</a:t>
            </a:r>
            <a:endParaRPr lang="en-US" sz="1800"/>
          </a:p>
          <a:p>
            <a:pPr lvl="0"/>
            <a:r>
              <a:rPr lang="en-US" sz="2400">
                <a:solidFill>
                  <a:schemeClr val="accent6"/>
                </a:solidFill>
              </a:rPr>
              <a:t>Types of Data</a:t>
            </a:r>
            <a:r>
              <a:rPr lang="en-IN" altLang="en-US" sz="2400">
                <a:solidFill>
                  <a:schemeClr val="accent6"/>
                </a:solidFill>
              </a:rPr>
              <a:t>?</a:t>
            </a:r>
            <a:endParaRPr lang="en-IN" altLang="en-US"/>
          </a:p>
          <a:p>
            <a:pPr marL="457200" lvl="1" indent="0">
              <a:buNone/>
            </a:pPr>
            <a:r>
              <a:rPr lang="en-IN" altLang="en-US" sz="1800" b="1"/>
              <a:t>1. Qualitative Data:</a:t>
            </a:r>
            <a:r>
              <a:rPr lang="en-IN" altLang="en-US" sz="1800"/>
              <a:t> </a:t>
            </a:r>
            <a:endParaRPr lang="en-IN" altLang="en-US" sz="1800"/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/>
              <a:t>Qualitative or Categorical Data is data that can’t be measured or counted in the form of numbers. </a:t>
            </a:r>
            <a:endParaRPr lang="en-IN" altLang="en-US" sz="1800"/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/>
              <a:t>These types of data are sorted by category, not by number.</a:t>
            </a:r>
            <a:endParaRPr lang="en-IN" altLang="en-US" sz="1800"/>
          </a:p>
          <a:p>
            <a:pPr lvl="1">
              <a:buFont typeface="Arial" panose="020B0604020202020204" pitchFamily="34" charset="0"/>
              <a:buChar char="•"/>
            </a:pPr>
            <a:endParaRPr lang="en-IN" altLang="en-US" sz="1800"/>
          </a:p>
          <a:p>
            <a:pPr marL="914400" lvl="2" indent="0">
              <a:buNone/>
            </a:pPr>
            <a:r>
              <a:rPr lang="en-IN" altLang="en-US" sz="1800" b="1"/>
              <a:t>(a). Nominal Data:</a:t>
            </a:r>
            <a:r>
              <a:rPr lang="en-IN" altLang="en-US" sz="1800"/>
              <a:t> Nominal Data is used to label variables without any order or quantitative value. e.g. </a:t>
            </a:r>
            <a:endParaRPr lang="en-IN" altLang="en-US" sz="1800"/>
          </a:p>
          <a:p>
            <a:pPr lvl="3">
              <a:buFont typeface="Arial" panose="020B0604020202020204" pitchFamily="34" charset="0"/>
              <a:buChar char="•"/>
            </a:pPr>
            <a:r>
              <a:rPr lang="en-IN" altLang="en-US" sz="1400" b="1"/>
              <a:t>Marital status (Single, Widowed, Married)</a:t>
            </a:r>
            <a:endParaRPr lang="en-IN" altLang="en-US" sz="1400" b="1"/>
          </a:p>
          <a:p>
            <a:pPr lvl="3">
              <a:buFont typeface="Arial" panose="020B0604020202020204" pitchFamily="34" charset="0"/>
              <a:buChar char="•"/>
            </a:pPr>
            <a:r>
              <a:rPr lang="en-IN" altLang="en-US" sz="1400" b="1"/>
              <a:t>Nationality (Indian, German, American)</a:t>
            </a:r>
            <a:endParaRPr lang="en-IN" altLang="en-US" sz="1400" b="1"/>
          </a:p>
          <a:p>
            <a:pPr lvl="3">
              <a:buFont typeface="Arial" panose="020B0604020202020204" pitchFamily="34" charset="0"/>
              <a:buChar char="•"/>
            </a:pPr>
            <a:r>
              <a:rPr lang="en-IN" altLang="en-US" sz="1400" b="1"/>
              <a:t>Gender (Male, Female, Others)</a:t>
            </a:r>
            <a:endParaRPr lang="en-IN" altLang="en-US" sz="1400" b="1"/>
          </a:p>
          <a:p>
            <a:pPr lvl="2">
              <a:buNone/>
            </a:pPr>
            <a:r>
              <a:rPr lang="en-IN" altLang="en-US" sz="1800" b="1"/>
              <a:t>(b).</a:t>
            </a:r>
            <a:r>
              <a:rPr lang="en-IN" altLang="en-US" sz="1800"/>
              <a:t> </a:t>
            </a:r>
            <a:r>
              <a:rPr lang="en-IN" altLang="en-US" sz="1800" b="1"/>
              <a:t>Ordinal Data</a:t>
            </a:r>
            <a:r>
              <a:rPr lang="en-IN" altLang="en-US" sz="1800"/>
              <a:t>: Ordinal data have natural ordering where a number is present in some kind of order by their position on the scale. e.g.</a:t>
            </a:r>
            <a:endParaRPr lang="en-IN" altLang="en-US" sz="1800"/>
          </a:p>
          <a:p>
            <a:pPr lvl="3">
              <a:buFont typeface="Arial" panose="020B0604020202020204" pitchFamily="34" charset="0"/>
              <a:buChar char="•"/>
            </a:pPr>
            <a:r>
              <a:rPr lang="en-IN" altLang="en-US" sz="1400" b="1"/>
              <a:t>Economic Status (High, Medium, and Low)</a:t>
            </a:r>
            <a:endParaRPr lang="en-IN" altLang="en-US" sz="1400" b="1"/>
          </a:p>
          <a:p>
            <a:pPr lvl="3">
              <a:buFont typeface="Arial" panose="020B0604020202020204" pitchFamily="34" charset="0"/>
              <a:buChar char="•"/>
            </a:pPr>
            <a:r>
              <a:rPr lang="en-IN" altLang="en-US" sz="1400" b="1"/>
              <a:t>Education Level (Higher, Secondary, Primary)</a:t>
            </a:r>
            <a:endParaRPr lang="en-IN" altLang="en-US" sz="1400" b="1"/>
          </a:p>
          <a:p>
            <a:pPr lvl="3">
              <a:buFont typeface="Arial" panose="020B0604020202020204" pitchFamily="34" charset="0"/>
              <a:buChar char="•"/>
            </a:pPr>
            <a:r>
              <a:rPr lang="en-IN" altLang="en-US" sz="1400" b="1"/>
              <a:t>Companies Feedback (1 star, 2 star, ...... 5 star)</a:t>
            </a:r>
            <a:endParaRPr lang="en-IN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7960"/>
            <a:ext cx="8229600" cy="5939790"/>
          </a:xfrm>
        </p:spPr>
        <p:txBody>
          <a:bodyPr/>
          <a:p>
            <a:pPr marL="457200" lvl="1" indent="0">
              <a:buNone/>
            </a:pPr>
            <a:r>
              <a:rPr lang="en-IN" altLang="en-US" sz="1800" b="1">
                <a:sym typeface="+mn-ea"/>
              </a:rPr>
              <a:t>2. Quantitative Data:</a:t>
            </a:r>
            <a:endParaRPr lang="en-IN" altLang="en-US" sz="1800"/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>
                <a:sym typeface="+mn-ea"/>
              </a:rPr>
              <a:t>Quantitative data can be expressed in numerical values, making it countable and including statistical data analysis.</a:t>
            </a:r>
            <a:endParaRPr lang="en-IN" altLang="en-US" sz="1800">
              <a:sym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>
                <a:sym typeface="+mn-ea"/>
              </a:rPr>
              <a:t>Quantitative data can be used for statistical manipulation.</a:t>
            </a:r>
            <a:endParaRPr lang="en-IN" altLang="en-US" sz="1800">
              <a:sym typeface="+mn-ea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IN" altLang="en-US" sz="1800">
              <a:sym typeface="+mn-ea"/>
            </a:endParaRPr>
          </a:p>
          <a:p>
            <a:pPr marL="914400" lvl="2" indent="0">
              <a:buNone/>
            </a:pPr>
            <a:r>
              <a:rPr lang="en-IN" altLang="en-US" sz="1800" b="1">
                <a:sym typeface="+mn-ea"/>
              </a:rPr>
              <a:t>(a). Discrete Data:</a:t>
            </a:r>
            <a:r>
              <a:rPr lang="en-IN" altLang="en-US" sz="1800">
                <a:sym typeface="+mn-ea"/>
              </a:rPr>
              <a:t> </a:t>
            </a:r>
            <a:endParaRPr lang="en-IN" altLang="en-US" sz="1800"/>
          </a:p>
          <a:p>
            <a:pPr lvl="3">
              <a:buFont typeface="Wingdings" panose="05000000000000000000" charset="0"/>
              <a:buChar char="Ø"/>
            </a:pPr>
            <a:r>
              <a:rPr lang="en-IN" altLang="en-US" sz="1800">
                <a:sym typeface="+mn-ea"/>
              </a:rPr>
              <a:t>The term discrete means distinct or separate. The discrete data contain the values that fall under integers or whole numbers. e.g.</a:t>
            </a:r>
            <a:endParaRPr lang="en-IN" altLang="en-US" sz="1800">
              <a:sym typeface="+mn-ea"/>
            </a:endParaRP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1400" b="1">
                <a:sym typeface="+mn-ea"/>
              </a:rPr>
              <a:t>Cost of a cell phone</a:t>
            </a:r>
            <a:endParaRPr lang="en-IN" altLang="en-US" sz="1400" b="1">
              <a:sym typeface="+mn-ea"/>
            </a:endParaRP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1400" b="1">
                <a:sym typeface="+mn-ea"/>
              </a:rPr>
              <a:t>Numbers of employees in a company</a:t>
            </a:r>
            <a:endParaRPr lang="en-IN" altLang="en-US" sz="1400" b="1">
              <a:sym typeface="+mn-ea"/>
            </a:endParaRPr>
          </a:p>
          <a:p>
            <a:pPr lvl="4">
              <a:buFont typeface="Arial" panose="020B0604020202020204" pitchFamily="34" charset="0"/>
              <a:buChar char="•"/>
            </a:pPr>
            <a:r>
              <a:rPr lang="en-IN" altLang="en-US" sz="1400" b="1">
                <a:sym typeface="+mn-ea"/>
              </a:rPr>
              <a:t>Days in a week</a:t>
            </a:r>
            <a:endParaRPr lang="en-IN" altLang="en-US" sz="1400" b="1">
              <a:sym typeface="+mn-ea"/>
            </a:endParaRPr>
          </a:p>
          <a:p>
            <a:pPr lvl="2">
              <a:buNone/>
            </a:pPr>
            <a:r>
              <a:rPr lang="en-US" sz="1800" b="1"/>
              <a:t>(b).  Continuous Data:</a:t>
            </a:r>
            <a:r>
              <a:rPr lang="en-US" sz="1800"/>
              <a:t> </a:t>
            </a:r>
            <a:endParaRPr lang="en-US" sz="1800"/>
          </a:p>
          <a:p>
            <a:pPr lvl="3" algn="l">
              <a:buFont typeface="Wingdings" panose="05000000000000000000" charset="0"/>
              <a:buChar char="Ø"/>
            </a:pPr>
            <a:r>
              <a:rPr sz="1800"/>
              <a:t>Continuous data are in the form of fractional numbers. It can be the version of an android phone, the height of a person, the length of an object, etc.</a:t>
            </a:r>
            <a:r>
              <a:rPr lang="en-IN" sz="1800"/>
              <a:t> e.g.</a:t>
            </a:r>
            <a:endParaRPr lang="en-IN" sz="1800"/>
          </a:p>
          <a:p>
            <a:pPr lvl="4" algn="l">
              <a:buFont typeface="Arial" panose="020B0604020202020204" pitchFamily="34" charset="0"/>
              <a:buChar char="•"/>
            </a:pPr>
            <a:r>
              <a:rPr lang="en-US" sz="1400" b="1"/>
              <a:t>Height of a person</a:t>
            </a:r>
            <a:endParaRPr lang="en-US" sz="1400" b="1"/>
          </a:p>
          <a:p>
            <a:pPr lvl="4" algn="l">
              <a:buFont typeface="Arial" panose="020B0604020202020204" pitchFamily="34" charset="0"/>
              <a:buChar char="•"/>
            </a:pPr>
            <a:r>
              <a:rPr lang="en-US" sz="1400" b="1"/>
              <a:t>Speed of a vehicle</a:t>
            </a:r>
            <a:endParaRPr lang="en-US" sz="1400" b="1"/>
          </a:p>
          <a:p>
            <a:pPr lvl="4" algn="l">
              <a:buFont typeface="Arial" panose="020B0604020202020204" pitchFamily="34" charset="0"/>
              <a:buChar char="•"/>
            </a:pPr>
            <a:r>
              <a:rPr lang="en-US" sz="1400" b="1"/>
              <a:t>Market share price</a:t>
            </a: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8745"/>
            <a:ext cx="8229600" cy="6412230"/>
          </a:xfrm>
        </p:spPr>
        <p:txBody>
          <a:bodyPr/>
          <a:p>
            <a:pPr marL="0" indent="0">
              <a:buNone/>
            </a:pPr>
            <a:r>
              <a:rPr lang="en-IN" altLang="en-US" sz="2800" b="1">
                <a:solidFill>
                  <a:schemeClr val="accent6"/>
                </a:solidFill>
              </a:rPr>
              <a:t>2. </a:t>
            </a:r>
            <a:r>
              <a:rPr lang="en-IN" altLang="en-US" sz="2800" b="1" u="sng">
                <a:solidFill>
                  <a:schemeClr val="accent6"/>
                </a:solidFill>
              </a:rPr>
              <a:t>Sample and Population</a:t>
            </a:r>
            <a:endParaRPr lang="en-IN" altLang="en-US" sz="2800" b="1" u="sng">
              <a:solidFill>
                <a:schemeClr val="accent6"/>
              </a:solidFill>
            </a:endParaRPr>
          </a:p>
          <a:p>
            <a:r>
              <a:rPr lang="en-IN" altLang="en-US" sz="2400">
                <a:solidFill>
                  <a:schemeClr val="accent6"/>
                </a:solidFill>
              </a:rPr>
              <a:t>What is Population?</a:t>
            </a:r>
            <a:endParaRPr lang="en-IN" altLang="en-US" sz="1575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>
                <a:solidFill>
                  <a:schemeClr val="tx1"/>
                </a:solidFill>
              </a:rPr>
              <a:t>A Population is the set of all possible states of a random variable. The size of the population may be either infinite or finite.</a:t>
            </a:r>
            <a:endParaRPr lang="en-IN" altLang="en-US" sz="18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>
                <a:solidFill>
                  <a:schemeClr val="tx1"/>
                </a:solidFill>
              </a:rPr>
              <a:t>In other words, A collection or set of individual or objects or events whose properties are to be anlysed called population.</a:t>
            </a:r>
            <a:endParaRPr lang="en-IN" altLang="en-US" sz="1375">
              <a:solidFill>
                <a:schemeClr val="tx1"/>
              </a:solidFill>
            </a:endParaRPr>
          </a:p>
          <a:p>
            <a:r>
              <a:rPr lang="en-IN" altLang="en-US" sz="2400">
                <a:solidFill>
                  <a:schemeClr val="accent6"/>
                </a:solidFill>
              </a:rPr>
              <a:t>What is a Sample?</a:t>
            </a:r>
            <a:endParaRPr lang="en-IN" altLang="en-US" sz="1575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>
                <a:solidFill>
                  <a:schemeClr val="tx1"/>
                </a:solidFill>
              </a:rPr>
              <a:t>A Sample is a subset of the population; its size is always finite.</a:t>
            </a:r>
            <a:endParaRPr lang="en-IN" altLang="en-US" sz="1800">
              <a:solidFill>
                <a:schemeClr val="tx1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altLang="en-US" sz="1800">
                <a:solidFill>
                  <a:schemeClr val="tx1"/>
                </a:solidFill>
              </a:rPr>
              <a:t>A subset of population is called "Sample". A well choosen sample will contain most of the information about a particular population parameter.</a:t>
            </a:r>
            <a:endParaRPr lang="en-IN" altLang="en-US" sz="1800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  <a:p>
            <a:r>
              <a:rPr lang="en-IN" altLang="en-US" sz="1575" b="1">
                <a:solidFill>
                  <a:schemeClr val="tx1"/>
                </a:solidFill>
              </a:rPr>
              <a:t>Example:</a:t>
            </a:r>
            <a:r>
              <a:rPr lang="en-IN" altLang="en-US" sz="1575">
                <a:solidFill>
                  <a:schemeClr val="tx1"/>
                </a:solidFill>
              </a:rPr>
              <a:t> </a:t>
            </a:r>
            <a:endParaRPr lang="en-IN" altLang="en-US" sz="1575">
              <a:solidFill>
                <a:schemeClr val="tx1"/>
              </a:solidFill>
            </a:endParaRPr>
          </a:p>
          <a:p>
            <a:r>
              <a:rPr lang="en-IN" altLang="en-US" sz="1575">
                <a:solidFill>
                  <a:schemeClr val="tx1"/>
                </a:solidFill>
              </a:rPr>
              <a:t>All employees in an office would be the </a:t>
            </a:r>
            <a:r>
              <a:rPr lang="en-IN" altLang="en-US" sz="1575" b="1">
                <a:solidFill>
                  <a:schemeClr val="tx1"/>
                </a:solidFill>
              </a:rPr>
              <a:t>Population</a:t>
            </a:r>
            <a:r>
              <a:rPr lang="en-IN" altLang="en-US" sz="1575">
                <a:solidFill>
                  <a:schemeClr val="tx1"/>
                </a:solidFill>
              </a:rPr>
              <a:t>.</a:t>
            </a:r>
            <a:endParaRPr lang="en-IN" altLang="en-US" sz="1575">
              <a:solidFill>
                <a:schemeClr val="tx1"/>
              </a:solidFill>
            </a:endParaRPr>
          </a:p>
          <a:p>
            <a:r>
              <a:rPr lang="en-IN" altLang="en-US" sz="1575">
                <a:solidFill>
                  <a:schemeClr val="tx1"/>
                </a:solidFill>
              </a:rPr>
              <a:t>Out of all the employees, all new joiners in the office would be the </a:t>
            </a:r>
            <a:r>
              <a:rPr lang="en-IN" altLang="en-US" sz="1575" b="1">
                <a:solidFill>
                  <a:schemeClr val="tx1"/>
                </a:solidFill>
              </a:rPr>
              <a:t>Sample</a:t>
            </a:r>
            <a:r>
              <a:rPr lang="en-IN" altLang="en-US" sz="1575">
                <a:solidFill>
                  <a:schemeClr val="tx1"/>
                </a:solidFill>
              </a:rPr>
              <a:t>.</a:t>
            </a:r>
            <a:endParaRPr lang="en-IN" altLang="en-US" sz="1575">
              <a:solidFill>
                <a:schemeClr val="tx1"/>
              </a:solidFill>
            </a:endParaRPr>
          </a:p>
          <a:p>
            <a:endParaRPr lang="en-IN" altLang="en-US" sz="1575">
              <a:solidFill>
                <a:schemeClr val="tx1"/>
              </a:solidFill>
            </a:endParaRPr>
          </a:p>
        </p:txBody>
      </p:sp>
      <p:pic>
        <p:nvPicPr>
          <p:cNvPr id="4" name="Picture 3" descr="PopulationAndSample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9295" y="3860800"/>
            <a:ext cx="4930775" cy="1855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 noChangeArrowheads="1"/>
          </p:cNvSpPr>
          <p:nvPr>
            <p:ph type="ctrTitle"/>
          </p:nvPr>
        </p:nvSpPr>
        <p:spPr>
          <a:xfrm>
            <a:off x="604838" y="1806416"/>
            <a:ext cx="8207216" cy="1765459"/>
          </a:xfrm>
        </p:spPr>
        <p:txBody>
          <a:bodyPr/>
          <a:p>
            <a:pPr algn="ctr">
              <a:lnSpc>
                <a:spcPct val="90000"/>
              </a:lnSpc>
            </a:pPr>
            <a:r>
              <a:rPr lang="en-IN" altLang="en-US" sz="3750" b="1">
                <a:solidFill>
                  <a:srgbClr val="FF0000"/>
                </a:solidFill>
              </a:rPr>
              <a:t>THANK YOU FOR YOUR</a:t>
            </a:r>
            <a:br>
              <a:rPr lang="en-IN" altLang="en-US" sz="3750" b="1">
                <a:solidFill>
                  <a:srgbClr val="FF0000"/>
                </a:solidFill>
              </a:rPr>
            </a:br>
            <a:r>
              <a:rPr lang="en-IN" altLang="en-US" sz="3750" b="1">
                <a:solidFill>
                  <a:srgbClr val="FF0000"/>
                </a:solidFill>
              </a:rPr>
              <a:t>ATTENTATION</a:t>
            </a:r>
            <a:endParaRPr lang="en-IN" altLang="en-US" sz="375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EA2B996A095145A431990D8746F65D" ma:contentTypeVersion="12" ma:contentTypeDescription="Create a new document." ma:contentTypeScope="" ma:versionID="b52efeacc52cdb0921dd3ecf044e49d6">
  <xsd:schema xmlns:xsd="http://www.w3.org/2001/XMLSchema" xmlns:xs="http://www.w3.org/2001/XMLSchema" xmlns:p="http://schemas.microsoft.com/office/2006/metadata/properties" xmlns:ns2="0ae31940-ca4a-45c5-b162-138273e95632" xmlns:ns3="931ab5c8-92b0-45e1-8bc3-523e2cbedd9f" targetNamespace="http://schemas.microsoft.com/office/2006/metadata/properties" ma:root="true" ma:fieldsID="f46cc9a8ff8ed0d34fdacf23a8b0da3b" ns2:_="" ns3:_="">
    <xsd:import namespace="0ae31940-ca4a-45c5-b162-138273e95632"/>
    <xsd:import namespace="931ab5c8-92b0-45e1-8bc3-523e2cbedd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31940-ca4a-45c5-b162-138273e956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0b75c2f-733a-428e-8724-a6f3929c24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1ab5c8-92b0-45e1-8bc3-523e2cbedd9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981f5be-6e3e-4d6c-a653-15253177344c}" ma:internalName="TaxCatchAll" ma:showField="CatchAllData" ma:web="931ab5c8-92b0-45e1-8bc3-523e2cbedd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ae31940-ca4a-45c5-b162-138273e95632">
      <Terms xmlns="http://schemas.microsoft.com/office/infopath/2007/PartnerControls"/>
    </lcf76f155ced4ddcb4097134ff3c332f>
    <TaxCatchAll xmlns="931ab5c8-92b0-45e1-8bc3-523e2cbedd9f" xsi:nil="true"/>
  </documentManagement>
</p:properties>
</file>

<file path=customXml/itemProps1.xml><?xml version="1.0" encoding="utf-8"?>
<ds:datastoreItem xmlns:ds="http://schemas.openxmlformats.org/officeDocument/2006/customXml" ds:itemID="{B9918D9D-EF3F-4698-80FF-FC7CC64F8E72}"/>
</file>

<file path=customXml/itemProps2.xml><?xml version="1.0" encoding="utf-8"?>
<ds:datastoreItem xmlns:ds="http://schemas.openxmlformats.org/officeDocument/2006/customXml" ds:itemID="{3501E965-299A-4803-AB6D-1227E831883E}"/>
</file>

<file path=customXml/itemProps3.xml><?xml version="1.0" encoding="utf-8"?>
<ds:datastoreItem xmlns:ds="http://schemas.openxmlformats.org/officeDocument/2006/customXml" ds:itemID="{E3CDB534-2EC2-4E68-9D33-94989046FBF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2896</Words>
  <Application>WPS Presentation</Application>
  <PresentationFormat/>
  <Paragraphs>68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Blue Waves</vt:lpstr>
      <vt:lpstr>Introduction to Statistics</vt:lpstr>
      <vt:lpstr>PowerPoint 演示文稿</vt:lpstr>
      <vt:lpstr>PowerPoint 演示文稿</vt:lpstr>
      <vt:lpstr>PowerPoint 演示文稿</vt:lpstr>
      <vt:lpstr>PowerPoint 演示文稿</vt:lpstr>
      <vt:lpstr>THANK YOU FOR YOUR ATTENTATION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of Statistics</dc:title>
  <dc:creator>Dell</dc:creator>
  <cp:lastModifiedBy>Dell</cp:lastModifiedBy>
  <cp:revision>18</cp:revision>
  <dcterms:created xsi:type="dcterms:W3CDTF">2022-12-22T08:47:00Z</dcterms:created>
  <dcterms:modified xsi:type="dcterms:W3CDTF">2022-12-26T04:27:07Z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1033-11.2.0.11388</vt:lpwstr>
  </property>
  <property fmtid="{D5CDD505-2E9C-101B-9397-08002B2CF9AE}" pid="3" name="ICV">
    <vt:lpwstr>8D7343DF3B944590992694D668E8870B</vt:lpwstr>
  </property>
  <property fmtid="{D5CDD505-2E9C-101B-9397-08002B2CF9AE}" pid="4" name="ContentTypeId">
    <vt:lpwstr>0x0101006DEA2B996A095145A431990D8746F65D</vt:lpwstr>
  </property>
</Properties>
</file>