
<file path=[Content_Types].xml><?xml version="1.0" encoding="utf-8"?>
<Types xmlns="http://schemas.openxmlformats.org/package/2006/content-types">
  <Default Extension="doc" ContentType="application/msword"/>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openxmlformats.org/officeDocument/2006/relationships/customXml" Target="../customXml/item3.xml"/><Relationship Id="rId2" Type="http://schemas.openxmlformats.org/officeDocument/2006/relationships/theme" Target="theme/theme1.xml"/><Relationship Id="rId16" Type="http://schemas.openxmlformats.org/officeDocument/2006/relationships/customXml" Target="../customXml/item2.xml"/><Relationship Id="rId6" Type="http://schemas.openxmlformats.org/officeDocument/2006/relationships/slide" Target="slides/slide4.xml"/><Relationship Id="rId11" Type="http://schemas.openxmlformats.org/officeDocument/2006/relationships/slide" Target="slides/slide9.xml"/><Relationship Id="rId1" Type="http://schemas.openxmlformats.org/officeDocument/2006/relationships/slideMaster" Target="slideMasters/slideMaster1.xml"/><Relationship Id="rId5" Type="http://schemas.openxmlformats.org/officeDocument/2006/relationships/slide" Target="slides/slide3.xml"/><Relationship Id="rId15" Type="http://schemas.openxmlformats.org/officeDocument/2006/relationships/customXml" Target="../customXml/item1.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Document1.doc"/></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4205" y="1696720"/>
            <a:ext cx="10942955" cy="1557655"/>
          </a:xfrm>
        </p:spPr>
        <p:txBody>
          <a:bodyPr/>
          <a:lstStyle/>
          <a:p>
            <a:r>
              <a:rPr lang="en-US" sz="5000" b="1" dirty="0">
                <a:solidFill>
                  <a:srgbClr val="FF0000"/>
                </a:solidFill>
                <a:sym typeface="+mn-ea"/>
              </a:rPr>
              <a:t>Introduction to Mathematical Statistics</a:t>
            </a:r>
            <a:endParaRPr lang="en-US" sz="5000" b="1" dirty="0">
              <a:solidFill>
                <a:srgbClr val="FF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Probability</a:t>
            </a:r>
            <a:r>
              <a:rPr lang="en-US" dirty="0">
                <a:latin typeface="Arial" panose="020B0604020202020204" pitchFamily="34" charset="0"/>
                <a:cs typeface="Arial" panose="020B0604020202020204" pitchFamily="34" charset="0"/>
                <a:sym typeface="+mn-ea"/>
              </a:rPr>
              <a:t> </a:t>
            </a:r>
            <a:r>
              <a:rPr lang="en-US" b="1" dirty="0">
                <a:latin typeface="Arial" panose="020B0604020202020204" pitchFamily="34" charset="0"/>
                <a:cs typeface="Arial" panose="020B0604020202020204" pitchFamily="34" charset="0"/>
                <a:sym typeface="+mn-ea"/>
              </a:rPr>
              <a:t>: Basic terminology</a:t>
            </a:r>
            <a:endParaRPr lang="en-US"/>
          </a:p>
        </p:txBody>
      </p:sp>
      <p:sp>
        <p:nvSpPr>
          <p:cNvPr id="3" name="Content Placeholder 2"/>
          <p:cNvSpPr>
            <a:spLocks noGrp="1"/>
          </p:cNvSpPr>
          <p:nvPr>
            <p:ph idx="1"/>
          </p:nvPr>
        </p:nvSpPr>
        <p:spPr>
          <a:xfrm>
            <a:off x="609600" y="1095375"/>
            <a:ext cx="10972800" cy="4622800"/>
          </a:xfrm>
        </p:spPr>
        <p:txBody>
          <a:bodyPr/>
          <a:p>
            <a:pPr>
              <a:buFont typeface="Arial" panose="020B0604020202020204" pitchFamily="34" charset="0"/>
              <a:buChar char="•"/>
            </a:pPr>
            <a:r>
              <a:rPr lang="en-US" sz="1800" b="1" dirty="0">
                <a:cs typeface="+mn-lt"/>
                <a:sym typeface="+mn-ea"/>
              </a:rPr>
              <a:t>Random Experiment </a:t>
            </a:r>
            <a:r>
              <a:rPr lang="en-US" sz="1800" dirty="0">
                <a:cs typeface="+mn-lt"/>
                <a:sym typeface="+mn-ea"/>
              </a:rPr>
              <a:t>: A physical situation whose outcome cannot be predicted until it is observed. Can be repeated under identical conditions.</a:t>
            </a:r>
            <a:endParaRPr lang="en-US" sz="1800" dirty="0">
              <a:cs typeface="+mn-lt"/>
            </a:endParaRPr>
          </a:p>
          <a:p>
            <a:pPr lvl="1">
              <a:buFont typeface="Arial" panose="020B0604020202020204" pitchFamily="34" charset="0"/>
              <a:buChar char="•"/>
            </a:pPr>
            <a:r>
              <a:rPr lang="en-US" sz="1800" dirty="0">
                <a:cs typeface="+mn-lt"/>
                <a:sym typeface="+mn-ea"/>
              </a:rPr>
              <a:t>Tossing a coin, Rolling a die.</a:t>
            </a:r>
            <a:endParaRPr lang="en-US" sz="1800" dirty="0">
              <a:cs typeface="+mn-lt"/>
            </a:endParaRPr>
          </a:p>
          <a:p>
            <a:r>
              <a:rPr lang="en-US" sz="1800" b="1" dirty="0">
                <a:cs typeface="+mn-lt"/>
                <a:sym typeface="+mn-ea"/>
              </a:rPr>
              <a:t>Trial &amp; Event </a:t>
            </a:r>
            <a:r>
              <a:rPr lang="en-US" sz="1800" dirty="0">
                <a:cs typeface="+mn-lt"/>
                <a:sym typeface="+mn-ea"/>
              </a:rPr>
              <a:t>: If a random experiment is performed, it results in any one of the several possible outcomes. The experiment is known as a trial &amp; the outcomes are known as events.</a:t>
            </a:r>
            <a:endParaRPr lang="en-US" sz="1800" dirty="0">
              <a:cs typeface="+mn-lt"/>
            </a:endParaRPr>
          </a:p>
          <a:p>
            <a:pPr lvl="1">
              <a:buFont typeface="Arial" panose="020B0604020202020204" pitchFamily="34" charset="0"/>
              <a:buChar char="•"/>
            </a:pPr>
            <a:r>
              <a:rPr lang="en-US" sz="1800" dirty="0">
                <a:cs typeface="+mn-lt"/>
                <a:sym typeface="+mn-ea"/>
              </a:rPr>
              <a:t>Tossing a coin is a trial and getting head or tail is an event.</a:t>
            </a:r>
            <a:endParaRPr lang="en-US" sz="1800" dirty="0">
              <a:cs typeface="+mn-lt"/>
            </a:endParaRPr>
          </a:p>
          <a:p>
            <a:r>
              <a:rPr lang="en-US" sz="1800" b="1" dirty="0">
                <a:cs typeface="+mn-lt"/>
                <a:sym typeface="+mn-ea"/>
              </a:rPr>
              <a:t>Exhaustive events </a:t>
            </a:r>
            <a:r>
              <a:rPr lang="en-US" sz="1800" dirty="0">
                <a:cs typeface="+mn-lt"/>
                <a:sym typeface="+mn-ea"/>
              </a:rPr>
              <a:t>: The total number of possible outcomes in any trial are known as exhaustive events.</a:t>
            </a:r>
            <a:endParaRPr lang="en-US" sz="1800" dirty="0">
              <a:cs typeface="+mn-lt"/>
            </a:endParaRPr>
          </a:p>
          <a:p>
            <a:pPr lvl="1">
              <a:buFont typeface="Arial" panose="020B0604020202020204" pitchFamily="34" charset="0"/>
              <a:buChar char="•"/>
            </a:pPr>
            <a:r>
              <a:rPr lang="en-US" sz="1800" dirty="0">
                <a:cs typeface="+mn-lt"/>
                <a:sym typeface="+mn-ea"/>
              </a:rPr>
              <a:t>In drawing two cards from a pack of cards the exhaustive no. of cases is </a:t>
            </a:r>
            <a:r>
              <a:rPr lang="en-US" sz="1800" baseline="30000" dirty="0">
                <a:cs typeface="+mn-lt"/>
                <a:sym typeface="+mn-ea"/>
              </a:rPr>
              <a:t>52</a:t>
            </a:r>
            <a:r>
              <a:rPr lang="en-US" sz="1800" dirty="0">
                <a:cs typeface="+mn-lt"/>
                <a:sym typeface="+mn-ea"/>
              </a:rPr>
              <a:t>C</a:t>
            </a:r>
            <a:r>
              <a:rPr lang="en-US" sz="1800" baseline="-25000" dirty="0">
                <a:cs typeface="+mn-lt"/>
                <a:sym typeface="+mn-ea"/>
              </a:rPr>
              <a:t>2.       </a:t>
            </a:r>
            <a:endParaRPr lang="en-US" sz="1800" baseline="-25000" dirty="0">
              <a:cs typeface="+mn-lt"/>
            </a:endParaRPr>
          </a:p>
          <a:p>
            <a:r>
              <a:rPr lang="en-US" sz="1800" b="1" dirty="0">
                <a:cs typeface="+mn-lt"/>
                <a:sym typeface="+mn-ea"/>
              </a:rPr>
              <a:t>Favorable events </a:t>
            </a:r>
            <a:r>
              <a:rPr lang="en-US" sz="1800" dirty="0">
                <a:cs typeface="+mn-lt"/>
                <a:sym typeface="+mn-ea"/>
              </a:rPr>
              <a:t>: The outcomes which make necessary the happening of an event in a trial are called favorable events.</a:t>
            </a:r>
            <a:endParaRPr lang="en-US" sz="1800" dirty="0">
              <a:cs typeface="+mn-lt"/>
            </a:endParaRPr>
          </a:p>
          <a:p>
            <a:pPr lvl="1">
              <a:buFont typeface="Arial" panose="020B0604020202020204" pitchFamily="34" charset="0"/>
              <a:buChar char="•"/>
            </a:pPr>
            <a:r>
              <a:rPr lang="en-US" sz="1800" dirty="0">
                <a:cs typeface="+mn-lt"/>
                <a:sym typeface="+mn-ea"/>
              </a:rPr>
              <a:t>If two dice are thrown, the number of favorable events of getting a sum 5 is four, i.e. (1, 4), (2, 3), (3, 2) and (4, 1)  </a:t>
            </a:r>
            <a:r>
              <a:rPr lang="en-US" sz="1800" baseline="-25000" dirty="0">
                <a:cs typeface="+mn-lt"/>
                <a:sym typeface="+mn-ea"/>
              </a:rPr>
              <a:t>        </a:t>
            </a:r>
            <a:endParaRPr lang="en-US" sz="1800" baseline="-25000" dirty="0">
              <a:cs typeface="+mn-lt"/>
            </a:endParaRPr>
          </a:p>
          <a:p>
            <a:endParaRPr lang="en-US" sz="1800">
              <a:cs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Probability</a:t>
            </a:r>
            <a:r>
              <a:rPr lang="en-US" dirty="0">
                <a:latin typeface="Arial" panose="020B0604020202020204" pitchFamily="34" charset="0"/>
                <a:cs typeface="Arial" panose="020B0604020202020204" pitchFamily="34" charset="0"/>
                <a:sym typeface="+mn-ea"/>
              </a:rPr>
              <a:t> </a:t>
            </a:r>
            <a:r>
              <a:rPr lang="en-US" b="1" dirty="0">
                <a:latin typeface="Arial" panose="020B0604020202020204" pitchFamily="34" charset="0"/>
                <a:cs typeface="Arial" panose="020B0604020202020204" pitchFamily="34" charset="0"/>
                <a:sym typeface="+mn-ea"/>
              </a:rPr>
              <a:t>: Basic terminology</a:t>
            </a:r>
            <a:endParaRPr lang="en-US"/>
          </a:p>
        </p:txBody>
      </p:sp>
      <p:sp>
        <p:nvSpPr>
          <p:cNvPr id="3" name="Content Placeholder 2"/>
          <p:cNvSpPr>
            <a:spLocks noGrp="1"/>
          </p:cNvSpPr>
          <p:nvPr>
            <p:ph idx="1"/>
          </p:nvPr>
        </p:nvSpPr>
        <p:spPr/>
        <p:txBody>
          <a:bodyPr/>
          <a:p>
            <a:r>
              <a:rPr lang="en-US" sz="1800" b="1" dirty="0">
                <a:latin typeface="Arial" panose="020B0604020202020204" pitchFamily="34" charset="0"/>
                <a:cs typeface="Arial" panose="020B0604020202020204" pitchFamily="34" charset="0"/>
                <a:sym typeface="+mn-ea"/>
              </a:rPr>
              <a:t>Mutually exclusive events </a:t>
            </a:r>
            <a:r>
              <a:rPr lang="en-US" sz="1800" dirty="0">
                <a:latin typeface="Arial" panose="020B0604020202020204" pitchFamily="34" charset="0"/>
                <a:cs typeface="Arial" panose="020B0604020202020204" pitchFamily="34" charset="0"/>
                <a:sym typeface="+mn-ea"/>
              </a:rPr>
              <a:t>: Events are said to be mutually exclusive if two or more of them cannot happen simultaneously in the same trial.</a:t>
            </a:r>
            <a:endParaRPr lang="en-US" sz="1800"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In throwing a die, all the 6 faces are mutually exclusive.</a:t>
            </a:r>
            <a:endParaRPr lang="en-US" sz="1800"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Obtaining grades in exam.</a:t>
            </a:r>
            <a:endParaRPr lang="en-US" sz="1800" b="1" dirty="0">
              <a:latin typeface="Arial" panose="020B0604020202020204" pitchFamily="34" charset="0"/>
              <a:cs typeface="Arial" panose="020B0604020202020204" pitchFamily="34" charset="0"/>
              <a:sym typeface="+mn-ea"/>
            </a:endParaRPr>
          </a:p>
          <a:p>
            <a:r>
              <a:rPr lang="en-US" sz="1800" b="1" dirty="0">
                <a:latin typeface="Arial" panose="020B0604020202020204" pitchFamily="34" charset="0"/>
                <a:cs typeface="Arial" panose="020B0604020202020204" pitchFamily="34" charset="0"/>
                <a:sym typeface="+mn-ea"/>
              </a:rPr>
              <a:t>Equally likely events : </a:t>
            </a:r>
            <a:r>
              <a:rPr lang="en-US" sz="1800" dirty="0">
                <a:latin typeface="Arial" panose="020B0604020202020204" pitchFamily="34" charset="0"/>
                <a:cs typeface="Arial" panose="020B0604020202020204" pitchFamily="34" charset="0"/>
                <a:sym typeface="+mn-ea"/>
              </a:rPr>
              <a:t>Events that have the same chances of occurring are said to be equally likely.</a:t>
            </a:r>
            <a:endParaRPr lang="en-US" sz="1800"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Tossing an unbiased coin, rolling an unbiased die.</a:t>
            </a:r>
            <a:endParaRPr lang="en-US" sz="1800"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Independent events </a:t>
            </a:r>
            <a:r>
              <a:rPr lang="en-US" sz="1800" dirty="0">
                <a:latin typeface="Arial" panose="020B0604020202020204" pitchFamily="34" charset="0"/>
                <a:cs typeface="Arial" panose="020B0604020202020204" pitchFamily="34" charset="0"/>
                <a:sym typeface="+mn-ea"/>
              </a:rPr>
              <a:t>: The two events are said to be independent if the happening or not happening of one is not affected by the happening or not happening of other.</a:t>
            </a:r>
            <a:endParaRPr lang="en-US" sz="1800" dirty="0">
              <a:latin typeface="Arial" panose="020B0604020202020204" pitchFamily="34" charset="0"/>
              <a:cs typeface="Arial" panose="020B0604020202020204" pitchFamily="34" charset="0"/>
            </a:endParaRPr>
          </a:p>
          <a:p>
            <a:pPr marL="644525"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If we draw a card from a pack of well-shuffled cards and replace it before drawing the second card, the result of the second draw is independent of the first draw. But, however, if the first card drawn is not replaced then the second draw is dependent on the first draw.</a:t>
            </a:r>
            <a:endParaRPr lang="en-US" sz="1800"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Complementary events</a:t>
            </a:r>
            <a:r>
              <a:rPr lang="en-US" sz="1800" dirty="0">
                <a:latin typeface="Arial" panose="020B0604020202020204" pitchFamily="34" charset="0"/>
                <a:cs typeface="Arial" panose="020B0604020202020204" pitchFamily="34" charset="0"/>
                <a:sym typeface="+mn-ea"/>
              </a:rPr>
              <a:t> : When there are only two possible events then non happening of one implies           the happening of other. These two events are called complimentary events.</a:t>
            </a:r>
            <a:endParaRPr lang="en-US" sz="1800" dirty="0">
              <a:latin typeface="Arial" panose="020B0604020202020204" pitchFamily="34" charset="0"/>
              <a:cs typeface="Arial" panose="020B0604020202020204" pitchFamily="34" charset="0"/>
            </a:endParaRPr>
          </a:p>
          <a:p>
            <a:pPr marL="644525" lvl="1">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Getting head or tail in tossing an unbiased coin.</a:t>
            </a:r>
            <a:endParaRPr lang="en-US" sz="1800" dirty="0">
              <a:latin typeface="Arial" panose="020B0604020202020204" pitchFamily="34" charset="0"/>
              <a:cs typeface="Arial" panose="020B0604020202020204" pitchFamily="34" charset="0"/>
            </a:endParaRPr>
          </a:p>
          <a:p>
            <a:pPr>
              <a:buNone/>
            </a:pP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Probability</a:t>
            </a:r>
            <a:r>
              <a:rPr lang="en-US" dirty="0">
                <a:sym typeface="+mn-ea"/>
              </a:rPr>
              <a:t> : </a:t>
            </a:r>
            <a:r>
              <a:rPr lang="en-US" b="1" dirty="0">
                <a:latin typeface="Arial" panose="020B0604020202020204" pitchFamily="34" charset="0"/>
                <a:cs typeface="Arial" panose="020B0604020202020204" pitchFamily="34" charset="0"/>
                <a:sym typeface="+mn-ea"/>
              </a:rPr>
              <a:t>Definition (Mathematical Approach)</a:t>
            </a:r>
            <a:endParaRPr lang="en-US"/>
          </a:p>
        </p:txBody>
      </p:sp>
      <p:sp>
        <p:nvSpPr>
          <p:cNvPr id="3" name="Content Placeholder 2"/>
          <p:cNvSpPr>
            <a:spLocks noGrp="1"/>
          </p:cNvSpPr>
          <p:nvPr>
            <p:ph idx="1"/>
          </p:nvPr>
        </p:nvSpPr>
        <p:spPr/>
        <p:txBody>
          <a:bodyPr/>
          <a:p>
            <a:r>
              <a:rPr lang="en-US" sz="1800" b="1" dirty="0">
                <a:latin typeface="Arial" panose="020B0604020202020204" pitchFamily="34" charset="0"/>
                <a:cs typeface="Arial" panose="020B0604020202020204" pitchFamily="34" charset="0"/>
                <a:sym typeface="+mn-ea"/>
              </a:rPr>
              <a:t>Definition :</a:t>
            </a:r>
            <a:r>
              <a:rPr lang="en-US" sz="1800" dirty="0">
                <a:latin typeface="Arial" panose="020B0604020202020204" pitchFamily="34" charset="0"/>
                <a:cs typeface="Arial" panose="020B0604020202020204" pitchFamily="34" charset="0"/>
                <a:sym typeface="+mn-ea"/>
              </a:rPr>
              <a:t> If a trial results in n exhaustive, mutually exclusive and equally</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likely cases and m of them are favorable to the happening of an event E. </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Then the probability 'p' of happening of event E is given by</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         p =  P (E) = Favorable no. of cases / Exhaustive no. of cases  =  m / n</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Example : p(getting head in a toss) = 1/2</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
        <p:nvSpPr>
          <p:cNvPr id="4" name="Text Box 3"/>
          <p:cNvSpPr txBox="1"/>
          <p:nvPr/>
        </p:nvSpPr>
        <p:spPr>
          <a:xfrm>
            <a:off x="609600" y="3178175"/>
            <a:ext cx="5059680" cy="2861310"/>
          </a:xfrm>
          <a:prstGeom prst="rect">
            <a:avLst/>
          </a:prstGeom>
          <a:noFill/>
        </p:spPr>
        <p:txBody>
          <a:bodyPr wrap="square" rtlCol="0">
            <a:spAutoFit/>
          </a:bodyPr>
          <a:p>
            <a:r>
              <a:rPr lang="en-US" b="1" dirty="0">
                <a:latin typeface="Arial" panose="020B0604020202020204" pitchFamily="34" charset="0"/>
                <a:cs typeface="Arial" panose="020B0604020202020204" pitchFamily="34" charset="0"/>
                <a:sym typeface="+mn-ea"/>
              </a:rPr>
              <a:t>Properties : </a:t>
            </a:r>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sym typeface="+mn-ea"/>
              </a:rPr>
              <a:t>  0 ≤ P ≤ 1 </a:t>
            </a:r>
            <a:r>
              <a:rPr lang="en-US" b="1" dirty="0">
                <a:latin typeface="Arial" panose="020B0604020202020204" pitchFamily="34" charset="0"/>
                <a:cs typeface="Arial" panose="020B0604020202020204" pitchFamily="34" charset="0"/>
                <a:sym typeface="+mn-ea"/>
              </a:rPr>
              <a:t>: </a:t>
            </a:r>
            <a:r>
              <a:rPr lang="en-US" dirty="0">
                <a:latin typeface="Arial" panose="020B0604020202020204" pitchFamily="34" charset="0"/>
                <a:cs typeface="Arial" panose="020B0604020202020204" pitchFamily="34" charset="0"/>
                <a:sym typeface="+mn-ea"/>
              </a:rPr>
              <a:t>Probability of an event lies between 0 &amp; 1.</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sym typeface="+mn-ea"/>
              </a:rPr>
              <a:t>  Probability of a certain event is 1 &amp; Probability of an impossible event is always 0.</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sym typeface="+mn-ea"/>
              </a:rPr>
              <a:t>  The sum of probabilities of all exhaustive cases is always equal to 1. </a:t>
            </a:r>
            <a:endParaRPr lang="en-US" b="1" dirty="0">
              <a:latin typeface="Arial" panose="020B0604020202020204" pitchFamily="34" charset="0"/>
              <a:cs typeface="Arial" panose="020B0604020202020204" pitchFamily="34" charset="0"/>
            </a:endParaRPr>
          </a:p>
          <a:p>
            <a:pPr marL="285750" indent="-285750">
              <a:buNone/>
            </a:pPr>
            <a:endParaRPr lang="en-US" dirty="0">
              <a:latin typeface="Verdana" panose="020B0604030504040204" pitchFamily="34" charset="0"/>
              <a:ea typeface="Verdana" panose="020B0604030504040204" pitchFamily="34" charset="0"/>
              <a:cs typeface="Verdana" panose="020B0604030504040204" pitchFamily="34" charset="0"/>
            </a:endParaRPr>
          </a:p>
          <a:p>
            <a:endParaRPr lang="en-US"/>
          </a:p>
        </p:txBody>
      </p:sp>
      <p:pic>
        <p:nvPicPr>
          <p:cNvPr id="5" name="Picture 4"/>
          <p:cNvPicPr>
            <a:picLocks noChangeAspect="1"/>
          </p:cNvPicPr>
          <p:nvPr/>
        </p:nvPicPr>
        <p:blipFill>
          <a:blip r:embed="rId1"/>
          <a:stretch>
            <a:fillRect/>
          </a:stretch>
        </p:blipFill>
        <p:spPr>
          <a:xfrm>
            <a:off x="5946140" y="3178175"/>
            <a:ext cx="4788535" cy="2819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Basic terminology in terms of probability </a:t>
            </a:r>
            <a:endParaRPr lang="en-US"/>
          </a:p>
        </p:txBody>
      </p:sp>
      <p:sp>
        <p:nvSpPr>
          <p:cNvPr id="3" name="Content Placeholder 2"/>
          <p:cNvSpPr>
            <a:spLocks noGrp="1"/>
          </p:cNvSpPr>
          <p:nvPr>
            <p:ph idx="1"/>
          </p:nvPr>
        </p:nvSpPr>
        <p:spPr/>
        <p:txBody>
          <a:bodyPr/>
          <a:p>
            <a:r>
              <a:rPr lang="en-US" sz="1800" dirty="0">
                <a:latin typeface="Arial" panose="020B0604020202020204" pitchFamily="34" charset="0"/>
                <a:ea typeface="Verdana" panose="020B0604030504040204" pitchFamily="34" charset="0"/>
                <a:cs typeface="Arial" panose="020B0604020202020204" pitchFamily="34" charset="0"/>
                <a:sym typeface="+mn-ea"/>
              </a:rPr>
              <a:t>Let A &amp; B are two events which belongs to subspace S :</a:t>
            </a:r>
            <a:endParaRPr lang="en-US" sz="1800" dirty="0">
              <a:latin typeface="Arial" panose="020B0604020202020204" pitchFamily="34" charset="0"/>
              <a:ea typeface="Verdana" panose="020B0604030504040204" pitchFamily="34" charset="0"/>
              <a:cs typeface="Arial" panose="020B0604020202020204" pitchFamily="34" charset="0"/>
            </a:endParaRPr>
          </a:p>
          <a:p>
            <a:endParaRPr lang="en-US" sz="1800"/>
          </a:p>
        </p:txBody>
      </p:sp>
      <p:graphicFrame>
        <p:nvGraphicFramePr>
          <p:cNvPr id="4" name="Content Placeholder 3"/>
          <p:cNvGraphicFramePr>
            <a:graphicFrameLocks noGrp="1"/>
          </p:cNvGraphicFramePr>
          <p:nvPr>
            <p:ph idx="10"/>
          </p:nvPr>
        </p:nvGraphicFramePr>
        <p:xfrm>
          <a:off x="2285365" y="1976755"/>
          <a:ext cx="6004520" cy="2742580"/>
        </p:xfrm>
        <a:graphic>
          <a:graphicData uri="http://schemas.openxmlformats.org/drawingml/2006/table">
            <a:tbl>
              <a:tblPr firstRow="1" bandRow="1">
                <a:tableStyleId>{5C22544A-7EE6-4342-B048-85BDC9FD1C3A}</a:tableStyleId>
              </a:tblPr>
              <a:tblGrid>
                <a:gridCol w="3002260"/>
                <a:gridCol w="3002260"/>
              </a:tblGrid>
              <a:tr h="533400">
                <a:tc>
                  <a:txBody>
                    <a:bodyPr/>
                    <a:p>
                      <a:pPr algn="ctr">
                        <a:lnSpc>
                          <a:spcPct val="150000"/>
                        </a:lnSpc>
                      </a:pPr>
                      <a:r>
                        <a:rPr lang="en-US" sz="1800" dirty="0">
                          <a:latin typeface="Arial" panose="020B0604020202020204" pitchFamily="34" charset="0"/>
                          <a:cs typeface="Arial" panose="020B0604020202020204" pitchFamily="34" charset="0"/>
                        </a:rPr>
                        <a:t>Events</a:t>
                      </a:r>
                      <a:endParaRPr lang="en-US" sz="1800" dirty="0">
                        <a:latin typeface="Arial" panose="020B0604020202020204" pitchFamily="34" charset="0"/>
                        <a:cs typeface="Arial" panose="020B0604020202020204" pitchFamily="34" charset="0"/>
                      </a:endParaRPr>
                    </a:p>
                  </a:txBody>
                  <a:tcPr/>
                </a:tc>
                <a:tc>
                  <a:txBody>
                    <a:bodyPr/>
                    <a:p>
                      <a:pPr algn="ctr">
                        <a:lnSpc>
                          <a:spcPct val="150000"/>
                        </a:lnSpc>
                      </a:pPr>
                      <a:r>
                        <a:rPr lang="en-US" sz="1800" dirty="0">
                          <a:latin typeface="Arial" panose="020B0604020202020204" pitchFamily="34" charset="0"/>
                          <a:cs typeface="Arial" panose="020B0604020202020204" pitchFamily="34" charset="0"/>
                        </a:rPr>
                        <a:t>Mathematical Expression</a:t>
                      </a:r>
                      <a:endParaRPr lang="en-US" sz="1800" dirty="0">
                        <a:latin typeface="Arial" panose="020B0604020202020204" pitchFamily="34" charset="0"/>
                        <a:cs typeface="Arial" panose="020B0604020202020204" pitchFamily="34" charset="0"/>
                      </a:endParaRPr>
                    </a:p>
                  </a:txBody>
                  <a:tcPr/>
                </a:tc>
              </a:tr>
              <a:tr h="441836">
                <a:tc>
                  <a:txBody>
                    <a:bodyPr/>
                    <a:p>
                      <a:pPr algn="ctr"/>
                      <a:r>
                        <a:rPr lang="en-US" sz="1800" dirty="0">
                          <a:latin typeface="Arial" panose="020B0604020202020204" pitchFamily="34" charset="0"/>
                          <a:cs typeface="Arial" panose="020B0604020202020204" pitchFamily="34" charset="0"/>
                        </a:rPr>
                        <a:t>Exhaustive</a:t>
                      </a:r>
                      <a:endParaRPr lang="en-US" sz="1800" dirty="0">
                        <a:latin typeface="Arial" panose="020B0604020202020204" pitchFamily="34" charset="0"/>
                        <a:cs typeface="Arial" panose="020B0604020202020204" pitchFamily="34" charset="0"/>
                      </a:endParaRPr>
                    </a:p>
                  </a:txBody>
                  <a:tcPr/>
                </a:tc>
                <a:tc>
                  <a:txBody>
                    <a:bodyPr/>
                    <a:p>
                      <a:pPr algn="ctr"/>
                      <a:r>
                        <a:rPr lang="en-US" sz="1800" dirty="0">
                          <a:latin typeface="Arial" panose="020B0604020202020204" pitchFamily="34" charset="0"/>
                          <a:cs typeface="Arial" panose="020B0604020202020204" pitchFamily="34" charset="0"/>
                        </a:rPr>
                        <a:t> A </a:t>
                      </a:r>
                      <a:r>
                        <a:rPr lang="en-US" sz="1800" dirty="0">
                          <a:latin typeface="Arial" panose="020B0604020202020204" pitchFamily="34" charset="0"/>
                          <a:cs typeface="Arial" panose="020B0604020202020204" pitchFamily="34" charset="0"/>
                        </a:rPr>
                        <a:t>Ս</a:t>
                      </a:r>
                      <a:r>
                        <a:rPr lang="en-US" sz="1800" dirty="0">
                          <a:latin typeface="Arial" panose="020B0604020202020204" pitchFamily="34" charset="0"/>
                          <a:cs typeface="Arial" panose="020B0604020202020204" pitchFamily="34" charset="0"/>
                        </a:rPr>
                        <a:t> B = S</a:t>
                      </a:r>
                      <a:endParaRPr lang="en-US" sz="1800" dirty="0">
                        <a:latin typeface="Arial" panose="020B0604020202020204" pitchFamily="34" charset="0"/>
                        <a:cs typeface="Arial" panose="020B0604020202020204" pitchFamily="34" charset="0"/>
                      </a:endParaRPr>
                    </a:p>
                  </a:txBody>
                  <a:tcPr/>
                </a:tc>
              </a:tr>
              <a:tr h="441836">
                <a:tc>
                  <a:txBody>
                    <a:bodyPr/>
                    <a:p>
                      <a:pPr algn="ctr"/>
                      <a:r>
                        <a:rPr lang="en-US" sz="1800" dirty="0">
                          <a:latin typeface="Arial" panose="020B0604020202020204" pitchFamily="34" charset="0"/>
                          <a:cs typeface="Arial" panose="020B0604020202020204" pitchFamily="34" charset="0"/>
                        </a:rPr>
                        <a:t>Mutually Exclusive </a:t>
                      </a:r>
                      <a:endParaRPr lang="en-US" sz="1800" dirty="0">
                        <a:latin typeface="Arial" panose="020B0604020202020204" pitchFamily="34" charset="0"/>
                        <a:cs typeface="Arial" panose="020B0604020202020204" pitchFamily="34" charset="0"/>
                      </a:endParaRPr>
                    </a:p>
                  </a:txBody>
                  <a:tcPr/>
                </a:tc>
                <a:tc>
                  <a:txBody>
                    <a:bodyPr/>
                    <a:p>
                      <a:pPr algn="ctr"/>
                      <a:r>
                        <a:rPr lang="en-US" sz="1800" dirty="0">
                          <a:latin typeface="Arial" panose="020B0604020202020204" pitchFamily="34" charset="0"/>
                          <a:cs typeface="Arial" panose="020B0604020202020204" pitchFamily="34" charset="0"/>
                        </a:rPr>
                        <a:t>P (A </a:t>
                      </a:r>
                      <a:r>
                        <a:rPr lang="en-US" sz="1800" dirty="0">
                          <a:latin typeface="Arial" panose="020B0604020202020204" pitchFamily="34" charset="0"/>
                          <a:cs typeface="Arial" panose="020B0604020202020204" pitchFamily="34" charset="0"/>
                        </a:rPr>
                        <a:t>Ո</a:t>
                      </a:r>
                      <a:r>
                        <a:rPr lang="en-US" sz="1800" dirty="0">
                          <a:latin typeface="Arial" panose="020B0604020202020204" pitchFamily="34" charset="0"/>
                          <a:cs typeface="Arial" panose="020B0604020202020204" pitchFamily="34" charset="0"/>
                        </a:rPr>
                        <a:t> B) = 0</a:t>
                      </a:r>
                      <a:endParaRPr lang="en-US" sz="1800" dirty="0">
                        <a:latin typeface="Arial" panose="020B0604020202020204" pitchFamily="34" charset="0"/>
                        <a:cs typeface="Arial" panose="020B0604020202020204" pitchFamily="34" charset="0"/>
                      </a:endParaRPr>
                    </a:p>
                  </a:txBody>
                  <a:tcPr/>
                </a:tc>
              </a:tr>
              <a:tr h="441836">
                <a:tc>
                  <a:txBody>
                    <a:bodyPr/>
                    <a:p>
                      <a:pPr algn="ctr"/>
                      <a:r>
                        <a:rPr lang="en-US" sz="1800" dirty="0">
                          <a:latin typeface="Arial" panose="020B0604020202020204" pitchFamily="34" charset="0"/>
                          <a:cs typeface="Arial" panose="020B0604020202020204" pitchFamily="34" charset="0"/>
                        </a:rPr>
                        <a:t>Equally likely</a:t>
                      </a:r>
                      <a:endParaRPr lang="en-US" sz="1800" dirty="0">
                        <a:latin typeface="Arial" panose="020B0604020202020204" pitchFamily="34" charset="0"/>
                        <a:cs typeface="Arial" panose="020B0604020202020204" pitchFamily="34" charset="0"/>
                      </a:endParaRPr>
                    </a:p>
                  </a:txBody>
                  <a:tcPr/>
                </a:tc>
                <a:tc>
                  <a:txBody>
                    <a:bodyPr/>
                    <a:p>
                      <a:pPr algn="ctr"/>
                      <a:r>
                        <a:rPr lang="en-US" sz="1800" dirty="0">
                          <a:latin typeface="Arial" panose="020B0604020202020204" pitchFamily="34" charset="0"/>
                          <a:cs typeface="Arial" panose="020B0604020202020204" pitchFamily="34" charset="0"/>
                        </a:rPr>
                        <a:t>P (A) = P (B)</a:t>
                      </a:r>
                      <a:endParaRPr lang="en-US" sz="1800" dirty="0">
                        <a:latin typeface="Arial" panose="020B0604020202020204" pitchFamily="34" charset="0"/>
                        <a:cs typeface="Arial" panose="020B0604020202020204" pitchFamily="34" charset="0"/>
                      </a:endParaRPr>
                    </a:p>
                  </a:txBody>
                  <a:tcPr/>
                </a:tc>
              </a:tr>
              <a:tr h="441836">
                <a:tc>
                  <a:txBody>
                    <a:bodyPr/>
                    <a:p>
                      <a:pPr algn="ctr"/>
                      <a:r>
                        <a:rPr lang="en-US" sz="1800" dirty="0">
                          <a:latin typeface="Arial" panose="020B0604020202020204" pitchFamily="34" charset="0"/>
                          <a:cs typeface="Arial" panose="020B0604020202020204" pitchFamily="34" charset="0"/>
                        </a:rPr>
                        <a:t>Independent</a:t>
                      </a:r>
                      <a:endParaRPr lang="en-US" sz="1800" dirty="0">
                        <a:latin typeface="Arial" panose="020B0604020202020204" pitchFamily="34" charset="0"/>
                        <a:cs typeface="Arial" panose="020B0604020202020204" pitchFamily="34" charset="0"/>
                      </a:endParaRPr>
                    </a:p>
                  </a:txBody>
                  <a:tcPr/>
                </a:tc>
                <a:tc>
                  <a:txBody>
                    <a:bodyPr/>
                    <a:p>
                      <a:pPr algn="ctr"/>
                      <a:r>
                        <a:rPr lang="en-US" sz="1800" dirty="0">
                          <a:latin typeface="Arial" panose="020B0604020202020204" pitchFamily="34" charset="0"/>
                          <a:cs typeface="Arial" panose="020B0604020202020204" pitchFamily="34" charset="0"/>
                        </a:rPr>
                        <a:t>P (A </a:t>
                      </a:r>
                      <a:r>
                        <a:rPr lang="en-US" sz="1800" dirty="0">
                          <a:latin typeface="Arial" panose="020B0604020202020204" pitchFamily="34" charset="0"/>
                          <a:cs typeface="Arial" panose="020B0604020202020204" pitchFamily="34" charset="0"/>
                        </a:rPr>
                        <a:t>Ո</a:t>
                      </a:r>
                      <a:r>
                        <a:rPr lang="en-US" sz="1800" dirty="0">
                          <a:latin typeface="Arial" panose="020B0604020202020204" pitchFamily="34" charset="0"/>
                          <a:cs typeface="Arial" panose="020B0604020202020204" pitchFamily="34" charset="0"/>
                        </a:rPr>
                        <a:t> B) = P (A) . P (B)</a:t>
                      </a:r>
                      <a:endParaRPr lang="en-US" sz="1800" dirty="0">
                        <a:latin typeface="Arial" panose="020B0604020202020204" pitchFamily="34" charset="0"/>
                        <a:cs typeface="Arial" panose="020B0604020202020204" pitchFamily="34" charset="0"/>
                      </a:endParaRPr>
                    </a:p>
                  </a:txBody>
                  <a:tcPr/>
                </a:tc>
              </a:tr>
              <a:tr h="441836">
                <a:tc>
                  <a:txBody>
                    <a:bodyPr/>
                    <a:p>
                      <a:pPr algn="ctr"/>
                      <a:r>
                        <a:rPr lang="en-US" sz="1800" dirty="0">
                          <a:latin typeface="Arial" panose="020B0604020202020204" pitchFamily="34" charset="0"/>
                          <a:cs typeface="Arial" panose="020B0604020202020204" pitchFamily="34" charset="0"/>
                        </a:rPr>
                        <a:t>complimentary</a:t>
                      </a:r>
                      <a:endParaRPr lang="en-US" sz="1800" dirty="0">
                        <a:latin typeface="Arial" panose="020B0604020202020204" pitchFamily="34" charset="0"/>
                        <a:cs typeface="Arial" panose="020B0604020202020204" pitchFamily="34" charset="0"/>
                      </a:endParaRPr>
                    </a:p>
                  </a:txBody>
                  <a:tcPr/>
                </a:tc>
                <a:tc>
                  <a:txBody>
                    <a:bodyPr/>
                    <a:p>
                      <a:pPr algn="ctr"/>
                      <a:r>
                        <a:rPr lang="en-US" sz="1800" dirty="0">
                          <a:latin typeface="Arial" panose="020B0604020202020204" pitchFamily="34" charset="0"/>
                          <a:cs typeface="Arial" panose="020B0604020202020204" pitchFamily="34" charset="0"/>
                        </a:rPr>
                        <a:t>P (A) = 1 – P (B)</a:t>
                      </a:r>
                      <a:endParaRPr lang="en-US" sz="1800" dirty="0">
                        <a:latin typeface="Arial" panose="020B0604020202020204" pitchFamily="34" charset="0"/>
                        <a:cs typeface="Arial" panose="020B0604020202020204" pitchFamily="3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Conditional Probability</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p>
                <a:r>
                  <a:rPr lang="en-US" sz="1800" dirty="0">
                    <a:latin typeface="Arial" panose="020B0604020202020204" pitchFamily="34" charset="0"/>
                    <a:cs typeface="Arial" panose="020B0604020202020204" pitchFamily="34" charset="0"/>
                    <a:sym typeface="+mn-ea"/>
                  </a:rPr>
                  <a:t>Conditional Probability is a measure of the probability of an event given that another event has already occurred.</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The conditional probability of event A given that event B has already occurred is</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                                                               P(A|B) = </a:t>
                </a:r>
                <a14:m>
                  <m:oMath xmlns:m="http://schemas.openxmlformats.org/officeDocument/2006/math">
                    <m:f>
                      <m:fPr>
                        <m:ctrlPr>
                          <a:rPr lang="en-US" sz="1800" i="1" smtClean="0">
                            <a:latin typeface="Cambria Math" panose="02040503050406030204" pitchFamily="18" charset="0"/>
                          </a:rPr>
                        </m:ctrlPr>
                      </m:fPr>
                      <m:num>
                        <m:r>
                          <m:rPr>
                            <m:nor/>
                          </m:rPr>
                          <a:rPr lang="en-US" sz="1800" dirty="0">
                            <a:latin typeface="Arial" panose="020B0604020202020204" pitchFamily="34" charset="0"/>
                            <a:cs typeface="Arial" panose="020B0604020202020204" pitchFamily="34" charset="0"/>
                          </a:rPr>
                          <m:t>P</m:t>
                        </m:r>
                        <m:r>
                          <m:rPr>
                            <m:nor/>
                          </m:rPr>
                          <a:rPr lang="en-US" sz="1800" dirty="0">
                            <a:latin typeface="Arial" panose="020B0604020202020204" pitchFamily="34" charset="0"/>
                            <a:cs typeface="Arial" panose="020B0604020202020204" pitchFamily="34" charset="0"/>
                          </a:rPr>
                          <m:t>(</m:t>
                        </m:r>
                        <m:r>
                          <m:rPr>
                            <m:nor/>
                          </m:rPr>
                          <a:rPr lang="en-US" sz="1800" dirty="0">
                            <a:latin typeface="Arial" panose="020B0604020202020204" pitchFamily="34" charset="0"/>
                            <a:cs typeface="Arial" panose="020B0604020202020204" pitchFamily="34" charset="0"/>
                          </a:rPr>
                          <m:t>A</m:t>
                        </m:r>
                        <m:r>
                          <m:rPr>
                            <m:nor/>
                          </m:rPr>
                          <a:rPr lang="en-US" sz="1800" dirty="0">
                            <a:latin typeface="Arial" panose="020B0604020202020204" pitchFamily="34" charset="0"/>
                            <a:cs typeface="Arial" panose="020B0604020202020204" pitchFamily="34" charset="0"/>
                          </a:rPr>
                          <m:t>Ո</m:t>
                        </m:r>
                        <m:r>
                          <m:rPr>
                            <m:nor/>
                          </m:rPr>
                          <a:rPr lang="en-US" sz="1800" dirty="0">
                            <a:latin typeface="Arial" panose="020B0604020202020204" pitchFamily="34" charset="0"/>
                            <a:cs typeface="Arial" panose="020B0604020202020204" pitchFamily="34" charset="0"/>
                          </a:rPr>
                          <m:t>B</m:t>
                        </m:r>
                        <m:r>
                          <m:rPr>
                            <m:nor/>
                          </m:rPr>
                          <a:rPr lang="en-US" sz="1800" dirty="0">
                            <a:latin typeface="Arial" panose="020B0604020202020204" pitchFamily="34" charset="0"/>
                            <a:cs typeface="Arial" panose="020B0604020202020204" pitchFamily="34" charset="0"/>
                          </a:rPr>
                          <m:t>)</m:t>
                        </m:r>
                      </m:num>
                      <m:den>
                        <m:r>
                          <m:rPr>
                            <m:nor/>
                          </m:rPr>
                          <a:rPr lang="en-US" sz="1800" dirty="0">
                            <a:latin typeface="Arial" panose="020B0604020202020204" pitchFamily="34" charset="0"/>
                            <a:cs typeface="Arial" panose="020B0604020202020204" pitchFamily="34" charset="0"/>
                          </a:rPr>
                          <m:t>P</m:t>
                        </m:r>
                        <m:r>
                          <m:rPr>
                            <m:nor/>
                          </m:rPr>
                          <a:rPr lang="en-US" sz="1800" dirty="0">
                            <a:latin typeface="Arial" panose="020B0604020202020204" pitchFamily="34" charset="0"/>
                            <a:cs typeface="Arial" panose="020B0604020202020204" pitchFamily="34" charset="0"/>
                          </a:rPr>
                          <m:t>(</m:t>
                        </m:r>
                        <m:r>
                          <m:rPr>
                            <m:nor/>
                          </m:rPr>
                          <a:rPr lang="en-US" sz="1800" dirty="0">
                            <a:latin typeface="Arial" panose="020B0604020202020204" pitchFamily="34" charset="0"/>
                            <a:cs typeface="Arial" panose="020B0604020202020204" pitchFamily="34" charset="0"/>
                          </a:rPr>
                          <m:t>B</m:t>
                        </m:r>
                        <m:r>
                          <m:rPr>
                            <m:nor/>
                          </m:rPr>
                          <a:rPr lang="en-US" sz="1800" dirty="0">
                            <a:latin typeface="Arial" panose="020B0604020202020204" pitchFamily="34" charset="0"/>
                            <a:cs typeface="Arial" panose="020B0604020202020204" pitchFamily="34" charset="0"/>
                          </a:rPr>
                          <m:t>)</m:t>
                        </m:r>
                      </m:den>
                    </m:f>
                  </m:oMath>
                </a14:m>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Example </a:t>
                </a:r>
                <a:r>
                  <a:rPr lang="en-US" sz="1800" dirty="0">
                    <a:latin typeface="Arial" panose="020B0604020202020204" pitchFamily="34" charset="0"/>
                    <a:cs typeface="Arial" panose="020B0604020202020204" pitchFamily="34" charset="0"/>
                    <a:sym typeface="+mn-ea"/>
                  </a:rPr>
                  <a:t>:  In a group of individuals 70% like chocolate, and 35% like chocolate &amp; strawberry. Then the probability of a person selected at random will like chocolate when he already like strawberry is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                                                               0.35/0.70 = 0.5 </a:t>
                </a:r>
                <a:endParaRPr lang="en-US" sz="1800" dirty="0">
                  <a:latin typeface="Arial" panose="020B0604020202020204" pitchFamily="34" charset="0"/>
                  <a:cs typeface="Arial" panose="020B0604020202020204" pitchFamily="34" charset="0"/>
                </a:endParaRPr>
              </a:p>
              <a:p>
                <a:endParaRPr lang="en-US" sz="180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Probability</a:t>
            </a:r>
            <a:r>
              <a:rPr lang="en-US" dirty="0">
                <a:sym typeface="+mn-ea"/>
              </a:rPr>
              <a:t> : </a:t>
            </a:r>
            <a:r>
              <a:rPr lang="en-US" b="1" dirty="0">
                <a:latin typeface="Arial" panose="020B0604020202020204" pitchFamily="34" charset="0"/>
                <a:cs typeface="Arial" panose="020B0604020202020204" pitchFamily="34" charset="0"/>
                <a:sym typeface="+mn-ea"/>
              </a:rPr>
              <a:t>Limitations</a:t>
            </a:r>
            <a:endParaRPr lang="en-US"/>
          </a:p>
        </p:txBody>
      </p:sp>
      <p:sp>
        <p:nvSpPr>
          <p:cNvPr id="3" name="Content Placeholder 2"/>
          <p:cNvSpPr>
            <a:spLocks noGrp="1"/>
          </p:cNvSpPr>
          <p:nvPr>
            <p:ph idx="1"/>
          </p:nvPr>
        </p:nvSpPr>
        <p:spPr/>
        <p:txBody>
          <a:bodyPr/>
          <a:p>
            <a:r>
              <a:rPr lang="en-US" sz="1800" dirty="0">
                <a:latin typeface="Arial" panose="020B0604020202020204" pitchFamily="34" charset="0"/>
                <a:cs typeface="Arial" panose="020B0604020202020204" pitchFamily="34" charset="0"/>
                <a:sym typeface="+mn-ea"/>
              </a:rPr>
              <a:t>The Previous approach of probability doesn’t work if :</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The various outcomes of the trial are not equally likely. </a:t>
            </a:r>
            <a:endParaRPr lang="en-US" sz="1800" dirty="0">
              <a:latin typeface="Arial" panose="020B0604020202020204" pitchFamily="34" charset="0"/>
              <a:cs typeface="Arial" panose="020B0604020202020204" pitchFamily="34" charset="0"/>
            </a:endParaRPr>
          </a:p>
          <a:p>
            <a:pPr lvl="2"/>
            <a:r>
              <a:rPr lang="en-US" sz="1800" dirty="0">
                <a:latin typeface="Arial" panose="020B0604020202020204" pitchFamily="34" charset="0"/>
                <a:cs typeface="Arial" panose="020B0604020202020204" pitchFamily="34" charset="0"/>
                <a:sym typeface="+mn-ea"/>
              </a:rPr>
              <a:t>Probability that a candidate will pass in a certain test is not 50% since the two possible outcomes, success and failure are not equally likely.</a:t>
            </a:r>
            <a:endParaRPr lang="en-US" sz="1800" dirty="0">
              <a:latin typeface="Arial" panose="020B0604020202020204" pitchFamily="34" charset="0"/>
              <a:cs typeface="Arial" panose="020B0604020202020204" pitchFamily="34" charset="0"/>
            </a:endParaRPr>
          </a:p>
          <a:p>
            <a:pPr lvl="2"/>
            <a:r>
              <a:rPr lang="en-US" sz="1800" dirty="0">
                <a:latin typeface="Arial" panose="020B0604020202020204" pitchFamily="34" charset="0"/>
                <a:cs typeface="Arial" panose="020B0604020202020204" pitchFamily="34" charset="0"/>
                <a:sym typeface="+mn-ea"/>
              </a:rPr>
              <a:t>The probability of falling a ceiling fan is not 50% since the two possible outcomes, falling &amp; not falling are not equally likely.</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The exhaustive number of cases in a trial is infinite.</a:t>
            </a:r>
            <a:endParaRPr lang="en-US" sz="1800" dirty="0">
              <a:latin typeface="Arial" panose="020B0604020202020204" pitchFamily="34" charset="0"/>
              <a:cs typeface="Arial" panose="020B0604020202020204" pitchFamily="34" charset="0"/>
            </a:endParaRPr>
          </a:p>
          <a:p>
            <a:pPr lvl="2"/>
            <a:r>
              <a:rPr lang="en-US" sz="1800" dirty="0">
                <a:latin typeface="Arial" panose="020B0604020202020204" pitchFamily="34" charset="0"/>
                <a:cs typeface="Arial" panose="020B0604020202020204" pitchFamily="34" charset="0"/>
                <a:sym typeface="+mn-ea"/>
              </a:rPr>
              <a:t>Choosing a number form the set of all natural numbers.</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Arial" panose="020B0604020202020204" pitchFamily="34" charset="0"/>
                <a:cs typeface="Arial" panose="020B0604020202020204" pitchFamily="34" charset="0"/>
                <a:sym typeface="+mn-ea"/>
              </a:rPr>
              <a:t>Probability : Subjective Approach</a:t>
            </a:r>
            <a:endParaRPr lang="en-US"/>
          </a:p>
        </p:txBody>
      </p:sp>
      <p:sp>
        <p:nvSpPr>
          <p:cNvPr id="3" name="Content Placeholder 2"/>
          <p:cNvSpPr>
            <a:spLocks noGrp="1"/>
          </p:cNvSpPr>
          <p:nvPr>
            <p:ph idx="1"/>
          </p:nvPr>
        </p:nvSpPr>
        <p:spPr/>
        <p:txBody>
          <a:bodyPr/>
          <a:p>
            <a:r>
              <a:rPr lang="en-US" sz="1800" b="1" dirty="0">
                <a:latin typeface="Arial" panose="020B0604020202020204" pitchFamily="34" charset="0"/>
                <a:cs typeface="Arial" panose="020B0604020202020204" pitchFamily="34" charset="0"/>
                <a:sym typeface="+mn-ea"/>
              </a:rPr>
              <a:t>Subjective Probability </a:t>
            </a:r>
            <a:r>
              <a:rPr lang="en-US" sz="1800" dirty="0">
                <a:latin typeface="Arial" panose="020B0604020202020204" pitchFamily="34" charset="0"/>
                <a:cs typeface="Arial" panose="020B0604020202020204" pitchFamily="34" charset="0"/>
                <a:sym typeface="+mn-ea"/>
              </a:rPr>
              <a:t>: Subjective probability is a type of probability derived from an individual's personal judgment about whether a specific outcome is likely to occur. It contains no formal calculations and only reflects the subject's opinions and past experience.</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For example : If someone standing on a bus stop and he said that he has to wait for at least 10 minutes for the bus according to his past experience.</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r>
              <a:rPr lang="en-US" sz="1800" b="1" dirty="0">
                <a:solidFill>
                  <a:schemeClr val="tx1"/>
                </a:solidFill>
                <a:latin typeface="Arial" panose="020B0604020202020204" pitchFamily="34" charset="0"/>
                <a:cs typeface="Arial" panose="020B0604020202020204" pitchFamily="34" charset="0"/>
                <a:sym typeface="+mn-ea"/>
              </a:rPr>
              <a:t>Applications &amp; Exercise</a:t>
            </a:r>
            <a:r>
              <a:rPr lang="en-US" sz="1800" b="1" dirty="0">
                <a:solidFill>
                  <a:srgbClr val="92D050"/>
                </a:solidFill>
                <a:latin typeface="Arial" panose="020B0604020202020204" pitchFamily="34" charset="0"/>
                <a:cs typeface="Arial" panose="020B0604020202020204" pitchFamily="34" charset="0"/>
                <a:sym typeface="+mn-ea"/>
              </a:rPr>
              <a:t> </a:t>
            </a:r>
            <a:r>
              <a:rPr lang="en-US" sz="1800" b="1"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Some numerical examples of probability are shown in the following file:</a:t>
            </a:r>
            <a:endParaRPr lang="en-US" sz="1800" dirty="0">
              <a:latin typeface="Arial" panose="020B0604020202020204" pitchFamily="34" charset="0"/>
              <a:cs typeface="Arial" panose="020B0604020202020204" pitchFamily="34" charset="0"/>
              <a:sym typeface="+mn-ea"/>
            </a:endParaRPr>
          </a:p>
          <a:p>
            <a:endParaRPr lang="en-US" sz="1800"/>
          </a:p>
        </p:txBody>
      </p:sp>
      <p:graphicFrame>
        <p:nvGraphicFramePr>
          <p:cNvPr id="9" name="Content Placeholder 8">
            <a:hlinkClick r:id="" action="ppaction://ole?verb="/>
          </p:cNvPr>
          <p:cNvGraphicFramePr>
            <a:graphicFrameLocks noChangeAspect="1"/>
          </p:cNvGraphicFramePr>
          <p:nvPr>
            <p:ph sz="half" idx="2"/>
          </p:nvPr>
        </p:nvGraphicFramePr>
        <p:xfrm>
          <a:off x="4815840" y="3827145"/>
          <a:ext cx="971550" cy="1257300"/>
        </p:xfrm>
        <a:graphic>
          <a:graphicData uri="http://schemas.openxmlformats.org/presentationml/2006/ole">
            <mc:AlternateContent xmlns:mc="http://schemas.openxmlformats.org/markup-compatibility/2006">
              <mc:Choice xmlns:v="urn:schemas-microsoft-com:vml" Requires="v">
                <p:oleObj spid="_x0000_s1026" name="" showAsIcon="1" r:id="rId1" imgW="971550" imgH="1257300" progId="Word.Document.8">
                  <p:embed/>
                </p:oleObj>
              </mc:Choice>
              <mc:Fallback>
                <p:oleObj name="" showAsIcon="1" r:id="rId1" imgW="971550" imgH="1257300" progId="Word.Document.8">
                  <p:embed/>
                  <p:pic>
                    <p:nvPicPr>
                      <p:cNvPr id="0" name="Picture 1025"/>
                      <p:cNvPicPr/>
                      <p:nvPr/>
                    </p:nvPicPr>
                    <p:blipFill>
                      <a:blip r:embed="rId2"/>
                      <a:stretch>
                        <a:fillRect/>
                      </a:stretch>
                    </p:blipFill>
                    <p:spPr>
                      <a:xfrm>
                        <a:off x="4815840" y="3827145"/>
                        <a:ext cx="971550" cy="125730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806450" y="1265555"/>
            <a:ext cx="10942955" cy="2353945"/>
          </a:xfrm>
        </p:spPr>
        <p:txBody>
          <a:bodyPr/>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endParaRPr lang="en-IN" altLang="en-US" sz="5000" b="1">
              <a:solidFill>
                <a:srgbClr val="FF0000"/>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1A91D69D-FF60-43EF-9B59-76300B843C2F}"/>
</file>

<file path=customXml/itemProps2.xml><?xml version="1.0" encoding="utf-8"?>
<ds:datastoreItem xmlns:ds="http://schemas.openxmlformats.org/officeDocument/2006/customXml" ds:itemID="{0E339380-747C-497A-B0F1-76E5BE75ADCC}"/>
</file>

<file path=customXml/itemProps3.xml><?xml version="1.0" encoding="utf-8"?>
<ds:datastoreItem xmlns:ds="http://schemas.openxmlformats.org/officeDocument/2006/customXml" ds:itemID="{59FD5B56-B6D6-474D-B86F-8B44EB63A904}"/>
</file>

<file path=docProps/app.xml><?xml version="1.0" encoding="utf-8"?>
<Properties xmlns="http://schemas.openxmlformats.org/officeDocument/2006/extended-properties" xmlns:vt="http://schemas.openxmlformats.org/officeDocument/2006/docPropsVTypes">
  <TotalTime>0</TotalTime>
  <Words>4545</Words>
  <Application>WPS Presentation</Application>
  <PresentationFormat>Widescreen</PresentationFormat>
  <Paragraphs>106</Paragraphs>
  <Slides>9</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9</vt:i4>
      </vt:variant>
    </vt:vector>
  </HeadingPairs>
  <TitlesOfParts>
    <vt:vector size="19" baseType="lpstr">
      <vt:lpstr>Arial</vt:lpstr>
      <vt:lpstr>SimSun</vt:lpstr>
      <vt:lpstr>Wingdings</vt:lpstr>
      <vt:lpstr>Verdana</vt:lpstr>
      <vt:lpstr>Cambria Math</vt:lpstr>
      <vt:lpstr>Microsoft YaHei</vt:lpstr>
      <vt:lpstr>Arial Unicode MS</vt:lpstr>
      <vt:lpstr>Calibri</vt:lpstr>
      <vt:lpstr>Blue Waves</vt:lpstr>
      <vt:lpstr>Word.Document.8</vt:lpstr>
      <vt:lpstr>Introduction to Mathematical Statistics</vt:lpstr>
      <vt:lpstr>Probability : Basic terminology</vt:lpstr>
      <vt:lpstr>Probability : Basic terminology</vt:lpstr>
      <vt:lpstr>Probability : Definition (Mathematical Approach)</vt:lpstr>
      <vt:lpstr>Basic terminology in terms of probability </vt:lpstr>
      <vt:lpstr>Conditional Probability</vt:lpstr>
      <vt:lpstr>Probability : Limitations</vt:lpstr>
      <vt:lpstr>Probability : Subjective Approach</vt:lpstr>
      <vt:lpstr>THANK YOU FOR YOUR ATTENTATION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Mathematical Statistics</dc:title>
  <dc:creator/>
  <cp:lastModifiedBy>Dell</cp:lastModifiedBy>
  <cp:revision>16</cp:revision>
  <dcterms:created xsi:type="dcterms:W3CDTF">2022-12-23T06:11:00Z</dcterms:created>
  <dcterms:modified xsi:type="dcterms:W3CDTF">2022-12-26T04:27:13Z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918B7DBBAB254B76809B7EC969F7A9EB</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